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3" r:id="rId44"/>
    <p:sldId id="304" r:id="rId45"/>
    <p:sldId id="305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5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53.wmf"/><Relationship Id="rId7" Type="http://schemas.openxmlformats.org/officeDocument/2006/relationships/image" Target="../media/image36.wmf"/><Relationship Id="rId12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35.wmf"/><Relationship Id="rId11" Type="http://schemas.openxmlformats.org/officeDocument/2006/relationships/image" Target="../media/image56.wmf"/><Relationship Id="rId5" Type="http://schemas.openxmlformats.org/officeDocument/2006/relationships/image" Target="../media/image34.wmf"/><Relationship Id="rId10" Type="http://schemas.openxmlformats.org/officeDocument/2006/relationships/image" Target="../media/image55.wmf"/><Relationship Id="rId4" Type="http://schemas.openxmlformats.org/officeDocument/2006/relationships/image" Target="../media/image54.wmf"/><Relationship Id="rId9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92.wmf"/><Relationship Id="rId4" Type="http://schemas.openxmlformats.org/officeDocument/2006/relationships/image" Target="../media/image8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25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12" Type="http://schemas.openxmlformats.org/officeDocument/2006/relationships/image" Target="../media/image124.wmf"/><Relationship Id="rId2" Type="http://schemas.openxmlformats.org/officeDocument/2006/relationships/image" Target="../media/image130.wmf"/><Relationship Id="rId16" Type="http://schemas.openxmlformats.org/officeDocument/2006/relationships/image" Target="../media/image128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133.wmf"/><Relationship Id="rId15" Type="http://schemas.openxmlformats.org/officeDocument/2006/relationships/image" Target="../media/image127.wmf"/><Relationship Id="rId10" Type="http://schemas.openxmlformats.org/officeDocument/2006/relationships/image" Target="../media/image138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Relationship Id="rId14" Type="http://schemas.openxmlformats.org/officeDocument/2006/relationships/image" Target="../media/image12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4" Type="http://schemas.openxmlformats.org/officeDocument/2006/relationships/image" Target="../media/image15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wmf"/><Relationship Id="rId1" Type="http://schemas.openxmlformats.org/officeDocument/2006/relationships/image" Target="../media/image18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42F56F8-5DCA-47BE-BCE1-B58BBD4C5B47}" type="datetimeFigureOut">
              <a:rPr lang="zh-CN" altLang="en-US" smtClean="0"/>
              <a:pPr/>
              <a:t>2022/3/14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75E2DE5-2813-4B5B-8EF4-182E1EAA89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slide" Target="slide3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42.bin"/><Relationship Id="rId3" Type="http://schemas.openxmlformats.org/officeDocument/2006/relationships/slide" Target="slide3.xml"/><Relationship Id="rId7" Type="http://schemas.openxmlformats.org/officeDocument/2006/relationships/oleObject" Target="../embeddings/oleObject36.bin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8.bin"/><Relationship Id="rId14" Type="http://schemas.openxmlformats.org/officeDocument/2006/relationships/oleObject" Target="../embeddings/oleObject4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slide" Target="slide3.xml"/><Relationship Id="rId7" Type="http://schemas.openxmlformats.org/officeDocument/2006/relationships/oleObject" Target="../embeddings/oleObject47.bin"/><Relationship Id="rId12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oleObject" Target="../embeddings/oleObject62.bin"/><Relationship Id="rId3" Type="http://schemas.openxmlformats.org/officeDocument/2006/relationships/slide" Target="slide3.xml"/><Relationship Id="rId7" Type="http://schemas.openxmlformats.org/officeDocument/2006/relationships/oleObject" Target="../embeddings/oleObject56.bin"/><Relationship Id="rId12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5.bin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64.bin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8.bin"/><Relationship Id="rId14" Type="http://schemas.openxmlformats.org/officeDocument/2006/relationships/oleObject" Target="../embeddings/oleObject6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slide" Target="slide3.xml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7.bin"/><Relationship Id="rId5" Type="http://schemas.openxmlformats.org/officeDocument/2006/relationships/oleObject" Target="../embeddings/oleObject66.bin"/><Relationship Id="rId4" Type="http://schemas.openxmlformats.org/officeDocument/2006/relationships/oleObject" Target="../embeddings/oleObject6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slide" Target="slide3.xml"/><Relationship Id="rId7" Type="http://schemas.openxmlformats.org/officeDocument/2006/relationships/oleObject" Target="../embeddings/oleObject73.bin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2.bin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1.bin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slide" Target="slide3.xml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4" Type="http://schemas.openxmlformats.org/officeDocument/2006/relationships/oleObject" Target="../embeddings/oleObject79.bin"/><Relationship Id="rId9" Type="http://schemas.openxmlformats.org/officeDocument/2006/relationships/oleObject" Target="../embeddings/oleObject8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slide" Target="slide3.xml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7.bin"/><Relationship Id="rId5" Type="http://schemas.openxmlformats.org/officeDocument/2006/relationships/oleObject" Target="../embeddings/oleObject86.bin"/><Relationship Id="rId4" Type="http://schemas.openxmlformats.org/officeDocument/2006/relationships/oleObject" Target="../embeddings/oleObject8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5.png"/><Relationship Id="rId5" Type="http://schemas.openxmlformats.org/officeDocument/2006/relationships/oleObject" Target="../embeddings/oleObject91.bin"/><Relationship Id="rId4" Type="http://schemas.openxmlformats.org/officeDocument/2006/relationships/oleObject" Target="../embeddings/oleObject9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slide" Target="slide3.xml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4.bin"/><Relationship Id="rId5" Type="http://schemas.openxmlformats.org/officeDocument/2006/relationships/oleObject" Target="../embeddings/oleObject93.bin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1.bin"/><Relationship Id="rId5" Type="http://schemas.openxmlformats.org/officeDocument/2006/relationships/oleObject" Target="../embeddings/oleObject100.bin"/><Relationship Id="rId4" Type="http://schemas.openxmlformats.org/officeDocument/2006/relationships/oleObject" Target="../embeddings/oleObject9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10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oleObject" Target="../embeddings/oleObject10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96.png"/><Relationship Id="rId4" Type="http://schemas.openxmlformats.org/officeDocument/2006/relationships/oleObject" Target="../embeddings/oleObject10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slide" Target="slide3.xml"/><Relationship Id="rId7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08.bin"/><Relationship Id="rId5" Type="http://schemas.openxmlformats.org/officeDocument/2006/relationships/oleObject" Target="../embeddings/oleObject107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9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slide" Target="slide3.xml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13.bin"/><Relationship Id="rId5" Type="http://schemas.openxmlformats.org/officeDocument/2006/relationships/oleObject" Target="../embeddings/oleObject112.bin"/><Relationship Id="rId4" Type="http://schemas.openxmlformats.org/officeDocument/2006/relationships/oleObject" Target="../embeddings/oleObject111.bin"/><Relationship Id="rId9" Type="http://schemas.openxmlformats.org/officeDocument/2006/relationships/oleObject" Target="../embeddings/oleObject11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slide" Target="slide3.xml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19.bin"/><Relationship Id="rId5" Type="http://schemas.openxmlformats.org/officeDocument/2006/relationships/oleObject" Target="../embeddings/oleObject118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9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6.bin"/><Relationship Id="rId12" Type="http://schemas.openxmlformats.org/officeDocument/2006/relationships/oleObject" Target="../embeddings/oleObject1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25.bin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4.bin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3.bin"/><Relationship Id="rId9" Type="http://schemas.openxmlformats.org/officeDocument/2006/relationships/oleObject" Target="../embeddings/oleObject128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35.bin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4.bin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3.bin"/><Relationship Id="rId9" Type="http://schemas.openxmlformats.org/officeDocument/2006/relationships/oleObject" Target="../embeddings/oleObject13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oleObject" Target="../embeddings/oleObject151.bin"/><Relationship Id="rId18" Type="http://schemas.openxmlformats.org/officeDocument/2006/relationships/oleObject" Target="../embeddings/oleObject15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5.bin"/><Relationship Id="rId12" Type="http://schemas.openxmlformats.org/officeDocument/2006/relationships/oleObject" Target="../embeddings/oleObject150.bin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4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44.bin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53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2.bin"/><Relationship Id="rId9" Type="http://schemas.openxmlformats.org/officeDocument/2006/relationships/oleObject" Target="../embeddings/oleObject147.bin"/><Relationship Id="rId14" Type="http://schemas.openxmlformats.org/officeDocument/2006/relationships/oleObject" Target="../embeddings/oleObject15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60.bin"/><Relationship Id="rId5" Type="http://schemas.openxmlformats.org/officeDocument/2006/relationships/oleObject" Target="../embeddings/oleObject159.bin"/><Relationship Id="rId4" Type="http://schemas.openxmlformats.org/officeDocument/2006/relationships/oleObject" Target="../embeddings/oleObject158.bin"/><Relationship Id="rId9" Type="http://schemas.openxmlformats.org/officeDocument/2006/relationships/oleObject" Target="../embeddings/oleObject16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7" Type="http://schemas.openxmlformats.org/officeDocument/2006/relationships/image" Target="../media/image1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67.bin"/><Relationship Id="rId5" Type="http://schemas.openxmlformats.org/officeDocument/2006/relationships/oleObject" Target="../embeddings/oleObject166.bin"/><Relationship Id="rId4" Type="http://schemas.openxmlformats.org/officeDocument/2006/relationships/oleObject" Target="../embeddings/oleObject16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71.bin"/><Relationship Id="rId5" Type="http://schemas.openxmlformats.org/officeDocument/2006/relationships/oleObject" Target="../embeddings/oleObject170.bin"/><Relationship Id="rId4" Type="http://schemas.openxmlformats.org/officeDocument/2006/relationships/oleObject" Target="../embeddings/oleObject16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77.bin"/><Relationship Id="rId5" Type="http://schemas.openxmlformats.org/officeDocument/2006/relationships/oleObject" Target="../embeddings/oleObject176.bin"/><Relationship Id="rId4" Type="http://schemas.openxmlformats.org/officeDocument/2006/relationships/oleObject" Target="../embeddings/oleObject17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oleObject" Target="../embeddings/oleObject182.bin"/><Relationship Id="rId4" Type="http://schemas.openxmlformats.org/officeDocument/2006/relationships/oleObject" Target="../embeddings/oleObject18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86.bin"/><Relationship Id="rId11" Type="http://schemas.openxmlformats.org/officeDocument/2006/relationships/oleObject" Target="../embeddings/oleObject191.bin"/><Relationship Id="rId5" Type="http://schemas.openxmlformats.org/officeDocument/2006/relationships/oleObject" Target="../embeddings/oleObject185.bin"/><Relationship Id="rId10" Type="http://schemas.openxmlformats.org/officeDocument/2006/relationships/oleObject" Target="../embeddings/oleObject190.bin"/><Relationship Id="rId4" Type="http://schemas.openxmlformats.org/officeDocument/2006/relationships/oleObject" Target="../embeddings/oleObject184.bin"/><Relationship Id="rId9" Type="http://schemas.openxmlformats.org/officeDocument/2006/relationships/oleObject" Target="../embeddings/oleObject18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95.bin"/><Relationship Id="rId5" Type="http://schemas.openxmlformats.org/officeDocument/2006/relationships/oleObject" Target="../embeddings/oleObject194.bin"/><Relationship Id="rId4" Type="http://schemas.openxmlformats.org/officeDocument/2006/relationships/oleObject" Target="../embeddings/oleObject193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01.bin"/><Relationship Id="rId5" Type="http://schemas.openxmlformats.org/officeDocument/2006/relationships/oleObject" Target="../embeddings/oleObject200.bin"/><Relationship Id="rId4" Type="http://schemas.openxmlformats.org/officeDocument/2006/relationships/oleObject" Target="../embeddings/oleObject199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06.bin"/><Relationship Id="rId5" Type="http://schemas.openxmlformats.org/officeDocument/2006/relationships/oleObject" Target="../embeddings/oleObject205.bin"/><Relationship Id="rId4" Type="http://schemas.openxmlformats.org/officeDocument/2006/relationships/oleObject" Target="../embeddings/oleObject204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36207"/>
          <p:cNvSpPr txBox="1">
            <a:spLocks noRot="1" noChangeArrowheads="1"/>
          </p:cNvSpPr>
          <p:nvPr/>
        </p:nvSpPr>
        <p:spPr>
          <a:xfrm>
            <a:off x="1714480" y="428604"/>
            <a:ext cx="854075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第三章  简单电力网络潮流的分析与计算</a:t>
            </a:r>
          </a:p>
        </p:txBody>
      </p:sp>
      <p:sp>
        <p:nvSpPr>
          <p:cNvPr id="7" name="矩形 136209"/>
          <p:cNvSpPr>
            <a:spLocks noChangeArrowheads="1"/>
          </p:cNvSpPr>
          <p:nvPr/>
        </p:nvSpPr>
        <p:spPr bwMode="auto">
          <a:xfrm>
            <a:off x="2143108" y="3201996"/>
            <a:ext cx="8229600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400" u="sng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第二节  开式网络的潮流分布</a:t>
            </a:r>
            <a:endParaRPr lang="zh-CN" altLang="en-US" sz="2400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136210"/>
          <p:cNvSpPr>
            <a:spLocks noChangeArrowheads="1"/>
          </p:cNvSpPr>
          <p:nvPr/>
        </p:nvSpPr>
        <p:spPr bwMode="auto">
          <a:xfrm>
            <a:off x="2143108" y="3994159"/>
            <a:ext cx="8229600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2400" u="sng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第三节  环形网络的潮流分布</a:t>
            </a:r>
            <a:endParaRPr lang="zh-CN" altLang="en-US" sz="2400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28794" y="2357430"/>
            <a:ext cx="70723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第一节  电力线路和变压器的功率损耗和电压降落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4414" y="714356"/>
            <a:ext cx="6786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什么是潮流计算</a:t>
            </a:r>
            <a:endParaRPr lang="zh-CN" altLang="en-US" sz="28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910" y="1928802"/>
            <a:ext cx="77153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潮流计算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研究电力系统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运行情况的一种基本电气计算，常规潮流计算的任务是根据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给定的运行条件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网络结构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确定整个系统的运行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，如各母线上的电压（幅值及相角）、网络中的功率分布以及功率损耗等。潮流计算的结果是电力系统稳定计算和故障分析的基础。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5" name="文本框 144399"/>
          <p:cNvSpPr txBox="1">
            <a:spLocks noChangeArrowheads="1"/>
          </p:cNvSpPr>
          <p:nvPr/>
        </p:nvSpPr>
        <p:spPr bwMode="auto">
          <a:xfrm>
            <a:off x="395288" y="928670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电力线路的功率损耗</a:t>
            </a:r>
          </a:p>
        </p:txBody>
      </p:sp>
      <p:grpSp>
        <p:nvGrpSpPr>
          <p:cNvPr id="6" name="组合 144468"/>
          <p:cNvGrpSpPr/>
          <p:nvPr/>
        </p:nvGrpSpPr>
        <p:grpSpPr bwMode="auto">
          <a:xfrm>
            <a:off x="395288" y="1520807"/>
            <a:ext cx="8497887" cy="1015999"/>
            <a:chOff x="249" y="799"/>
            <a:chExt cx="5353" cy="640"/>
          </a:xfrm>
        </p:grpSpPr>
        <p:graphicFrame>
          <p:nvGraphicFramePr>
            <p:cNvPr id="7" name="对象 144400"/>
            <p:cNvGraphicFramePr>
              <a:graphicFrameLocks/>
            </p:cNvGraphicFramePr>
            <p:nvPr/>
          </p:nvGraphicFramePr>
          <p:xfrm>
            <a:off x="2820" y="1026"/>
            <a:ext cx="241" cy="408"/>
          </p:xfrm>
          <a:graphic>
            <a:graphicData uri="http://schemas.openxmlformats.org/presentationml/2006/ole">
              <p:oleObj spid="_x0000_s1025" r:id="rId4" imgW="3962400" imgH="6705600" progId="Equation.3">
                <p:embed/>
              </p:oleObj>
            </a:graphicData>
          </a:graphic>
        </p:graphicFrame>
        <p:graphicFrame>
          <p:nvGraphicFramePr>
            <p:cNvPr id="8" name="对象 144401"/>
            <p:cNvGraphicFramePr>
              <a:graphicFrameLocks/>
            </p:cNvGraphicFramePr>
            <p:nvPr/>
          </p:nvGraphicFramePr>
          <p:xfrm>
            <a:off x="4105" y="981"/>
            <a:ext cx="227" cy="453"/>
          </p:xfrm>
          <a:graphic>
            <a:graphicData uri="http://schemas.openxmlformats.org/presentationml/2006/ole">
              <p:oleObj spid="_x0000_s1027" r:id="rId5" imgW="3352800" imgH="6705600" progId="Equation.3">
                <p:embed/>
              </p:oleObj>
            </a:graphicData>
          </a:graphic>
        </p:graphicFrame>
        <p:sp>
          <p:nvSpPr>
            <p:cNvPr id="9" name="文本框 144460"/>
            <p:cNvSpPr txBox="1">
              <a:spLocks noChangeArrowheads="1"/>
            </p:cNvSpPr>
            <p:nvPr/>
          </p:nvSpPr>
          <p:spPr bwMode="auto">
            <a:xfrm>
              <a:off x="249" y="799"/>
              <a:ext cx="5353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图为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电力线路的</a:t>
              </a:r>
              <a:r>
                <a:rPr lang="ru-RU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П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型等值电路，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Z=</a:t>
              </a:r>
              <a:r>
                <a:rPr lang="en-US" altLang="zh-CN" sz="24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R+jX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Y=</a:t>
              </a:r>
              <a:r>
                <a:rPr lang="en-US" altLang="zh-CN" sz="24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G+jB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为电力线路每相阻抗和导纳，   为相电压，   为单相功率。</a:t>
              </a:r>
              <a:endParaRPr lang="zh-CN" altLang="ru-RU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6" name="文本框 144461"/>
          <p:cNvSpPr txBox="1">
            <a:spLocks noChangeArrowheads="1"/>
          </p:cNvSpPr>
          <p:nvPr/>
        </p:nvSpPr>
        <p:spPr bwMode="auto">
          <a:xfrm>
            <a:off x="2484438" y="5824855"/>
            <a:ext cx="37433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电力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线路的</a:t>
            </a:r>
            <a:r>
              <a:rPr lang="ru-RU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П</a:t>
            </a:r>
            <a:r>
              <a:rPr lang="zh-CN" altLang="en-US" sz="24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型等值电路</a:t>
            </a:r>
          </a:p>
        </p:txBody>
      </p:sp>
      <p:pic>
        <p:nvPicPr>
          <p:cNvPr id="1040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1" y="2500306"/>
            <a:ext cx="6457773" cy="34290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51566"/>
          <p:cNvGrpSpPr/>
          <p:nvPr/>
        </p:nvGrpSpPr>
        <p:grpSpPr bwMode="auto">
          <a:xfrm>
            <a:off x="288955" y="1000102"/>
            <a:ext cx="8640763" cy="1570038"/>
            <a:chOff x="182" y="-488"/>
            <a:chExt cx="5443" cy="989"/>
          </a:xfrm>
        </p:grpSpPr>
        <p:graphicFrame>
          <p:nvGraphicFramePr>
            <p:cNvPr id="5" name="对象 151555"/>
            <p:cNvGraphicFramePr>
              <a:graphicFrameLocks/>
            </p:cNvGraphicFramePr>
            <p:nvPr/>
          </p:nvGraphicFramePr>
          <p:xfrm>
            <a:off x="677" y="97"/>
            <a:ext cx="274" cy="353"/>
          </p:xfrm>
          <a:graphic>
            <a:graphicData uri="http://schemas.openxmlformats.org/presentationml/2006/ole">
              <p:oleObj spid="_x0000_s16388" r:id="rId4" imgW="6400800" imgH="8229600" progId="Equation.3">
                <p:embed/>
              </p:oleObj>
            </a:graphicData>
          </a:graphic>
        </p:graphicFrame>
        <p:graphicFrame>
          <p:nvGraphicFramePr>
            <p:cNvPr id="6" name="对象 151556"/>
            <p:cNvGraphicFramePr>
              <a:graphicFrameLocks/>
            </p:cNvGraphicFramePr>
            <p:nvPr/>
          </p:nvGraphicFramePr>
          <p:xfrm>
            <a:off x="4320" y="-263"/>
            <a:ext cx="252" cy="407"/>
          </p:xfrm>
          <a:graphic>
            <a:graphicData uri="http://schemas.openxmlformats.org/presentationml/2006/ole">
              <p:oleObj spid="_x0000_s16387" r:id="rId5" imgW="5486400" imgH="8839200" progId="Equation.3">
                <p:embed/>
              </p:oleObj>
            </a:graphicData>
          </a:graphic>
        </p:graphicFrame>
        <p:sp>
          <p:nvSpPr>
            <p:cNvPr id="7" name="文本框 151557"/>
            <p:cNvSpPr txBox="1">
              <a:spLocks noChangeArrowheads="1"/>
            </p:cNvSpPr>
            <p:nvPr/>
          </p:nvSpPr>
          <p:spPr bwMode="auto">
            <a:xfrm>
              <a:off x="182" y="-488"/>
              <a:ext cx="5443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）电力线路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阻抗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中的功率损耗。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当电力线路阻抗支路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末端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流出的单相功率为  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，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末端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电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压为  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时，电力线路阻抗中的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一相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功率损耗为   </a:t>
              </a:r>
            </a:p>
          </p:txBody>
        </p:sp>
      </p:grpSp>
      <p:graphicFrame>
        <p:nvGraphicFramePr>
          <p:cNvPr id="8" name="对象 151559"/>
          <p:cNvGraphicFramePr>
            <a:graphicFrameLocks/>
          </p:cNvGraphicFramePr>
          <p:nvPr/>
        </p:nvGraphicFramePr>
        <p:xfrm>
          <a:off x="571472" y="2571744"/>
          <a:ext cx="8243887" cy="1728787"/>
        </p:xfrm>
        <a:graphic>
          <a:graphicData uri="http://schemas.openxmlformats.org/presentationml/2006/ole">
            <p:oleObj spid="_x0000_s16386" r:id="rId6" imgW="126187200" imgH="23469600" progId="Equation.3">
              <p:embed/>
            </p:oleObj>
          </a:graphicData>
        </a:graphic>
      </p:graphicFrame>
      <p:sp>
        <p:nvSpPr>
          <p:cNvPr id="9" name="文本框 151560"/>
          <p:cNvSpPr txBox="1">
            <a:spLocks noChangeArrowheads="1"/>
          </p:cNvSpPr>
          <p:nvPr/>
        </p:nvSpPr>
        <p:spPr bwMode="auto">
          <a:xfrm>
            <a:off x="395288" y="4597424"/>
            <a:ext cx="83534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</a:p>
        </p:txBody>
      </p:sp>
      <p:grpSp>
        <p:nvGrpSpPr>
          <p:cNvPr id="10" name="组合 151567"/>
          <p:cNvGrpSpPr/>
          <p:nvPr/>
        </p:nvGrpSpPr>
        <p:grpSpPr bwMode="auto">
          <a:xfrm>
            <a:off x="1214414" y="4286256"/>
            <a:ext cx="5975350" cy="2332038"/>
            <a:chOff x="1066" y="2614"/>
            <a:chExt cx="3764" cy="1469"/>
          </a:xfrm>
        </p:grpSpPr>
        <p:graphicFrame>
          <p:nvGraphicFramePr>
            <p:cNvPr id="11" name="对象 151561"/>
            <p:cNvGraphicFramePr>
              <a:graphicFrameLocks/>
            </p:cNvGraphicFramePr>
            <p:nvPr/>
          </p:nvGraphicFramePr>
          <p:xfrm>
            <a:off x="1066" y="2614"/>
            <a:ext cx="1769" cy="1469"/>
          </p:xfrm>
          <a:graphic>
            <a:graphicData uri="http://schemas.openxmlformats.org/presentationml/2006/ole">
              <p:oleObj spid="_x0000_s16385" r:id="rId7" imgW="32308800" imgH="26822400" progId="Equation.3">
                <p:embed/>
              </p:oleObj>
            </a:graphicData>
          </a:graphic>
        </p:graphicFrame>
        <p:sp>
          <p:nvSpPr>
            <p:cNvPr id="12" name="文本框 151562"/>
            <p:cNvSpPr txBox="1">
              <a:spLocks noChangeArrowheads="1"/>
            </p:cNvSpPr>
            <p:nvPr/>
          </p:nvSpPr>
          <p:spPr bwMode="auto">
            <a:xfrm>
              <a:off x="3334" y="3067"/>
              <a:ext cx="149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3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214810" y="4071942"/>
            <a:ext cx="4708792" cy="25003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52589"/>
          <p:cNvGrpSpPr/>
          <p:nvPr/>
        </p:nvGrpSpPr>
        <p:grpSpPr bwMode="auto">
          <a:xfrm>
            <a:off x="1476375" y="3087701"/>
            <a:ext cx="5472113" cy="2270125"/>
            <a:chOff x="930" y="1389"/>
            <a:chExt cx="3447" cy="1430"/>
          </a:xfrm>
        </p:grpSpPr>
        <p:graphicFrame>
          <p:nvGraphicFramePr>
            <p:cNvPr id="5" name="对象 152580"/>
            <p:cNvGraphicFramePr>
              <a:graphicFrameLocks/>
            </p:cNvGraphicFramePr>
            <p:nvPr/>
          </p:nvGraphicFramePr>
          <p:xfrm>
            <a:off x="930" y="1389"/>
            <a:ext cx="1723" cy="1430"/>
          </p:xfrm>
          <a:graphic>
            <a:graphicData uri="http://schemas.openxmlformats.org/presentationml/2006/ole">
              <p:oleObj spid="_x0000_s17412" r:id="rId4" imgW="32308800" imgH="26822400" progId="Equation.3">
                <p:embed/>
              </p:oleObj>
            </a:graphicData>
          </a:graphic>
        </p:graphicFrame>
        <p:sp>
          <p:nvSpPr>
            <p:cNvPr id="6" name="文本框 152582"/>
            <p:cNvSpPr txBox="1">
              <a:spLocks noChangeArrowheads="1"/>
            </p:cNvSpPr>
            <p:nvPr/>
          </p:nvSpPr>
          <p:spPr bwMode="auto">
            <a:xfrm>
              <a:off x="3515" y="1797"/>
              <a:ext cx="86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7" name="组合 152588"/>
          <p:cNvGrpSpPr/>
          <p:nvPr/>
        </p:nvGrpSpPr>
        <p:grpSpPr bwMode="auto">
          <a:xfrm>
            <a:off x="250825" y="1143013"/>
            <a:ext cx="8569325" cy="1584325"/>
            <a:chOff x="158" y="300"/>
            <a:chExt cx="5398" cy="998"/>
          </a:xfrm>
        </p:grpSpPr>
        <p:sp>
          <p:nvSpPr>
            <p:cNvPr id="8" name="文本框 152579"/>
            <p:cNvSpPr txBox="1">
              <a:spLocks noChangeArrowheads="1"/>
            </p:cNvSpPr>
            <p:nvPr/>
          </p:nvSpPr>
          <p:spPr bwMode="auto">
            <a:xfrm>
              <a:off x="158" y="300"/>
              <a:ext cx="5398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同理，电力线路阻抗中的功率损耗也可以用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流入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电力线路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阻抗支路始端的单相功率   及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始端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的相电压     ，求出电力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线路阻抗中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一相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功率损耗     的有功和无功功率分量为</a:t>
              </a:r>
            </a:p>
          </p:txBody>
        </p:sp>
        <p:graphicFrame>
          <p:nvGraphicFramePr>
            <p:cNvPr id="9" name="对象 152584"/>
            <p:cNvGraphicFramePr>
              <a:graphicFrameLocks/>
            </p:cNvGraphicFramePr>
            <p:nvPr/>
          </p:nvGraphicFramePr>
          <p:xfrm>
            <a:off x="2400" y="491"/>
            <a:ext cx="253" cy="459"/>
          </p:xfrm>
          <a:graphic>
            <a:graphicData uri="http://schemas.openxmlformats.org/presentationml/2006/ole">
              <p:oleObj spid="_x0000_s17411" r:id="rId5" imgW="4876800" imgH="8839200" progId="Equation.3">
                <p:embed/>
              </p:oleObj>
            </a:graphicData>
          </a:graphic>
        </p:graphicFrame>
        <p:graphicFrame>
          <p:nvGraphicFramePr>
            <p:cNvPr id="10" name="对象 152585"/>
            <p:cNvGraphicFramePr>
              <a:graphicFrameLocks/>
            </p:cNvGraphicFramePr>
            <p:nvPr/>
          </p:nvGraphicFramePr>
          <p:xfrm>
            <a:off x="4024" y="511"/>
            <a:ext cx="312" cy="443"/>
          </p:xfrm>
          <a:graphic>
            <a:graphicData uri="http://schemas.openxmlformats.org/presentationml/2006/ole">
              <p:oleObj spid="_x0000_s17410" r:id="rId6" imgW="5791200" imgH="8229600" progId="Equation.3">
                <p:embed/>
              </p:oleObj>
            </a:graphicData>
          </a:graphic>
        </p:graphicFrame>
        <p:graphicFrame>
          <p:nvGraphicFramePr>
            <p:cNvPr id="11" name="对象 152586"/>
            <p:cNvGraphicFramePr>
              <a:graphicFrameLocks/>
            </p:cNvGraphicFramePr>
            <p:nvPr/>
          </p:nvGraphicFramePr>
          <p:xfrm>
            <a:off x="2381" y="890"/>
            <a:ext cx="408" cy="408"/>
          </p:xfrm>
          <a:graphic>
            <a:graphicData uri="http://schemas.openxmlformats.org/presentationml/2006/ole">
              <p:oleObj spid="_x0000_s17409" r:id="rId7" imgW="8229600" imgH="8229600" progId="Equation.3">
                <p:embed/>
              </p:oleObj>
            </a:graphicData>
          </a:graphic>
        </p:graphicFrame>
      </p:grpSp>
      <p:pic>
        <p:nvPicPr>
          <p:cNvPr id="13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214810" y="4071942"/>
            <a:ext cx="4708792" cy="25003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53615"/>
          <p:cNvGrpSpPr/>
          <p:nvPr/>
        </p:nvGrpSpPr>
        <p:grpSpPr bwMode="auto">
          <a:xfrm>
            <a:off x="827088" y="2617797"/>
            <a:ext cx="6308725" cy="2168525"/>
            <a:chOff x="521" y="1525"/>
            <a:chExt cx="3974" cy="1366"/>
          </a:xfrm>
        </p:grpSpPr>
        <p:graphicFrame>
          <p:nvGraphicFramePr>
            <p:cNvPr id="5" name="对象 153604"/>
            <p:cNvGraphicFramePr>
              <a:graphicFrameLocks/>
            </p:cNvGraphicFramePr>
            <p:nvPr/>
          </p:nvGraphicFramePr>
          <p:xfrm>
            <a:off x="521" y="1661"/>
            <a:ext cx="544" cy="509"/>
          </p:xfrm>
          <a:graphic>
            <a:graphicData uri="http://schemas.openxmlformats.org/presentationml/2006/ole">
              <p:oleObj spid="_x0000_s18436" r:id="rId4" imgW="9448800" imgH="8839200" progId="Equation.3">
                <p:embed/>
              </p:oleObj>
            </a:graphicData>
          </a:graphic>
        </p:graphicFrame>
        <p:graphicFrame>
          <p:nvGraphicFramePr>
            <p:cNvPr id="6" name="对象 153606"/>
            <p:cNvGraphicFramePr>
              <a:graphicFrameLocks/>
            </p:cNvGraphicFramePr>
            <p:nvPr/>
          </p:nvGraphicFramePr>
          <p:xfrm>
            <a:off x="1110" y="1525"/>
            <a:ext cx="3357" cy="843"/>
          </p:xfrm>
          <a:graphic>
            <a:graphicData uri="http://schemas.openxmlformats.org/presentationml/2006/ole">
              <p:oleObj spid="_x0000_s18435" r:id="rId5" imgW="64312800" imgH="16154400" progId="Equation.3">
                <p:embed/>
              </p:oleObj>
            </a:graphicData>
          </a:graphic>
        </p:graphicFrame>
        <p:graphicFrame>
          <p:nvGraphicFramePr>
            <p:cNvPr id="7" name="对象 153607"/>
            <p:cNvGraphicFramePr>
              <a:graphicFrameLocks/>
            </p:cNvGraphicFramePr>
            <p:nvPr/>
          </p:nvGraphicFramePr>
          <p:xfrm>
            <a:off x="1138" y="2432"/>
            <a:ext cx="3357" cy="459"/>
          </p:xfrm>
          <a:graphic>
            <a:graphicData uri="http://schemas.openxmlformats.org/presentationml/2006/ole">
              <p:oleObj spid="_x0000_s18434" r:id="rId6" imgW="57912000" imgH="7924800" progId="Equation.3">
                <p:embed/>
              </p:oleObj>
            </a:graphicData>
          </a:graphic>
        </p:graphicFrame>
      </p:grpSp>
      <p:sp>
        <p:nvSpPr>
          <p:cNvPr id="8" name="文本框 153609"/>
          <p:cNvSpPr txBox="1">
            <a:spLocks noChangeArrowheads="1"/>
          </p:cNvSpPr>
          <p:nvPr/>
        </p:nvSpPr>
        <p:spPr bwMode="auto">
          <a:xfrm>
            <a:off x="684213" y="4797425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于是有</a:t>
            </a:r>
          </a:p>
        </p:txBody>
      </p:sp>
      <p:grpSp>
        <p:nvGrpSpPr>
          <p:cNvPr id="9" name="组合 153614"/>
          <p:cNvGrpSpPr/>
          <p:nvPr/>
        </p:nvGrpSpPr>
        <p:grpSpPr bwMode="auto">
          <a:xfrm>
            <a:off x="2987675" y="5013325"/>
            <a:ext cx="5329238" cy="1368425"/>
            <a:chOff x="1882" y="3158"/>
            <a:chExt cx="3357" cy="862"/>
          </a:xfrm>
        </p:grpSpPr>
        <p:graphicFrame>
          <p:nvGraphicFramePr>
            <p:cNvPr id="10" name="对象 153610"/>
            <p:cNvGraphicFramePr>
              <a:graphicFrameLocks/>
            </p:cNvGraphicFramePr>
            <p:nvPr/>
          </p:nvGraphicFramePr>
          <p:xfrm>
            <a:off x="1882" y="3158"/>
            <a:ext cx="1633" cy="862"/>
          </p:xfrm>
          <a:graphic>
            <a:graphicData uri="http://schemas.openxmlformats.org/presentationml/2006/ole">
              <p:oleObj spid="_x0000_s18433" r:id="rId7" imgW="26517600" imgH="15240000" progId="Equation.3">
                <p:embed/>
              </p:oleObj>
            </a:graphicData>
          </a:graphic>
        </p:graphicFrame>
        <p:sp>
          <p:nvSpPr>
            <p:cNvPr id="11" name="文本框 153611"/>
            <p:cNvSpPr txBox="1">
              <a:spLocks noChangeArrowheads="1"/>
            </p:cNvSpPr>
            <p:nvPr/>
          </p:nvSpPr>
          <p:spPr bwMode="auto">
            <a:xfrm>
              <a:off x="4286" y="3385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2" name="文本框 153613"/>
          <p:cNvSpPr txBox="1">
            <a:spLocks noChangeArrowheads="1"/>
          </p:cNvSpPr>
          <p:nvPr/>
        </p:nvSpPr>
        <p:spPr bwMode="auto">
          <a:xfrm>
            <a:off x="250825" y="620713"/>
            <a:ext cx="8280400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）电力线路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导纳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支路中的功率损耗。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线路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末端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导纳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支路</a:t>
            </a:r>
            <a:endParaRPr lang="en-US" altLang="zh-CN" sz="24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单相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功率损耗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</a:p>
        </p:txBody>
      </p:sp>
      <p:pic>
        <p:nvPicPr>
          <p:cNvPr id="13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35274" y="988726"/>
            <a:ext cx="3923006" cy="20830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54627"/>
          <p:cNvSpPr txBox="1">
            <a:spLocks noChangeArrowheads="1"/>
          </p:cNvSpPr>
          <p:nvPr/>
        </p:nvSpPr>
        <p:spPr bwMode="auto">
          <a:xfrm>
            <a:off x="395288" y="549275"/>
            <a:ext cx="655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而电力线路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始端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导纳支路中的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单相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功率损耗为</a:t>
            </a:r>
          </a:p>
        </p:txBody>
      </p:sp>
      <p:grpSp>
        <p:nvGrpSpPr>
          <p:cNvPr id="5" name="组合 154645"/>
          <p:cNvGrpSpPr/>
          <p:nvPr/>
        </p:nvGrpSpPr>
        <p:grpSpPr bwMode="auto">
          <a:xfrm>
            <a:off x="900113" y="981075"/>
            <a:ext cx="6048375" cy="2149475"/>
            <a:chOff x="567" y="618"/>
            <a:chExt cx="3810" cy="1354"/>
          </a:xfrm>
        </p:grpSpPr>
        <p:graphicFrame>
          <p:nvGraphicFramePr>
            <p:cNvPr id="6" name="对象 154628"/>
            <p:cNvGraphicFramePr>
              <a:graphicFrameLocks/>
            </p:cNvGraphicFramePr>
            <p:nvPr/>
          </p:nvGraphicFramePr>
          <p:xfrm>
            <a:off x="567" y="709"/>
            <a:ext cx="544" cy="525"/>
          </p:xfrm>
          <a:graphic>
            <a:graphicData uri="http://schemas.openxmlformats.org/presentationml/2006/ole">
              <p:oleObj spid="_x0000_s19464" r:id="rId4" imgW="9144000" imgH="8839200" progId="Equation.3">
                <p:embed/>
              </p:oleObj>
            </a:graphicData>
          </a:graphic>
        </p:graphicFrame>
        <p:graphicFrame>
          <p:nvGraphicFramePr>
            <p:cNvPr id="7" name="对象 154629"/>
            <p:cNvGraphicFramePr>
              <a:graphicFrameLocks/>
            </p:cNvGraphicFramePr>
            <p:nvPr/>
          </p:nvGraphicFramePr>
          <p:xfrm>
            <a:off x="1129" y="618"/>
            <a:ext cx="3221" cy="820"/>
          </p:xfrm>
          <a:graphic>
            <a:graphicData uri="http://schemas.openxmlformats.org/presentationml/2006/ole">
              <p:oleObj spid="_x0000_s19463" r:id="rId5" imgW="63398400" imgH="16154400" progId="Equation.3">
                <p:embed/>
              </p:oleObj>
            </a:graphicData>
          </a:graphic>
        </p:graphicFrame>
        <p:graphicFrame>
          <p:nvGraphicFramePr>
            <p:cNvPr id="8" name="对象 154630"/>
            <p:cNvGraphicFramePr>
              <a:graphicFrameLocks/>
            </p:cNvGraphicFramePr>
            <p:nvPr/>
          </p:nvGraphicFramePr>
          <p:xfrm>
            <a:off x="1156" y="1525"/>
            <a:ext cx="3221" cy="447"/>
          </p:xfrm>
          <a:graphic>
            <a:graphicData uri="http://schemas.openxmlformats.org/presentationml/2006/ole">
              <p:oleObj spid="_x0000_s19462" r:id="rId6" imgW="56997600" imgH="7924800" progId="Equation.3">
                <p:embed/>
              </p:oleObj>
            </a:graphicData>
          </a:graphic>
        </p:graphicFrame>
      </p:grpSp>
      <p:sp>
        <p:nvSpPr>
          <p:cNvPr id="9" name="文本框 154632"/>
          <p:cNvSpPr txBox="1">
            <a:spLocks noChangeArrowheads="1"/>
          </p:cNvSpPr>
          <p:nvPr/>
        </p:nvSpPr>
        <p:spPr bwMode="auto">
          <a:xfrm>
            <a:off x="539750" y="3141663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</a:p>
        </p:txBody>
      </p:sp>
      <p:grpSp>
        <p:nvGrpSpPr>
          <p:cNvPr id="10" name="组合 154644"/>
          <p:cNvGrpSpPr/>
          <p:nvPr/>
        </p:nvGrpSpPr>
        <p:grpSpPr bwMode="auto">
          <a:xfrm>
            <a:off x="1979613" y="3284538"/>
            <a:ext cx="6481762" cy="1355725"/>
            <a:chOff x="1247" y="2069"/>
            <a:chExt cx="4083" cy="854"/>
          </a:xfrm>
        </p:grpSpPr>
        <p:graphicFrame>
          <p:nvGraphicFramePr>
            <p:cNvPr id="11" name="对象 154633"/>
            <p:cNvGraphicFramePr>
              <a:graphicFrameLocks/>
            </p:cNvGraphicFramePr>
            <p:nvPr/>
          </p:nvGraphicFramePr>
          <p:xfrm>
            <a:off x="1247" y="2069"/>
            <a:ext cx="1451" cy="854"/>
          </p:xfrm>
          <a:graphic>
            <a:graphicData uri="http://schemas.openxmlformats.org/presentationml/2006/ole">
              <p:oleObj spid="_x0000_s19461" r:id="rId7" imgW="25908000" imgH="15240000" progId="Equation.3">
                <p:embed/>
              </p:oleObj>
            </a:graphicData>
          </a:graphic>
        </p:graphicFrame>
        <p:sp>
          <p:nvSpPr>
            <p:cNvPr id="12" name="文本框 154634"/>
            <p:cNvSpPr txBox="1">
              <a:spLocks noChangeArrowheads="1"/>
            </p:cNvSpPr>
            <p:nvPr/>
          </p:nvSpPr>
          <p:spPr bwMode="auto">
            <a:xfrm>
              <a:off x="4377" y="2160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3-4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3" name="文本框 154635"/>
          <p:cNvSpPr txBox="1">
            <a:spLocks noChangeArrowheads="1"/>
          </p:cNvSpPr>
          <p:nvPr/>
        </p:nvSpPr>
        <p:spPr bwMode="auto">
          <a:xfrm>
            <a:off x="539750" y="4652963"/>
            <a:ext cx="82089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一般电力线路的电导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G=0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，则式（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3-3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）、（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3-4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）变为</a:t>
            </a:r>
          </a:p>
        </p:txBody>
      </p:sp>
      <p:grpSp>
        <p:nvGrpSpPr>
          <p:cNvPr id="14" name="组合 154643"/>
          <p:cNvGrpSpPr/>
          <p:nvPr/>
        </p:nvGrpSpPr>
        <p:grpSpPr bwMode="auto">
          <a:xfrm>
            <a:off x="1979613" y="5157788"/>
            <a:ext cx="6265862" cy="1420812"/>
            <a:chOff x="1247" y="3249"/>
            <a:chExt cx="3947" cy="895"/>
          </a:xfrm>
        </p:grpSpPr>
        <p:graphicFrame>
          <p:nvGraphicFramePr>
            <p:cNvPr id="15" name="对象 154636"/>
            <p:cNvGraphicFramePr>
              <a:graphicFrameLocks/>
            </p:cNvGraphicFramePr>
            <p:nvPr/>
          </p:nvGraphicFramePr>
          <p:xfrm>
            <a:off x="1247" y="3249"/>
            <a:ext cx="1497" cy="895"/>
          </p:xfrm>
          <a:graphic>
            <a:graphicData uri="http://schemas.openxmlformats.org/presentationml/2006/ole">
              <p:oleObj spid="_x0000_s19460" r:id="rId8" imgW="26517600" imgH="15849600" progId="Equation.3">
                <p:embed/>
              </p:oleObj>
            </a:graphicData>
          </a:graphic>
        </p:graphicFrame>
        <p:sp>
          <p:nvSpPr>
            <p:cNvPr id="16" name="文本框 154638"/>
            <p:cNvSpPr txBox="1">
              <a:spLocks noChangeArrowheads="1"/>
            </p:cNvSpPr>
            <p:nvPr/>
          </p:nvSpPr>
          <p:spPr bwMode="auto">
            <a:xfrm>
              <a:off x="4377" y="3475"/>
              <a:ext cx="81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3-5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7" name="椭圆形标注 154640"/>
          <p:cNvSpPr>
            <a:spLocks noChangeArrowheads="1"/>
          </p:cNvSpPr>
          <p:nvPr/>
        </p:nvSpPr>
        <p:spPr bwMode="auto">
          <a:xfrm>
            <a:off x="4572000" y="5135583"/>
            <a:ext cx="2663825" cy="1150937"/>
          </a:xfrm>
          <a:prstGeom prst="wedgeEllipseCallout">
            <a:avLst>
              <a:gd name="adj1" fmla="val -61681"/>
              <a:gd name="adj2" fmla="val 3744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这是电力线路末端、始端的电容功率</a:t>
            </a:r>
          </a:p>
        </p:txBody>
      </p:sp>
      <p:grpSp>
        <p:nvGrpSpPr>
          <p:cNvPr id="18" name="组合 154646"/>
          <p:cNvGrpSpPr/>
          <p:nvPr/>
        </p:nvGrpSpPr>
        <p:grpSpPr bwMode="auto">
          <a:xfrm>
            <a:off x="900113" y="981075"/>
            <a:ext cx="6048375" cy="2149475"/>
            <a:chOff x="567" y="618"/>
            <a:chExt cx="3810" cy="1354"/>
          </a:xfrm>
        </p:grpSpPr>
        <p:graphicFrame>
          <p:nvGraphicFramePr>
            <p:cNvPr id="19" name="对象 154647"/>
            <p:cNvGraphicFramePr>
              <a:graphicFrameLocks/>
            </p:cNvGraphicFramePr>
            <p:nvPr/>
          </p:nvGraphicFramePr>
          <p:xfrm>
            <a:off x="567" y="709"/>
            <a:ext cx="544" cy="525"/>
          </p:xfrm>
          <a:graphic>
            <a:graphicData uri="http://schemas.openxmlformats.org/presentationml/2006/ole">
              <p:oleObj spid="_x0000_s19459" r:id="rId9" imgW="9144000" imgH="8839200" progId="Equation.3">
                <p:embed/>
              </p:oleObj>
            </a:graphicData>
          </a:graphic>
        </p:graphicFrame>
        <p:graphicFrame>
          <p:nvGraphicFramePr>
            <p:cNvPr id="20" name="对象 154648"/>
            <p:cNvGraphicFramePr>
              <a:graphicFrameLocks/>
            </p:cNvGraphicFramePr>
            <p:nvPr/>
          </p:nvGraphicFramePr>
          <p:xfrm>
            <a:off x="1129" y="618"/>
            <a:ext cx="3221" cy="820"/>
          </p:xfrm>
          <a:graphic>
            <a:graphicData uri="http://schemas.openxmlformats.org/presentationml/2006/ole">
              <p:oleObj spid="_x0000_s19458" r:id="rId10" imgW="63398400" imgH="16154400" progId="Equation.3">
                <p:embed/>
              </p:oleObj>
            </a:graphicData>
          </a:graphic>
        </p:graphicFrame>
        <p:graphicFrame>
          <p:nvGraphicFramePr>
            <p:cNvPr id="21" name="对象 154649"/>
            <p:cNvGraphicFramePr>
              <a:graphicFrameLocks/>
            </p:cNvGraphicFramePr>
            <p:nvPr/>
          </p:nvGraphicFramePr>
          <p:xfrm>
            <a:off x="1156" y="1525"/>
            <a:ext cx="3221" cy="447"/>
          </p:xfrm>
          <a:graphic>
            <a:graphicData uri="http://schemas.openxmlformats.org/presentationml/2006/ole">
              <p:oleObj spid="_x0000_s19457" r:id="rId11" imgW="56997600" imgH="79248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56676"/>
          <p:cNvSpPr txBox="1">
            <a:spLocks noChangeArrowheads="1"/>
          </p:cNvSpPr>
          <p:nvPr/>
        </p:nvSpPr>
        <p:spPr bwMode="auto">
          <a:xfrm>
            <a:off x="285721" y="1428736"/>
            <a:ext cx="428628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）电力线路中的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线路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阻抗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支路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末端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流出的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功率为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156685"/>
          <p:cNvGrpSpPr/>
          <p:nvPr/>
        </p:nvGrpSpPr>
        <p:grpSpPr bwMode="auto">
          <a:xfrm>
            <a:off x="500034" y="2882907"/>
            <a:ext cx="5832475" cy="1546225"/>
            <a:chOff x="839" y="1162"/>
            <a:chExt cx="3674" cy="974"/>
          </a:xfrm>
        </p:grpSpPr>
        <p:graphicFrame>
          <p:nvGraphicFramePr>
            <p:cNvPr id="6" name="对象 156677"/>
            <p:cNvGraphicFramePr>
              <a:graphicFrameLocks/>
            </p:cNvGraphicFramePr>
            <p:nvPr/>
          </p:nvGraphicFramePr>
          <p:xfrm>
            <a:off x="839" y="1162"/>
            <a:ext cx="3674" cy="499"/>
          </p:xfrm>
          <a:graphic>
            <a:graphicData uri="http://schemas.openxmlformats.org/presentationml/2006/ole">
              <p:oleObj spid="_x0000_s20484" r:id="rId4" imgW="71628000" imgH="9753600" progId="Equation.3">
                <p:embed/>
              </p:oleObj>
            </a:graphicData>
          </a:graphic>
        </p:graphicFrame>
        <p:graphicFrame>
          <p:nvGraphicFramePr>
            <p:cNvPr id="7" name="对象 156678"/>
            <p:cNvGraphicFramePr>
              <a:graphicFrameLocks/>
            </p:cNvGraphicFramePr>
            <p:nvPr/>
          </p:nvGraphicFramePr>
          <p:xfrm>
            <a:off x="1129" y="1706"/>
            <a:ext cx="3357" cy="430"/>
          </p:xfrm>
          <a:graphic>
            <a:graphicData uri="http://schemas.openxmlformats.org/presentationml/2006/ole">
              <p:oleObj spid="_x0000_s20483" r:id="rId5" imgW="64312800" imgH="8229600" progId="Equation.3">
                <p:embed/>
              </p:oleObj>
            </a:graphicData>
          </a:graphic>
        </p:graphicFrame>
      </p:grpSp>
      <p:sp>
        <p:nvSpPr>
          <p:cNvPr id="8" name="文本框 156680"/>
          <p:cNvSpPr txBox="1">
            <a:spLocks noChangeArrowheads="1"/>
          </p:cNvSpPr>
          <p:nvPr/>
        </p:nvSpPr>
        <p:spPr bwMode="auto">
          <a:xfrm>
            <a:off x="252413" y="4329122"/>
            <a:ext cx="83534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而流入电力线路阻抗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始端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的功率为</a:t>
            </a:r>
          </a:p>
        </p:txBody>
      </p:sp>
      <p:grpSp>
        <p:nvGrpSpPr>
          <p:cNvPr id="9" name="组合 156684"/>
          <p:cNvGrpSpPr/>
          <p:nvPr/>
        </p:nvGrpSpPr>
        <p:grpSpPr bwMode="auto">
          <a:xfrm>
            <a:off x="500034" y="4792684"/>
            <a:ext cx="6192837" cy="1708150"/>
            <a:chOff x="793" y="2523"/>
            <a:chExt cx="3901" cy="1076"/>
          </a:xfrm>
        </p:grpSpPr>
        <p:graphicFrame>
          <p:nvGraphicFramePr>
            <p:cNvPr id="10" name="对象 156681"/>
            <p:cNvGraphicFramePr>
              <a:graphicFrameLocks/>
            </p:cNvGraphicFramePr>
            <p:nvPr/>
          </p:nvGraphicFramePr>
          <p:xfrm>
            <a:off x="793" y="2523"/>
            <a:ext cx="3901" cy="590"/>
          </p:xfrm>
          <a:graphic>
            <a:graphicData uri="http://schemas.openxmlformats.org/presentationml/2006/ole">
              <p:oleObj spid="_x0000_s20482" r:id="rId6" imgW="70713600" imgH="10363200" progId="Equation.3">
                <p:embed/>
              </p:oleObj>
            </a:graphicData>
          </a:graphic>
        </p:graphicFrame>
        <p:graphicFrame>
          <p:nvGraphicFramePr>
            <p:cNvPr id="11" name="对象 156682"/>
            <p:cNvGraphicFramePr>
              <a:graphicFrameLocks/>
            </p:cNvGraphicFramePr>
            <p:nvPr/>
          </p:nvGraphicFramePr>
          <p:xfrm>
            <a:off x="1056" y="3085"/>
            <a:ext cx="3584" cy="514"/>
          </p:xfrm>
          <a:graphic>
            <a:graphicData uri="http://schemas.openxmlformats.org/presentationml/2006/ole">
              <p:oleObj spid="_x0000_s20481" r:id="rId7" imgW="63703200" imgH="9144000" progId="Equation.3">
                <p:embed/>
              </p:oleObj>
            </a:graphicData>
          </a:graphic>
        </p:graphicFrame>
      </p:grpSp>
      <p:pic>
        <p:nvPicPr>
          <p:cNvPr id="12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00562" y="571480"/>
            <a:ext cx="4439718" cy="23574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57700"/>
          <p:cNvSpPr txBox="1">
            <a:spLocks noChangeArrowheads="1"/>
          </p:cNvSpPr>
          <p:nvPr/>
        </p:nvSpPr>
        <p:spPr bwMode="auto">
          <a:xfrm>
            <a:off x="250825" y="996950"/>
            <a:ext cx="83534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则电力线路始端的功率为</a:t>
            </a:r>
          </a:p>
        </p:txBody>
      </p:sp>
      <p:grpSp>
        <p:nvGrpSpPr>
          <p:cNvPr id="5" name="组合 157704"/>
          <p:cNvGrpSpPr/>
          <p:nvPr/>
        </p:nvGrpSpPr>
        <p:grpSpPr bwMode="auto">
          <a:xfrm>
            <a:off x="1331913" y="1644650"/>
            <a:ext cx="6292850" cy="1784350"/>
            <a:chOff x="839" y="799"/>
            <a:chExt cx="3964" cy="1124"/>
          </a:xfrm>
        </p:grpSpPr>
        <p:graphicFrame>
          <p:nvGraphicFramePr>
            <p:cNvPr id="6" name="对象 157701"/>
            <p:cNvGraphicFramePr>
              <a:graphicFrameLocks/>
            </p:cNvGraphicFramePr>
            <p:nvPr/>
          </p:nvGraphicFramePr>
          <p:xfrm>
            <a:off x="839" y="799"/>
            <a:ext cx="3855" cy="565"/>
          </p:xfrm>
          <a:graphic>
            <a:graphicData uri="http://schemas.openxmlformats.org/presentationml/2006/ole">
              <p:oleObj spid="_x0000_s21506" r:id="rId4" imgW="70713600" imgH="10363200" progId="Equation.3">
                <p:embed/>
              </p:oleObj>
            </a:graphicData>
          </a:graphic>
        </p:graphicFrame>
        <p:graphicFrame>
          <p:nvGraphicFramePr>
            <p:cNvPr id="7" name="对象 157702"/>
            <p:cNvGraphicFramePr>
              <a:graphicFrameLocks/>
            </p:cNvGraphicFramePr>
            <p:nvPr/>
          </p:nvGraphicFramePr>
          <p:xfrm>
            <a:off x="1084" y="1389"/>
            <a:ext cx="3719" cy="534"/>
          </p:xfrm>
          <a:graphic>
            <a:graphicData uri="http://schemas.openxmlformats.org/presentationml/2006/ole">
              <p:oleObj spid="_x0000_s21505" r:id="rId5" imgW="63703200" imgH="9144000" progId="Equation.3">
                <p:embed/>
              </p:oleObj>
            </a:graphicData>
          </a:graphic>
        </p:graphicFrame>
      </p:grpSp>
      <p:pic>
        <p:nvPicPr>
          <p:cNvPr id="8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85852" y="3357562"/>
            <a:ext cx="5650550" cy="30003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17" y="186033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58737"/>
          <p:cNvGrpSpPr/>
          <p:nvPr/>
        </p:nvGrpSpPr>
        <p:grpSpPr bwMode="auto">
          <a:xfrm>
            <a:off x="395288" y="727063"/>
            <a:ext cx="4248150" cy="1384300"/>
            <a:chOff x="249" y="346"/>
            <a:chExt cx="5216" cy="872"/>
          </a:xfrm>
        </p:grpSpPr>
        <p:sp>
          <p:nvSpPr>
            <p:cNvPr id="5" name="文本框 158723"/>
            <p:cNvSpPr txBox="1">
              <a:spLocks noChangeArrowheads="1"/>
            </p:cNvSpPr>
            <p:nvPr/>
          </p:nvSpPr>
          <p:spPr bwMode="auto">
            <a:xfrm>
              <a:off x="249" y="346"/>
              <a:ext cx="5216" cy="8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457200" indent="-457200">
                <a:spcBef>
                  <a:spcPct val="50000"/>
                </a:spcBef>
                <a:buFont typeface="Arial" panose="020B0604020202020204" pitchFamily="34" charset="0"/>
                <a:buAutoNum type="arabicPeriod" startAt="2"/>
              </a:pPr>
              <a:r>
                <a:rPr lang="zh-CN" altLang="en-US" sz="2400" dirty="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电力线路的电压降落</a:t>
              </a:r>
            </a:p>
            <a:p>
              <a:pPr marL="457200" indent="-457200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末端相电压为          ，则线路首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端相电压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</a:p>
          </p:txBody>
        </p:sp>
        <p:graphicFrame>
          <p:nvGraphicFramePr>
            <p:cNvPr id="6" name="对象 158724"/>
            <p:cNvGraphicFramePr>
              <a:graphicFrameLocks/>
            </p:cNvGraphicFramePr>
            <p:nvPr/>
          </p:nvGraphicFramePr>
          <p:xfrm>
            <a:off x="3330" y="608"/>
            <a:ext cx="1609" cy="376"/>
          </p:xfrm>
          <a:graphic>
            <a:graphicData uri="http://schemas.openxmlformats.org/presentationml/2006/ole">
              <p:oleObj spid="_x0000_s22532" r:id="rId4" imgW="19812000" imgH="8229600" progId="Equation.3">
                <p:embed/>
              </p:oleObj>
            </a:graphicData>
          </a:graphic>
        </p:graphicFrame>
      </p:grpSp>
      <p:grpSp>
        <p:nvGrpSpPr>
          <p:cNvPr id="7" name="组合 158738"/>
          <p:cNvGrpSpPr/>
          <p:nvPr/>
        </p:nvGrpSpPr>
        <p:grpSpPr bwMode="auto">
          <a:xfrm>
            <a:off x="428596" y="2087581"/>
            <a:ext cx="7486650" cy="4056063"/>
            <a:chOff x="930" y="1026"/>
            <a:chExt cx="4716" cy="2555"/>
          </a:xfrm>
        </p:grpSpPr>
        <p:graphicFrame>
          <p:nvGraphicFramePr>
            <p:cNvPr id="8" name="对象 158726"/>
            <p:cNvGraphicFramePr>
              <a:graphicFrameLocks/>
            </p:cNvGraphicFramePr>
            <p:nvPr/>
          </p:nvGraphicFramePr>
          <p:xfrm>
            <a:off x="930" y="1026"/>
            <a:ext cx="4490" cy="1168"/>
          </p:xfrm>
          <a:graphic>
            <a:graphicData uri="http://schemas.openxmlformats.org/presentationml/2006/ole">
              <p:oleObj spid="_x0000_s22531" r:id="rId5" imgW="90220800" imgH="23469600" progId="Equation.3">
                <p:embed/>
              </p:oleObj>
            </a:graphicData>
          </a:graphic>
        </p:graphicFrame>
        <p:graphicFrame>
          <p:nvGraphicFramePr>
            <p:cNvPr id="9" name="对象 158727"/>
            <p:cNvGraphicFramePr>
              <a:graphicFrameLocks/>
            </p:cNvGraphicFramePr>
            <p:nvPr/>
          </p:nvGraphicFramePr>
          <p:xfrm>
            <a:off x="1202" y="2205"/>
            <a:ext cx="3901" cy="861"/>
          </p:xfrm>
          <a:graphic>
            <a:graphicData uri="http://schemas.openxmlformats.org/presentationml/2006/ole">
              <p:oleObj spid="_x0000_s22530" r:id="rId6" imgW="60960000" imgH="15240000" progId="Equation.3">
                <p:embed/>
              </p:oleObj>
            </a:graphicData>
          </a:graphic>
        </p:graphicFrame>
        <p:graphicFrame>
          <p:nvGraphicFramePr>
            <p:cNvPr id="10" name="对象 158728"/>
            <p:cNvGraphicFramePr>
              <a:graphicFrameLocks/>
            </p:cNvGraphicFramePr>
            <p:nvPr/>
          </p:nvGraphicFramePr>
          <p:xfrm>
            <a:off x="1202" y="3022"/>
            <a:ext cx="3311" cy="559"/>
          </p:xfrm>
          <a:graphic>
            <a:graphicData uri="http://schemas.openxmlformats.org/presentationml/2006/ole">
              <p:oleObj spid="_x0000_s22529" r:id="rId7" imgW="48768000" imgH="8229600" progId="Equation.3">
                <p:embed/>
              </p:oleObj>
            </a:graphicData>
          </a:graphic>
        </p:graphicFrame>
        <p:sp>
          <p:nvSpPr>
            <p:cNvPr id="11" name="文本框 158730"/>
            <p:cNvSpPr txBox="1">
              <a:spLocks noChangeArrowheads="1"/>
            </p:cNvSpPr>
            <p:nvPr/>
          </p:nvSpPr>
          <p:spPr bwMode="auto">
            <a:xfrm>
              <a:off x="4785" y="3203"/>
              <a:ext cx="86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3-6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2" name="圆角矩形标注 158733"/>
          <p:cNvSpPr>
            <a:spLocks noChangeArrowheads="1"/>
          </p:cNvSpPr>
          <p:nvPr/>
        </p:nvSpPr>
        <p:spPr bwMode="auto">
          <a:xfrm flipV="1">
            <a:off x="3019396" y="6210323"/>
            <a:ext cx="1225550" cy="576263"/>
          </a:xfrm>
          <a:prstGeom prst="wedgeRoundRectCallout">
            <a:avLst>
              <a:gd name="adj1" fmla="val 23409"/>
              <a:gd name="adj2" fmla="val 84896"/>
              <a:gd name="adj3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rot="10800000"/>
          <a:lstStyle/>
          <a:p>
            <a:pPr algn="ctr"/>
            <a:r>
              <a:rPr lang="zh-CN" altLang="en-US" sz="24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横分量</a:t>
            </a:r>
          </a:p>
        </p:txBody>
      </p:sp>
      <p:sp>
        <p:nvSpPr>
          <p:cNvPr id="13" name="椭圆形标注 158734"/>
          <p:cNvSpPr>
            <a:spLocks noChangeArrowheads="1"/>
          </p:cNvSpPr>
          <p:nvPr/>
        </p:nvSpPr>
        <p:spPr bwMode="auto">
          <a:xfrm flipV="1">
            <a:off x="715934" y="6211911"/>
            <a:ext cx="1801812" cy="503237"/>
          </a:xfrm>
          <a:prstGeom prst="wedgeEllipseCallout">
            <a:avLst>
              <a:gd name="adj1" fmla="val 31689"/>
              <a:gd name="adj2" fmla="val 8777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rot="10800000"/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纵分量</a:t>
            </a:r>
          </a:p>
        </p:txBody>
      </p:sp>
      <p:sp>
        <p:nvSpPr>
          <p:cNvPr id="14" name="云形标注 158735"/>
          <p:cNvSpPr>
            <a:spLocks noChangeArrowheads="1"/>
          </p:cNvSpPr>
          <p:nvPr/>
        </p:nvSpPr>
        <p:spPr bwMode="auto">
          <a:xfrm flipV="1">
            <a:off x="5540346" y="6138886"/>
            <a:ext cx="2305050" cy="647700"/>
          </a:xfrm>
          <a:prstGeom prst="cloudCallout">
            <a:avLst>
              <a:gd name="adj1" fmla="val -30513"/>
              <a:gd name="adj2" fmla="val 7261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rot="10800000"/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电压降落</a:t>
            </a:r>
          </a:p>
        </p:txBody>
      </p:sp>
      <p:pic>
        <p:nvPicPr>
          <p:cNvPr id="15" name="Picture 16" descr="C:\Users\chenliang\AppData\Roaming\Tencent\Users\284798068\QQ\WinTemp\RichOle\7{T(L}R~)2%Y@2503)DBUOY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777103" y="262232"/>
            <a:ext cx="4439718" cy="23574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59747"/>
          <p:cNvSpPr txBox="1">
            <a:spLocks noChangeArrowheads="1"/>
          </p:cNvSpPr>
          <p:nvPr/>
        </p:nvSpPr>
        <p:spPr bwMode="auto">
          <a:xfrm>
            <a:off x="395288" y="549275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</a:p>
        </p:txBody>
      </p:sp>
      <p:grpSp>
        <p:nvGrpSpPr>
          <p:cNvPr id="5" name="组合 159782"/>
          <p:cNvGrpSpPr/>
          <p:nvPr/>
        </p:nvGrpSpPr>
        <p:grpSpPr bwMode="auto">
          <a:xfrm>
            <a:off x="1476375" y="836613"/>
            <a:ext cx="5183188" cy="1801812"/>
            <a:chOff x="930" y="527"/>
            <a:chExt cx="3265" cy="1135"/>
          </a:xfrm>
        </p:grpSpPr>
        <p:graphicFrame>
          <p:nvGraphicFramePr>
            <p:cNvPr id="6" name="对象 159748"/>
            <p:cNvGraphicFramePr>
              <a:graphicFrameLocks/>
            </p:cNvGraphicFramePr>
            <p:nvPr/>
          </p:nvGraphicFramePr>
          <p:xfrm>
            <a:off x="930" y="527"/>
            <a:ext cx="1406" cy="1135"/>
          </p:xfrm>
          <a:graphic>
            <a:graphicData uri="http://schemas.openxmlformats.org/presentationml/2006/ole">
              <p:oleObj spid="_x0000_s23563" r:id="rId4" imgW="31699200" imgH="25603200" progId="Equation.3">
                <p:embed/>
              </p:oleObj>
            </a:graphicData>
          </a:graphic>
        </p:graphicFrame>
        <p:sp>
          <p:nvSpPr>
            <p:cNvPr id="7" name="文本框 159749"/>
            <p:cNvSpPr txBox="1">
              <a:spLocks noChangeArrowheads="1"/>
            </p:cNvSpPr>
            <p:nvPr/>
          </p:nvSpPr>
          <p:spPr bwMode="auto">
            <a:xfrm>
              <a:off x="3334" y="890"/>
              <a:ext cx="86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3-7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8" name="文本框 159750"/>
          <p:cNvSpPr txBox="1">
            <a:spLocks noChangeArrowheads="1"/>
          </p:cNvSpPr>
          <p:nvPr/>
        </p:nvSpPr>
        <p:spPr bwMode="auto">
          <a:xfrm>
            <a:off x="539750" y="2492375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又有</a:t>
            </a:r>
          </a:p>
        </p:txBody>
      </p:sp>
      <p:grpSp>
        <p:nvGrpSpPr>
          <p:cNvPr id="9" name="组合 159781"/>
          <p:cNvGrpSpPr/>
          <p:nvPr/>
        </p:nvGrpSpPr>
        <p:grpSpPr bwMode="auto">
          <a:xfrm>
            <a:off x="1547813" y="2781300"/>
            <a:ext cx="5254625" cy="688975"/>
            <a:chOff x="975" y="1752"/>
            <a:chExt cx="3310" cy="434"/>
          </a:xfrm>
        </p:grpSpPr>
        <p:graphicFrame>
          <p:nvGraphicFramePr>
            <p:cNvPr id="10" name="对象 159751"/>
            <p:cNvGraphicFramePr>
              <a:graphicFrameLocks/>
            </p:cNvGraphicFramePr>
            <p:nvPr/>
          </p:nvGraphicFramePr>
          <p:xfrm>
            <a:off x="975" y="1842"/>
            <a:ext cx="1905" cy="344"/>
          </p:xfrm>
          <a:graphic>
            <a:graphicData uri="http://schemas.openxmlformats.org/presentationml/2006/ole">
              <p:oleObj spid="_x0000_s23562" r:id="rId5" imgW="47244000" imgH="8534400" progId="Equation.3">
                <p:embed/>
              </p:oleObj>
            </a:graphicData>
          </a:graphic>
        </p:graphicFrame>
        <p:sp>
          <p:nvSpPr>
            <p:cNvPr id="11" name="文本框 159752"/>
            <p:cNvSpPr txBox="1">
              <a:spLocks noChangeArrowheads="1"/>
            </p:cNvSpPr>
            <p:nvPr/>
          </p:nvSpPr>
          <p:spPr bwMode="auto">
            <a:xfrm>
              <a:off x="3424" y="1752"/>
              <a:ext cx="86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3-8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2" name="组合 159778"/>
          <p:cNvGrpSpPr/>
          <p:nvPr/>
        </p:nvGrpSpPr>
        <p:grpSpPr bwMode="auto">
          <a:xfrm>
            <a:off x="611188" y="4508500"/>
            <a:ext cx="3455987" cy="1511300"/>
            <a:chOff x="385" y="2840"/>
            <a:chExt cx="2177" cy="952"/>
          </a:xfrm>
        </p:grpSpPr>
        <p:sp>
          <p:nvSpPr>
            <p:cNvPr id="13" name="直接连接符 159755"/>
            <p:cNvSpPr>
              <a:spLocks noChangeShapeType="1"/>
            </p:cNvSpPr>
            <p:nvPr/>
          </p:nvSpPr>
          <p:spPr bwMode="auto">
            <a:xfrm>
              <a:off x="385" y="3520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159756"/>
            <p:cNvSpPr>
              <a:spLocks noChangeShapeType="1"/>
            </p:cNvSpPr>
            <p:nvPr/>
          </p:nvSpPr>
          <p:spPr bwMode="auto">
            <a:xfrm>
              <a:off x="1655" y="3520"/>
              <a:ext cx="5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159757"/>
            <p:cNvSpPr>
              <a:spLocks noChangeShapeType="1"/>
            </p:cNvSpPr>
            <p:nvPr/>
          </p:nvSpPr>
          <p:spPr bwMode="auto">
            <a:xfrm flipV="1">
              <a:off x="2244" y="306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6" name="直接连接符 159758"/>
            <p:cNvSpPr>
              <a:spLocks noChangeShapeType="1"/>
            </p:cNvSpPr>
            <p:nvPr/>
          </p:nvSpPr>
          <p:spPr bwMode="auto">
            <a:xfrm flipV="1">
              <a:off x="1609" y="3066"/>
              <a:ext cx="63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159759"/>
            <p:cNvSpPr>
              <a:spLocks noChangeShapeType="1"/>
            </p:cNvSpPr>
            <p:nvPr/>
          </p:nvSpPr>
          <p:spPr bwMode="auto">
            <a:xfrm flipV="1">
              <a:off x="385" y="3066"/>
              <a:ext cx="1859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8" name="任意多边形 159760"/>
            <p:cNvSpPr>
              <a:spLocks noChangeArrowheads="1"/>
            </p:cNvSpPr>
            <p:nvPr/>
          </p:nvSpPr>
          <p:spPr bwMode="auto">
            <a:xfrm>
              <a:off x="748" y="3429"/>
              <a:ext cx="45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600" y="21600"/>
                </a:cxn>
                <a:cxn ang="0">
                  <a:pos x="0" y="0"/>
                </a:cxn>
                <a:cxn ang="0">
                  <a:pos x="21600" y="21600"/>
                </a:cxn>
                <a:cxn ang="0">
                  <a:pos x="0" y="21600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文本框 159761"/>
            <p:cNvSpPr txBox="1">
              <a:spLocks noChangeArrowheads="1"/>
            </p:cNvSpPr>
            <p:nvPr/>
          </p:nvSpPr>
          <p:spPr bwMode="auto">
            <a:xfrm>
              <a:off x="838" y="3339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zh-CN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</a:p>
          </p:txBody>
        </p:sp>
        <p:graphicFrame>
          <p:nvGraphicFramePr>
            <p:cNvPr id="20" name="对象 159762"/>
            <p:cNvGraphicFramePr>
              <a:graphicFrameLocks/>
            </p:cNvGraphicFramePr>
            <p:nvPr/>
          </p:nvGraphicFramePr>
          <p:xfrm>
            <a:off x="2006" y="2840"/>
            <a:ext cx="193" cy="261"/>
          </p:xfrm>
          <a:graphic>
            <a:graphicData uri="http://schemas.openxmlformats.org/presentationml/2006/ole">
              <p:oleObj spid="_x0000_s23561" r:id="rId6" imgW="6096000" imgH="8229600" progId="Equation.3">
                <p:embed/>
              </p:oleObj>
            </a:graphicData>
          </a:graphic>
        </p:graphicFrame>
        <p:graphicFrame>
          <p:nvGraphicFramePr>
            <p:cNvPr id="21" name="对象 159763"/>
            <p:cNvGraphicFramePr>
              <a:graphicFrameLocks/>
            </p:cNvGraphicFramePr>
            <p:nvPr/>
          </p:nvGraphicFramePr>
          <p:xfrm>
            <a:off x="1428" y="3520"/>
            <a:ext cx="212" cy="272"/>
          </p:xfrm>
          <a:graphic>
            <a:graphicData uri="http://schemas.openxmlformats.org/presentationml/2006/ole">
              <p:oleObj spid="_x0000_s23560" r:id="rId7" imgW="6400800" imgH="8229600" progId="Equation.3">
                <p:embed/>
              </p:oleObj>
            </a:graphicData>
          </a:graphic>
        </p:graphicFrame>
        <p:graphicFrame>
          <p:nvGraphicFramePr>
            <p:cNvPr id="22" name="对象 159764"/>
            <p:cNvGraphicFramePr>
              <a:graphicFrameLocks/>
            </p:cNvGraphicFramePr>
            <p:nvPr/>
          </p:nvGraphicFramePr>
          <p:xfrm>
            <a:off x="1564" y="3112"/>
            <a:ext cx="312" cy="312"/>
          </p:xfrm>
          <a:graphic>
            <a:graphicData uri="http://schemas.openxmlformats.org/presentationml/2006/ole">
              <p:oleObj spid="_x0000_s23559" r:id="rId8" imgW="6705600" imgH="6705600" progId="Equation.3">
                <p:embed/>
              </p:oleObj>
            </a:graphicData>
          </a:graphic>
        </p:graphicFrame>
        <p:graphicFrame>
          <p:nvGraphicFramePr>
            <p:cNvPr id="23" name="对象 159765"/>
            <p:cNvGraphicFramePr>
              <a:graphicFrameLocks/>
            </p:cNvGraphicFramePr>
            <p:nvPr/>
          </p:nvGraphicFramePr>
          <p:xfrm>
            <a:off x="1972" y="3475"/>
            <a:ext cx="272" cy="272"/>
          </p:xfrm>
          <a:graphic>
            <a:graphicData uri="http://schemas.openxmlformats.org/presentationml/2006/ole">
              <p:oleObj spid="_x0000_s23558" r:id="rId9" imgW="6705600" imgH="6705600" progId="Equation.3">
                <p:embed/>
              </p:oleObj>
            </a:graphicData>
          </a:graphic>
        </p:graphicFrame>
        <p:graphicFrame>
          <p:nvGraphicFramePr>
            <p:cNvPr id="24" name="对象 159766"/>
            <p:cNvGraphicFramePr>
              <a:graphicFrameLocks/>
            </p:cNvGraphicFramePr>
            <p:nvPr/>
          </p:nvGraphicFramePr>
          <p:xfrm>
            <a:off x="2290" y="3112"/>
            <a:ext cx="272" cy="272"/>
          </p:xfrm>
          <a:graphic>
            <a:graphicData uri="http://schemas.openxmlformats.org/presentationml/2006/ole">
              <p:oleObj spid="_x0000_s23557" r:id="rId10" imgW="6705600" imgH="6705600" progId="Equation.3">
                <p:embed/>
              </p:oleObj>
            </a:graphicData>
          </a:graphic>
        </p:graphicFrame>
      </p:grpSp>
      <p:grpSp>
        <p:nvGrpSpPr>
          <p:cNvPr id="25" name="组合 159780"/>
          <p:cNvGrpSpPr/>
          <p:nvPr/>
        </p:nvGrpSpPr>
        <p:grpSpPr bwMode="auto">
          <a:xfrm>
            <a:off x="971550" y="6021388"/>
            <a:ext cx="2592388" cy="736600"/>
            <a:chOff x="612" y="3793"/>
            <a:chExt cx="1633" cy="464"/>
          </a:xfrm>
        </p:grpSpPr>
        <p:sp>
          <p:nvSpPr>
            <p:cNvPr id="26" name="文本框 159767"/>
            <p:cNvSpPr txBox="1">
              <a:spLocks noChangeArrowheads="1"/>
            </p:cNvSpPr>
            <p:nvPr/>
          </p:nvSpPr>
          <p:spPr bwMode="auto">
            <a:xfrm>
              <a:off x="612" y="3793"/>
              <a:ext cx="1633" cy="4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图</a:t>
              </a:r>
              <a:r>
                <a:rPr lang="en-US" altLang="zh-CN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 </a:t>
              </a:r>
              <a:r>
                <a:rPr lang="zh-CN" altLang="en-US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电力线路电压相量图（        ）</a:t>
              </a:r>
              <a:endPara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7" name="对象 159768"/>
            <p:cNvGraphicFramePr>
              <a:graphicFrameLocks/>
            </p:cNvGraphicFramePr>
            <p:nvPr/>
          </p:nvGraphicFramePr>
          <p:xfrm>
            <a:off x="1383" y="3957"/>
            <a:ext cx="544" cy="300"/>
          </p:xfrm>
          <a:graphic>
            <a:graphicData uri="http://schemas.openxmlformats.org/presentationml/2006/ole">
              <p:oleObj spid="_x0000_s23556" r:id="rId11" imgW="14935200" imgH="8229600" progId="Equation.3">
                <p:embed/>
              </p:oleObj>
            </a:graphicData>
          </a:graphic>
        </p:graphicFrame>
      </p:grpSp>
      <p:grpSp>
        <p:nvGrpSpPr>
          <p:cNvPr id="28" name="组合 159779"/>
          <p:cNvGrpSpPr/>
          <p:nvPr/>
        </p:nvGrpSpPr>
        <p:grpSpPr bwMode="auto">
          <a:xfrm>
            <a:off x="4427538" y="5084763"/>
            <a:ext cx="4464050" cy="952500"/>
            <a:chOff x="2789" y="3203"/>
            <a:chExt cx="2812" cy="600"/>
          </a:xfrm>
        </p:grpSpPr>
        <p:graphicFrame>
          <p:nvGraphicFramePr>
            <p:cNvPr id="29" name="对象 159771"/>
            <p:cNvGraphicFramePr>
              <a:graphicFrameLocks/>
            </p:cNvGraphicFramePr>
            <p:nvPr/>
          </p:nvGraphicFramePr>
          <p:xfrm>
            <a:off x="2789" y="3203"/>
            <a:ext cx="1724" cy="600"/>
          </p:xfrm>
          <a:graphic>
            <a:graphicData uri="http://schemas.openxmlformats.org/presentationml/2006/ole">
              <p:oleObj spid="_x0000_s23555" r:id="rId12" imgW="28041600" imgH="9753600" progId="Equation.3">
                <p:embed/>
              </p:oleObj>
            </a:graphicData>
          </a:graphic>
        </p:graphicFrame>
        <p:sp>
          <p:nvSpPr>
            <p:cNvPr id="30" name="文本框 159772"/>
            <p:cNvSpPr txBox="1">
              <a:spLocks noChangeArrowheads="1"/>
            </p:cNvSpPr>
            <p:nvPr/>
          </p:nvSpPr>
          <p:spPr bwMode="auto">
            <a:xfrm>
              <a:off x="4740" y="3339"/>
              <a:ext cx="86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3-9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31" name="组合 159783"/>
          <p:cNvGrpSpPr/>
          <p:nvPr/>
        </p:nvGrpSpPr>
        <p:grpSpPr bwMode="auto">
          <a:xfrm>
            <a:off x="395288" y="3500438"/>
            <a:ext cx="8748712" cy="1123950"/>
            <a:chOff x="249" y="2205"/>
            <a:chExt cx="5511" cy="708"/>
          </a:xfrm>
        </p:grpSpPr>
        <p:sp>
          <p:nvSpPr>
            <p:cNvPr id="32" name="文本框 159753"/>
            <p:cNvSpPr txBox="1">
              <a:spLocks noChangeArrowheads="1"/>
            </p:cNvSpPr>
            <p:nvPr/>
          </p:nvSpPr>
          <p:spPr bwMode="auto">
            <a:xfrm>
              <a:off x="249" y="2251"/>
              <a:ext cx="5511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作出电力线路电压相量图，取    与实轴重合，如图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示，图中的相位角    或称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功率角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</a:p>
          </p:txBody>
        </p:sp>
        <p:graphicFrame>
          <p:nvGraphicFramePr>
            <p:cNvPr id="33" name="对象 159774"/>
            <p:cNvGraphicFramePr>
              <a:graphicFrameLocks/>
            </p:cNvGraphicFramePr>
            <p:nvPr/>
          </p:nvGraphicFramePr>
          <p:xfrm>
            <a:off x="3288" y="2205"/>
            <a:ext cx="282" cy="363"/>
          </p:xfrm>
          <a:graphic>
            <a:graphicData uri="http://schemas.openxmlformats.org/presentationml/2006/ole">
              <p:oleObj spid="_x0000_s23554" r:id="rId13" imgW="6400800" imgH="8229600" progId="Equation.3">
                <p:embed/>
              </p:oleObj>
            </a:graphicData>
          </a:graphic>
        </p:graphicFrame>
        <p:graphicFrame>
          <p:nvGraphicFramePr>
            <p:cNvPr id="34" name="对象 159776"/>
            <p:cNvGraphicFramePr>
              <a:graphicFrameLocks/>
            </p:cNvGraphicFramePr>
            <p:nvPr/>
          </p:nvGraphicFramePr>
          <p:xfrm>
            <a:off x="1927" y="2595"/>
            <a:ext cx="250" cy="318"/>
          </p:xfrm>
          <a:graphic>
            <a:graphicData uri="http://schemas.openxmlformats.org/presentationml/2006/ole">
              <p:oleObj spid="_x0000_s23553" r:id="rId14" imgW="3352800" imgH="4267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60793"/>
          <p:cNvGrpSpPr/>
          <p:nvPr/>
        </p:nvGrpSpPr>
        <p:grpSpPr bwMode="auto">
          <a:xfrm>
            <a:off x="214282" y="858858"/>
            <a:ext cx="8496300" cy="1016001"/>
            <a:chOff x="295" y="300"/>
            <a:chExt cx="5352" cy="640"/>
          </a:xfrm>
        </p:grpSpPr>
        <p:sp>
          <p:nvSpPr>
            <p:cNvPr id="5" name="文本框 160771"/>
            <p:cNvSpPr txBox="1">
              <a:spLocks noChangeArrowheads="1"/>
            </p:cNvSpPr>
            <p:nvPr/>
          </p:nvSpPr>
          <p:spPr bwMode="auto">
            <a:xfrm>
              <a:off x="295" y="300"/>
              <a:ext cx="5352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由于一般情况下，             可将式（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3-8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）按二项式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定理展开，取其前两项，得</a:t>
              </a:r>
            </a:p>
          </p:txBody>
        </p:sp>
        <p:graphicFrame>
          <p:nvGraphicFramePr>
            <p:cNvPr id="6" name="对象 160773"/>
            <p:cNvGraphicFramePr>
              <a:graphicFrameLocks/>
            </p:cNvGraphicFramePr>
            <p:nvPr/>
          </p:nvGraphicFramePr>
          <p:xfrm>
            <a:off x="2336" y="363"/>
            <a:ext cx="610" cy="255"/>
          </p:xfrm>
          <a:graphic>
            <a:graphicData uri="http://schemas.openxmlformats.org/presentationml/2006/ole">
              <p:oleObj spid="_x0000_s24585" r:id="rId4" imgW="18592800" imgH="6400800" progId="Equation.3">
                <p:embed/>
              </p:oleObj>
            </a:graphicData>
          </a:graphic>
        </p:graphicFrame>
        <p:graphicFrame>
          <p:nvGraphicFramePr>
            <p:cNvPr id="7" name="对象 160774"/>
            <p:cNvGraphicFramePr>
              <a:graphicFrameLocks/>
            </p:cNvGraphicFramePr>
            <p:nvPr/>
          </p:nvGraphicFramePr>
          <p:xfrm>
            <a:off x="2955" y="346"/>
            <a:ext cx="515" cy="251"/>
          </p:xfrm>
          <a:graphic>
            <a:graphicData uri="http://schemas.openxmlformats.org/presentationml/2006/ole">
              <p:oleObj spid="_x0000_s24584" r:id="rId5" imgW="10668000" imgH="4267200" progId="Equation.3">
                <p:embed/>
              </p:oleObj>
            </a:graphicData>
          </a:graphic>
        </p:graphicFrame>
      </p:grpSp>
      <p:grpSp>
        <p:nvGrpSpPr>
          <p:cNvPr id="8" name="组合 160795"/>
          <p:cNvGrpSpPr/>
          <p:nvPr/>
        </p:nvGrpSpPr>
        <p:grpSpPr bwMode="auto">
          <a:xfrm>
            <a:off x="861982" y="1939946"/>
            <a:ext cx="6985000" cy="1511300"/>
            <a:chOff x="703" y="981"/>
            <a:chExt cx="4400" cy="952"/>
          </a:xfrm>
        </p:grpSpPr>
        <p:graphicFrame>
          <p:nvGraphicFramePr>
            <p:cNvPr id="9" name="对象 160780"/>
            <p:cNvGraphicFramePr>
              <a:graphicFrameLocks/>
            </p:cNvGraphicFramePr>
            <p:nvPr/>
          </p:nvGraphicFramePr>
          <p:xfrm>
            <a:off x="703" y="981"/>
            <a:ext cx="4400" cy="658"/>
          </p:xfrm>
          <a:graphic>
            <a:graphicData uri="http://schemas.openxmlformats.org/presentationml/2006/ole">
              <p:oleObj spid="_x0000_s24583" r:id="rId6" imgW="85648800" imgH="12801600" progId="Equation.3">
                <p:embed/>
              </p:oleObj>
            </a:graphicData>
          </a:graphic>
        </p:graphicFrame>
        <p:grpSp>
          <p:nvGrpSpPr>
            <p:cNvPr id="10" name="组合 160794"/>
            <p:cNvGrpSpPr/>
            <p:nvPr/>
          </p:nvGrpSpPr>
          <p:grpSpPr bwMode="auto">
            <a:xfrm>
              <a:off x="930" y="1611"/>
              <a:ext cx="1089" cy="322"/>
              <a:chOff x="930" y="1611"/>
              <a:chExt cx="1089" cy="322"/>
            </a:xfrm>
          </p:grpSpPr>
          <p:graphicFrame>
            <p:nvGraphicFramePr>
              <p:cNvPr id="12" name="对象 160777"/>
              <p:cNvGraphicFramePr>
                <a:graphicFrameLocks/>
              </p:cNvGraphicFramePr>
              <p:nvPr/>
            </p:nvGraphicFramePr>
            <p:xfrm>
              <a:off x="1248" y="1611"/>
              <a:ext cx="771" cy="322"/>
            </p:xfrm>
            <a:graphic>
              <a:graphicData uri="http://schemas.openxmlformats.org/presentationml/2006/ole">
                <p:oleObj spid="_x0000_s24582" r:id="rId7" imgW="18592800" imgH="6400800" progId="Equation.3">
                  <p:embed/>
                </p:oleObj>
              </a:graphicData>
            </a:graphic>
          </p:graphicFrame>
          <p:graphicFrame>
            <p:nvGraphicFramePr>
              <p:cNvPr id="13" name="对象 160781"/>
              <p:cNvGraphicFramePr>
                <a:graphicFrameLocks/>
              </p:cNvGraphicFramePr>
              <p:nvPr/>
            </p:nvGraphicFramePr>
            <p:xfrm>
              <a:off x="930" y="1656"/>
              <a:ext cx="272" cy="272"/>
            </p:xfrm>
            <a:graphic>
              <a:graphicData uri="http://schemas.openxmlformats.org/presentationml/2006/ole">
                <p:oleObj spid="_x0000_s24581" r:id="rId8" imgW="3048000" imgH="3048000" progId="Equation.3">
                  <p:embed/>
                </p:oleObj>
              </a:graphicData>
            </a:graphic>
          </p:graphicFrame>
        </p:grpSp>
        <p:sp>
          <p:nvSpPr>
            <p:cNvPr id="11" name="文本框 160784"/>
            <p:cNvSpPr txBox="1">
              <a:spLocks noChangeArrowheads="1"/>
            </p:cNvSpPr>
            <p:nvPr/>
          </p:nvSpPr>
          <p:spPr bwMode="auto">
            <a:xfrm>
              <a:off x="3061" y="1616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3-10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4" name="组合 160796"/>
          <p:cNvGrpSpPr/>
          <p:nvPr/>
        </p:nvGrpSpPr>
        <p:grpSpPr bwMode="auto">
          <a:xfrm>
            <a:off x="320644" y="3640159"/>
            <a:ext cx="8569325" cy="1187451"/>
            <a:chOff x="362" y="2052"/>
            <a:chExt cx="5398" cy="748"/>
          </a:xfrm>
        </p:grpSpPr>
        <p:sp>
          <p:nvSpPr>
            <p:cNvPr id="15" name="文本框 160786"/>
            <p:cNvSpPr txBox="1">
              <a:spLocks noChangeArrowheads="1"/>
            </p:cNvSpPr>
            <p:nvPr/>
          </p:nvSpPr>
          <p:spPr bwMode="auto">
            <a:xfrm>
              <a:off x="362" y="2160"/>
              <a:ext cx="5398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相似于这种推导，还可以获得从始端电压    ，始端单相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    求取末端相电压    的计算公式</a:t>
              </a:r>
            </a:p>
          </p:txBody>
        </p:sp>
        <p:graphicFrame>
          <p:nvGraphicFramePr>
            <p:cNvPr id="16" name="对象 160787"/>
            <p:cNvGraphicFramePr>
              <a:graphicFrameLocks/>
            </p:cNvGraphicFramePr>
            <p:nvPr/>
          </p:nvGraphicFramePr>
          <p:xfrm>
            <a:off x="4359" y="2052"/>
            <a:ext cx="287" cy="408"/>
          </p:xfrm>
          <a:graphic>
            <a:graphicData uri="http://schemas.openxmlformats.org/presentationml/2006/ole">
              <p:oleObj spid="_x0000_s24580" r:id="rId9" imgW="5791200" imgH="8229600" progId="Equation.3">
                <p:embed/>
              </p:oleObj>
            </a:graphicData>
          </a:graphic>
        </p:graphicFrame>
        <p:graphicFrame>
          <p:nvGraphicFramePr>
            <p:cNvPr id="17" name="对象 160788"/>
            <p:cNvGraphicFramePr>
              <a:graphicFrameLocks/>
            </p:cNvGraphicFramePr>
            <p:nvPr/>
          </p:nvGraphicFramePr>
          <p:xfrm>
            <a:off x="884" y="2341"/>
            <a:ext cx="250" cy="453"/>
          </p:xfrm>
          <a:graphic>
            <a:graphicData uri="http://schemas.openxmlformats.org/presentationml/2006/ole">
              <p:oleObj spid="_x0000_s24579" r:id="rId10" imgW="4876800" imgH="8839200" progId="Equation.3">
                <p:embed/>
              </p:oleObj>
            </a:graphicData>
          </a:graphic>
        </p:graphicFrame>
        <p:graphicFrame>
          <p:nvGraphicFramePr>
            <p:cNvPr id="18" name="对象 160789"/>
            <p:cNvGraphicFramePr>
              <a:graphicFrameLocks/>
            </p:cNvGraphicFramePr>
            <p:nvPr/>
          </p:nvGraphicFramePr>
          <p:xfrm>
            <a:off x="2608" y="2387"/>
            <a:ext cx="317" cy="408"/>
          </p:xfrm>
          <a:graphic>
            <a:graphicData uri="http://schemas.openxmlformats.org/presentationml/2006/ole">
              <p:oleObj spid="_x0000_s24578" r:id="rId11" imgW="6400800" imgH="8229600" progId="Equation.3">
                <p:embed/>
              </p:oleObj>
            </a:graphicData>
          </a:graphic>
        </p:graphicFrame>
      </p:grpSp>
      <p:grpSp>
        <p:nvGrpSpPr>
          <p:cNvPr id="19" name="组合 160797"/>
          <p:cNvGrpSpPr/>
          <p:nvPr/>
        </p:nvGrpSpPr>
        <p:grpSpPr bwMode="auto">
          <a:xfrm>
            <a:off x="788957" y="5180033"/>
            <a:ext cx="7056437" cy="1249363"/>
            <a:chOff x="657" y="3022"/>
            <a:chExt cx="4445" cy="787"/>
          </a:xfrm>
        </p:grpSpPr>
        <p:graphicFrame>
          <p:nvGraphicFramePr>
            <p:cNvPr id="20" name="对象 160791"/>
            <p:cNvGraphicFramePr>
              <a:graphicFrameLocks/>
            </p:cNvGraphicFramePr>
            <p:nvPr/>
          </p:nvGraphicFramePr>
          <p:xfrm>
            <a:off x="657" y="3022"/>
            <a:ext cx="4445" cy="418"/>
          </p:xfrm>
          <a:graphic>
            <a:graphicData uri="http://schemas.openxmlformats.org/presentationml/2006/ole">
              <p:oleObj spid="_x0000_s24577" r:id="rId12" imgW="87477600" imgH="8229600" progId="Equation.3">
                <p:embed/>
              </p:oleObj>
            </a:graphicData>
          </a:graphic>
        </p:graphicFrame>
        <p:sp>
          <p:nvSpPr>
            <p:cNvPr id="21" name="文本框 160792"/>
            <p:cNvSpPr txBox="1">
              <a:spLocks noChangeArrowheads="1"/>
            </p:cNvSpPr>
            <p:nvPr/>
          </p:nvSpPr>
          <p:spPr bwMode="auto">
            <a:xfrm>
              <a:off x="3152" y="3521"/>
              <a:ext cx="99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3-11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61796"/>
          <p:cNvSpPr txBox="1">
            <a:spLocks noChangeArrowheads="1"/>
          </p:cNvSpPr>
          <p:nvPr/>
        </p:nvSpPr>
        <p:spPr bwMode="auto">
          <a:xfrm>
            <a:off x="468313" y="549275"/>
            <a:ext cx="158273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上式中，</a:t>
            </a:r>
          </a:p>
        </p:txBody>
      </p:sp>
      <p:grpSp>
        <p:nvGrpSpPr>
          <p:cNvPr id="5" name="组合 161836"/>
          <p:cNvGrpSpPr/>
          <p:nvPr/>
        </p:nvGrpSpPr>
        <p:grpSpPr bwMode="auto">
          <a:xfrm>
            <a:off x="2051050" y="549275"/>
            <a:ext cx="6437313" cy="1978025"/>
            <a:chOff x="1292" y="346"/>
            <a:chExt cx="4055" cy="1246"/>
          </a:xfrm>
        </p:grpSpPr>
        <p:graphicFrame>
          <p:nvGraphicFramePr>
            <p:cNvPr id="6" name="对象 161797"/>
            <p:cNvGraphicFramePr>
              <a:graphicFrameLocks/>
            </p:cNvGraphicFramePr>
            <p:nvPr/>
          </p:nvGraphicFramePr>
          <p:xfrm>
            <a:off x="1292" y="346"/>
            <a:ext cx="1588" cy="1246"/>
          </p:xfrm>
          <a:graphic>
            <a:graphicData uri="http://schemas.openxmlformats.org/presentationml/2006/ole">
              <p:oleObj spid="_x0000_s25612" r:id="rId4" imgW="32613600" imgH="25603200" progId="Equation.3">
                <p:embed/>
              </p:oleObj>
            </a:graphicData>
          </a:graphic>
        </p:graphicFrame>
        <p:sp>
          <p:nvSpPr>
            <p:cNvPr id="7" name="文本框 161798"/>
            <p:cNvSpPr txBox="1">
              <a:spLocks noChangeArrowheads="1"/>
            </p:cNvSpPr>
            <p:nvPr/>
          </p:nvSpPr>
          <p:spPr bwMode="auto">
            <a:xfrm>
              <a:off x="4395" y="709"/>
              <a:ext cx="9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3-12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8" name="组合 161835"/>
          <p:cNvGrpSpPr/>
          <p:nvPr/>
        </p:nvGrpSpPr>
        <p:grpSpPr bwMode="auto">
          <a:xfrm>
            <a:off x="1547813" y="2708275"/>
            <a:ext cx="6983412" cy="727075"/>
            <a:chOff x="975" y="1706"/>
            <a:chExt cx="4399" cy="458"/>
          </a:xfrm>
        </p:grpSpPr>
        <p:graphicFrame>
          <p:nvGraphicFramePr>
            <p:cNvPr id="9" name="对象 161799"/>
            <p:cNvGraphicFramePr>
              <a:graphicFrameLocks/>
            </p:cNvGraphicFramePr>
            <p:nvPr/>
          </p:nvGraphicFramePr>
          <p:xfrm>
            <a:off x="975" y="1706"/>
            <a:ext cx="3311" cy="458"/>
          </p:xfrm>
          <a:graphic>
            <a:graphicData uri="http://schemas.openxmlformats.org/presentationml/2006/ole">
              <p:oleObj spid="_x0000_s25611" r:id="rId5" imgW="66141600" imgH="9144000" progId="Equation.3">
                <p:embed/>
              </p:oleObj>
            </a:graphicData>
          </a:graphic>
        </p:graphicFrame>
        <p:sp>
          <p:nvSpPr>
            <p:cNvPr id="10" name="文本框 161800"/>
            <p:cNvSpPr txBox="1">
              <a:spLocks noChangeArrowheads="1"/>
            </p:cNvSpPr>
            <p:nvPr/>
          </p:nvSpPr>
          <p:spPr bwMode="auto">
            <a:xfrm>
              <a:off x="4422" y="1752"/>
              <a:ext cx="9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3-13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1" name="组合 161834"/>
          <p:cNvGrpSpPr/>
          <p:nvPr/>
        </p:nvGrpSpPr>
        <p:grpSpPr bwMode="auto">
          <a:xfrm>
            <a:off x="2124075" y="3678238"/>
            <a:ext cx="6437313" cy="974725"/>
            <a:chOff x="1338" y="2317"/>
            <a:chExt cx="4055" cy="614"/>
          </a:xfrm>
        </p:grpSpPr>
        <p:graphicFrame>
          <p:nvGraphicFramePr>
            <p:cNvPr id="12" name="对象 161801"/>
            <p:cNvGraphicFramePr>
              <a:graphicFrameLocks/>
            </p:cNvGraphicFramePr>
            <p:nvPr/>
          </p:nvGraphicFramePr>
          <p:xfrm>
            <a:off x="1338" y="2317"/>
            <a:ext cx="1452" cy="614"/>
          </p:xfrm>
          <a:graphic>
            <a:graphicData uri="http://schemas.openxmlformats.org/presentationml/2006/ole">
              <p:oleObj spid="_x0000_s25610" r:id="rId6" imgW="29565600" imgH="12496800" progId="Equation.3">
                <p:embed/>
              </p:oleObj>
            </a:graphicData>
          </a:graphic>
        </p:graphicFrame>
        <p:sp>
          <p:nvSpPr>
            <p:cNvPr id="13" name="文本框 161802"/>
            <p:cNvSpPr txBox="1">
              <a:spLocks noChangeArrowheads="1"/>
            </p:cNvSpPr>
            <p:nvPr/>
          </p:nvSpPr>
          <p:spPr bwMode="auto">
            <a:xfrm>
              <a:off x="4441" y="2416"/>
              <a:ext cx="9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3-14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4" name="组合 161837"/>
          <p:cNvGrpSpPr/>
          <p:nvPr/>
        </p:nvGrpSpPr>
        <p:grpSpPr bwMode="auto">
          <a:xfrm>
            <a:off x="468313" y="4797427"/>
            <a:ext cx="3673475" cy="974726"/>
            <a:chOff x="295" y="3022"/>
            <a:chExt cx="2314" cy="614"/>
          </a:xfrm>
        </p:grpSpPr>
        <p:sp>
          <p:nvSpPr>
            <p:cNvPr id="15" name="文本框 161806"/>
            <p:cNvSpPr txBox="1">
              <a:spLocks noChangeArrowheads="1"/>
            </p:cNvSpPr>
            <p:nvPr/>
          </p:nvSpPr>
          <p:spPr bwMode="auto">
            <a:xfrm>
              <a:off x="295" y="3113"/>
              <a:ext cx="2314" cy="5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取    与实轴重合，相量如图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所示。</a:t>
              </a:r>
            </a:p>
          </p:txBody>
        </p:sp>
        <p:graphicFrame>
          <p:nvGraphicFramePr>
            <p:cNvPr id="16" name="对象 161829"/>
            <p:cNvGraphicFramePr>
              <a:graphicFrameLocks/>
            </p:cNvGraphicFramePr>
            <p:nvPr/>
          </p:nvGraphicFramePr>
          <p:xfrm>
            <a:off x="1034" y="3022"/>
            <a:ext cx="256" cy="363"/>
          </p:xfrm>
          <a:graphic>
            <a:graphicData uri="http://schemas.openxmlformats.org/presentationml/2006/ole">
              <p:oleObj spid="_x0000_s25609" r:id="rId7" imgW="5791200" imgH="8229600" progId="Equation.3">
                <p:embed/>
              </p:oleObj>
            </a:graphicData>
          </a:graphic>
        </p:graphicFrame>
      </p:grpSp>
      <p:grpSp>
        <p:nvGrpSpPr>
          <p:cNvPr id="17" name="组合 161838"/>
          <p:cNvGrpSpPr/>
          <p:nvPr/>
        </p:nvGrpSpPr>
        <p:grpSpPr bwMode="auto">
          <a:xfrm>
            <a:off x="4643438" y="4581525"/>
            <a:ext cx="3384550" cy="1584325"/>
            <a:chOff x="2925" y="2886"/>
            <a:chExt cx="2132" cy="998"/>
          </a:xfrm>
        </p:grpSpPr>
        <p:sp>
          <p:nvSpPr>
            <p:cNvPr id="18" name="文本框 161808"/>
            <p:cNvSpPr txBox="1">
              <a:spLocks noChangeArrowheads="1"/>
            </p:cNvSpPr>
            <p:nvPr/>
          </p:nvSpPr>
          <p:spPr bwMode="auto">
            <a:xfrm>
              <a:off x="3243" y="3113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zh-CN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</a:p>
          </p:txBody>
        </p:sp>
        <p:graphicFrame>
          <p:nvGraphicFramePr>
            <p:cNvPr id="19" name="对象 161809"/>
            <p:cNvGraphicFramePr>
              <a:graphicFrameLocks/>
            </p:cNvGraphicFramePr>
            <p:nvPr/>
          </p:nvGraphicFramePr>
          <p:xfrm>
            <a:off x="4740" y="2886"/>
            <a:ext cx="193" cy="261"/>
          </p:xfrm>
          <a:graphic>
            <a:graphicData uri="http://schemas.openxmlformats.org/presentationml/2006/ole">
              <p:oleObj spid="_x0000_s25608" r:id="rId8" imgW="6096000" imgH="8229600" progId="Equation.3">
                <p:embed/>
              </p:oleObj>
            </a:graphicData>
          </a:graphic>
        </p:graphicFrame>
        <p:graphicFrame>
          <p:nvGraphicFramePr>
            <p:cNvPr id="20" name="对象 161810"/>
            <p:cNvGraphicFramePr>
              <a:graphicFrameLocks/>
            </p:cNvGraphicFramePr>
            <p:nvPr/>
          </p:nvGraphicFramePr>
          <p:xfrm>
            <a:off x="3878" y="3476"/>
            <a:ext cx="212" cy="272"/>
          </p:xfrm>
          <a:graphic>
            <a:graphicData uri="http://schemas.openxmlformats.org/presentationml/2006/ole">
              <p:oleObj spid="_x0000_s25607" r:id="rId9" imgW="6400800" imgH="8229600" progId="Equation.3">
                <p:embed/>
              </p:oleObj>
            </a:graphicData>
          </a:graphic>
        </p:graphicFrame>
        <p:graphicFrame>
          <p:nvGraphicFramePr>
            <p:cNvPr id="21" name="对象 161811"/>
            <p:cNvGraphicFramePr>
              <a:graphicFrameLocks/>
            </p:cNvGraphicFramePr>
            <p:nvPr/>
          </p:nvGraphicFramePr>
          <p:xfrm>
            <a:off x="4331" y="3113"/>
            <a:ext cx="312" cy="312"/>
          </p:xfrm>
          <a:graphic>
            <a:graphicData uri="http://schemas.openxmlformats.org/presentationml/2006/ole">
              <p:oleObj spid="_x0000_s25606" r:id="rId10" imgW="6705600" imgH="6705600" progId="Equation.3">
                <p:embed/>
              </p:oleObj>
            </a:graphicData>
          </a:graphic>
        </p:graphicFrame>
        <p:graphicFrame>
          <p:nvGraphicFramePr>
            <p:cNvPr id="22" name="对象 161812"/>
            <p:cNvGraphicFramePr>
              <a:graphicFrameLocks/>
            </p:cNvGraphicFramePr>
            <p:nvPr/>
          </p:nvGraphicFramePr>
          <p:xfrm>
            <a:off x="4377" y="3612"/>
            <a:ext cx="272" cy="272"/>
          </p:xfrm>
          <a:graphic>
            <a:graphicData uri="http://schemas.openxmlformats.org/presentationml/2006/ole">
              <p:oleObj spid="_x0000_s25605" r:id="rId11" imgW="6705600" imgH="6705600" progId="Equation.3">
                <p:embed/>
              </p:oleObj>
            </a:graphicData>
          </a:graphic>
        </p:graphicFrame>
        <p:graphicFrame>
          <p:nvGraphicFramePr>
            <p:cNvPr id="23" name="对象 161813"/>
            <p:cNvGraphicFramePr>
              <a:graphicFrameLocks/>
            </p:cNvGraphicFramePr>
            <p:nvPr/>
          </p:nvGraphicFramePr>
          <p:xfrm>
            <a:off x="4785" y="3295"/>
            <a:ext cx="272" cy="272"/>
          </p:xfrm>
          <a:graphic>
            <a:graphicData uri="http://schemas.openxmlformats.org/presentationml/2006/ole">
              <p:oleObj spid="_x0000_s25604" r:id="rId12" imgW="6705600" imgH="6705600" progId="Equation.3">
                <p:embed/>
              </p:oleObj>
            </a:graphicData>
          </a:graphic>
        </p:graphicFrame>
        <p:sp>
          <p:nvSpPr>
            <p:cNvPr id="24" name="直接连接符 161814"/>
            <p:cNvSpPr>
              <a:spLocks noChangeShapeType="1"/>
            </p:cNvSpPr>
            <p:nvPr/>
          </p:nvSpPr>
          <p:spPr bwMode="auto">
            <a:xfrm>
              <a:off x="2925" y="3159"/>
              <a:ext cx="19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161815"/>
            <p:cNvSpPr>
              <a:spLocks noChangeShapeType="1"/>
            </p:cNvSpPr>
            <p:nvPr/>
          </p:nvSpPr>
          <p:spPr bwMode="auto">
            <a:xfrm flipH="1">
              <a:off x="4195" y="315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161816"/>
            <p:cNvSpPr>
              <a:spLocks noChangeShapeType="1"/>
            </p:cNvSpPr>
            <p:nvPr/>
          </p:nvSpPr>
          <p:spPr bwMode="auto">
            <a:xfrm>
              <a:off x="4195" y="3159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161817"/>
            <p:cNvSpPr>
              <a:spLocks noChangeShapeType="1"/>
            </p:cNvSpPr>
            <p:nvPr/>
          </p:nvSpPr>
          <p:spPr bwMode="auto">
            <a:xfrm>
              <a:off x="2925" y="3159"/>
              <a:ext cx="127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161818"/>
            <p:cNvSpPr>
              <a:spLocks noChangeShapeType="1"/>
            </p:cNvSpPr>
            <p:nvPr/>
          </p:nvSpPr>
          <p:spPr bwMode="auto">
            <a:xfrm flipH="1">
              <a:off x="4195" y="3159"/>
              <a:ext cx="68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" name="直接连接符 161819"/>
            <p:cNvSpPr>
              <a:spLocks noChangeShapeType="1"/>
            </p:cNvSpPr>
            <p:nvPr/>
          </p:nvSpPr>
          <p:spPr bwMode="auto">
            <a:xfrm>
              <a:off x="4150" y="3567"/>
              <a:ext cx="59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0" name="直接连接符 161820"/>
            <p:cNvSpPr>
              <a:spLocks noChangeShapeType="1"/>
            </p:cNvSpPr>
            <p:nvPr/>
          </p:nvSpPr>
          <p:spPr bwMode="auto">
            <a:xfrm flipV="1">
              <a:off x="4740" y="3159"/>
              <a:ext cx="136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1" name="任意多边形 161821"/>
            <p:cNvSpPr>
              <a:spLocks noChangeArrowheads="1"/>
            </p:cNvSpPr>
            <p:nvPr/>
          </p:nvSpPr>
          <p:spPr bwMode="auto">
            <a:xfrm>
              <a:off x="3288" y="3159"/>
              <a:ext cx="46" cy="1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600" y="21600"/>
                </a:cxn>
                <a:cxn ang="0">
                  <a:pos x="0" y="0"/>
                </a:cxn>
                <a:cxn ang="0">
                  <a:pos x="21600" y="21600"/>
                </a:cxn>
                <a:cxn ang="0">
                  <a:pos x="0" y="21600"/>
                </a:cxn>
              </a:cxnLst>
              <a:rect l="0" t="0" r="r" b="b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32" name="对象 161822"/>
            <p:cNvGraphicFramePr>
              <a:graphicFrameLocks/>
            </p:cNvGraphicFramePr>
            <p:nvPr/>
          </p:nvGraphicFramePr>
          <p:xfrm>
            <a:off x="4059" y="2895"/>
            <a:ext cx="334" cy="269"/>
          </p:xfrm>
          <a:graphic>
            <a:graphicData uri="http://schemas.openxmlformats.org/presentationml/2006/ole">
              <p:oleObj spid="_x0000_s25603" r:id="rId13" imgW="10972800" imgH="8839200" progId="Equation.3">
                <p:embed/>
              </p:oleObj>
            </a:graphicData>
          </a:graphic>
        </p:graphicFrame>
        <p:graphicFrame>
          <p:nvGraphicFramePr>
            <p:cNvPr id="33" name="对象 161823"/>
            <p:cNvGraphicFramePr>
              <a:graphicFrameLocks/>
            </p:cNvGraphicFramePr>
            <p:nvPr/>
          </p:nvGraphicFramePr>
          <p:xfrm>
            <a:off x="3833" y="3159"/>
            <a:ext cx="336" cy="277"/>
          </p:xfrm>
          <a:graphic>
            <a:graphicData uri="http://schemas.openxmlformats.org/presentationml/2006/ole">
              <p:oleObj spid="_x0000_s25602" r:id="rId14" imgW="12801600" imgH="8839200" progId="Equation.3">
                <p:embed/>
              </p:oleObj>
            </a:graphicData>
          </a:graphic>
        </p:graphicFrame>
      </p:grpSp>
      <p:grpSp>
        <p:nvGrpSpPr>
          <p:cNvPr id="34" name="组合 161839"/>
          <p:cNvGrpSpPr/>
          <p:nvPr/>
        </p:nvGrpSpPr>
        <p:grpSpPr bwMode="auto">
          <a:xfrm>
            <a:off x="4211638" y="6121400"/>
            <a:ext cx="4681537" cy="455613"/>
            <a:chOff x="2653" y="3856"/>
            <a:chExt cx="2949" cy="287"/>
          </a:xfrm>
        </p:grpSpPr>
        <p:sp>
          <p:nvSpPr>
            <p:cNvPr id="35" name="文本框 161824"/>
            <p:cNvSpPr txBox="1">
              <a:spLocks noChangeArrowheads="1"/>
            </p:cNvSpPr>
            <p:nvPr/>
          </p:nvSpPr>
          <p:spPr bwMode="auto">
            <a:xfrm>
              <a:off x="2653" y="3884"/>
              <a:ext cx="294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图</a:t>
              </a:r>
              <a:r>
                <a:rPr lang="en-US" altLang="zh-CN" sz="20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 </a:t>
              </a:r>
              <a:r>
                <a:rPr lang="zh-CN" altLang="en-US" sz="20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电力线路电压相量图（       ）</a:t>
              </a:r>
            </a:p>
          </p:txBody>
        </p:sp>
        <p:graphicFrame>
          <p:nvGraphicFramePr>
            <p:cNvPr id="36" name="对象 161831"/>
            <p:cNvGraphicFramePr>
              <a:graphicFrameLocks/>
            </p:cNvGraphicFramePr>
            <p:nvPr/>
          </p:nvGraphicFramePr>
          <p:xfrm>
            <a:off x="4830" y="3856"/>
            <a:ext cx="499" cy="287"/>
          </p:xfrm>
          <a:graphic>
            <a:graphicData uri="http://schemas.openxmlformats.org/presentationml/2006/ole">
              <p:oleObj spid="_x0000_s25601" r:id="rId15" imgW="14325600" imgH="82296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62819"/>
          <p:cNvSpPr txBox="1">
            <a:spLocks noChangeArrowheads="1"/>
          </p:cNvSpPr>
          <p:nvPr/>
        </p:nvSpPr>
        <p:spPr bwMode="auto">
          <a:xfrm>
            <a:off x="395288" y="991074"/>
            <a:ext cx="8497887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上述电压的计算公式是以相电压形式导出的，该式也完全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适用于线电压。此时公式中的功率  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为三相功率，阻抗仍为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相阻抗。还应注意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与电压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一点的值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" name="文本框 162820"/>
          <p:cNvSpPr txBox="1">
            <a:spLocks noChangeArrowheads="1"/>
          </p:cNvSpPr>
          <p:nvPr/>
        </p:nvSpPr>
        <p:spPr bwMode="auto">
          <a:xfrm>
            <a:off x="423863" y="3180236"/>
            <a:ext cx="8497887" cy="2677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对于电力线路的功率损耗和电压降落的计算，可用标么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制，也可以用有名制。用有名制计算时，每相阻抗、导纳的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单位分别为</a:t>
            </a:r>
            <a:r>
              <a:rPr lang="el-GR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Ω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；功率和电压的单位为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MVA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MW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Mvar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kV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功率角为（</a:t>
            </a:r>
            <a:r>
              <a:rPr lang="en-US" altLang="zh-CN" sz="24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）。而以标么制计算时，</a:t>
            </a:r>
            <a:r>
              <a:rPr lang="el-GR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δ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rad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，所以用</a:t>
            </a:r>
          </a:p>
          <a:p>
            <a:pPr>
              <a:spcBef>
                <a:spcPct val="50000"/>
              </a:spcBef>
            </a:pPr>
            <a:r>
              <a:rPr lang="en-US" altLang="zh-CN" sz="24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rad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表示的功率角已是标么值。</a:t>
            </a:r>
            <a:endParaRPr lang="zh-CN" altLang="el-GR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63853"/>
          <p:cNvGrpSpPr/>
          <p:nvPr/>
        </p:nvGrpSpPr>
        <p:grpSpPr bwMode="auto">
          <a:xfrm>
            <a:off x="250825" y="1216036"/>
            <a:ext cx="8497888" cy="2211388"/>
            <a:chOff x="158" y="246"/>
            <a:chExt cx="5353" cy="1393"/>
          </a:xfrm>
        </p:grpSpPr>
        <p:sp>
          <p:nvSpPr>
            <p:cNvPr id="5" name="文本框 163843"/>
            <p:cNvSpPr txBox="1">
              <a:spLocks noChangeArrowheads="1"/>
            </p:cNvSpPr>
            <p:nvPr/>
          </p:nvSpPr>
          <p:spPr bwMode="auto">
            <a:xfrm>
              <a:off x="158" y="300"/>
              <a:ext cx="5353" cy="1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还应指出，所有这些计算式都是在            ，即线路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末端负荷，以滞后功率因数运行的假设下导得。如负荷以超前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功率因数运行，则有关公式中的无功功率应变号。例如，设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，则由                              ，将得</a:t>
              </a:r>
            </a:p>
          </p:txBody>
        </p:sp>
        <p:graphicFrame>
          <p:nvGraphicFramePr>
            <p:cNvPr id="6" name="对象 163844"/>
            <p:cNvGraphicFramePr>
              <a:graphicFrameLocks/>
            </p:cNvGraphicFramePr>
            <p:nvPr/>
          </p:nvGraphicFramePr>
          <p:xfrm>
            <a:off x="3606" y="246"/>
            <a:ext cx="998" cy="366"/>
          </p:xfrm>
          <a:graphic>
            <a:graphicData uri="http://schemas.openxmlformats.org/presentationml/2006/ole">
              <p:oleObj spid="_x0000_s26629" r:id="rId4" imgW="24079200" imgH="8839200" progId="Equation.3">
                <p:embed/>
              </p:oleObj>
            </a:graphicData>
          </a:graphic>
        </p:graphicFrame>
        <p:graphicFrame>
          <p:nvGraphicFramePr>
            <p:cNvPr id="7" name="对象 163845"/>
            <p:cNvGraphicFramePr>
              <a:graphicFrameLocks/>
            </p:cNvGraphicFramePr>
            <p:nvPr/>
          </p:nvGraphicFramePr>
          <p:xfrm>
            <a:off x="249" y="1298"/>
            <a:ext cx="907" cy="332"/>
          </p:xfrm>
          <a:graphic>
            <a:graphicData uri="http://schemas.openxmlformats.org/presentationml/2006/ole">
              <p:oleObj spid="_x0000_s26628" r:id="rId5" imgW="24079200" imgH="8839200" progId="Equation.3">
                <p:embed/>
              </p:oleObj>
            </a:graphicData>
          </a:graphic>
        </p:graphicFrame>
        <p:graphicFrame>
          <p:nvGraphicFramePr>
            <p:cNvPr id="8" name="对象 163846"/>
            <p:cNvGraphicFramePr>
              <a:graphicFrameLocks/>
            </p:cNvGraphicFramePr>
            <p:nvPr/>
          </p:nvGraphicFramePr>
          <p:xfrm>
            <a:off x="1882" y="1262"/>
            <a:ext cx="2676" cy="377"/>
          </p:xfrm>
          <a:graphic>
            <a:graphicData uri="http://schemas.openxmlformats.org/presentationml/2006/ole">
              <p:oleObj spid="_x0000_s26627" r:id="rId6" imgW="69189600" imgH="9753600" progId="Equation.3">
                <p:embed/>
              </p:oleObj>
            </a:graphicData>
          </a:graphic>
        </p:graphicFrame>
      </p:grpSp>
      <p:grpSp>
        <p:nvGrpSpPr>
          <p:cNvPr id="9" name="组合 163852"/>
          <p:cNvGrpSpPr/>
          <p:nvPr/>
        </p:nvGrpSpPr>
        <p:grpSpPr bwMode="auto">
          <a:xfrm>
            <a:off x="1692275" y="3533786"/>
            <a:ext cx="5472113" cy="1112838"/>
            <a:chOff x="1066" y="1706"/>
            <a:chExt cx="3447" cy="701"/>
          </a:xfrm>
        </p:grpSpPr>
        <p:graphicFrame>
          <p:nvGraphicFramePr>
            <p:cNvPr id="10" name="对象 163847"/>
            <p:cNvGraphicFramePr>
              <a:graphicFrameLocks/>
            </p:cNvGraphicFramePr>
            <p:nvPr/>
          </p:nvGraphicFramePr>
          <p:xfrm>
            <a:off x="1066" y="1706"/>
            <a:ext cx="1497" cy="642"/>
          </p:xfrm>
          <a:graphic>
            <a:graphicData uri="http://schemas.openxmlformats.org/presentationml/2006/ole">
              <p:oleObj spid="_x0000_s26626" r:id="rId7" imgW="29870400" imgH="12801600" progId="Equation.3">
                <p:embed/>
              </p:oleObj>
            </a:graphicData>
          </a:graphic>
        </p:graphicFrame>
        <p:graphicFrame>
          <p:nvGraphicFramePr>
            <p:cNvPr id="11" name="对象 163848"/>
            <p:cNvGraphicFramePr>
              <a:graphicFrameLocks/>
            </p:cNvGraphicFramePr>
            <p:nvPr/>
          </p:nvGraphicFramePr>
          <p:xfrm>
            <a:off x="3016" y="1752"/>
            <a:ext cx="1497" cy="655"/>
          </p:xfrm>
          <a:graphic>
            <a:graphicData uri="http://schemas.openxmlformats.org/presentationml/2006/ole">
              <p:oleObj spid="_x0000_s26625" r:id="rId8" imgW="29260800" imgH="12801600" progId="Equation.3">
                <p:embed/>
              </p:oleObj>
            </a:graphicData>
          </a:graphic>
        </p:graphicFrame>
      </p:grpSp>
      <p:sp>
        <p:nvSpPr>
          <p:cNvPr id="12" name="文本框 163851"/>
          <p:cNvSpPr txBox="1">
            <a:spLocks noChangeArrowheads="1"/>
          </p:cNvSpPr>
          <p:nvPr/>
        </p:nvSpPr>
        <p:spPr bwMode="auto">
          <a:xfrm>
            <a:off x="468313" y="4614874"/>
            <a:ext cx="8280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Δ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可能具有负值，则</a:t>
            </a:r>
            <a:r>
              <a:rPr lang="zh-CN" altLang="en-US" sz="2400" u="sng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线路末端电压可能高于始端电压。</a:t>
            </a:r>
            <a:endParaRPr lang="zh-CN" altLang="el-GR" sz="2400" u="sng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64867"/>
          <p:cNvSpPr txBox="1">
            <a:spLocks noChangeArrowheads="1"/>
          </p:cNvSpPr>
          <p:nvPr/>
        </p:nvSpPr>
        <p:spPr bwMode="auto">
          <a:xfrm>
            <a:off x="71406" y="639788"/>
            <a:ext cx="87852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求得线路两端电压后，就可以计算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某些表示电压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质量的指标</a:t>
            </a:r>
          </a:p>
        </p:txBody>
      </p:sp>
      <p:grpSp>
        <p:nvGrpSpPr>
          <p:cNvPr id="5" name="组合 164891"/>
          <p:cNvGrpSpPr/>
          <p:nvPr/>
        </p:nvGrpSpPr>
        <p:grpSpPr bwMode="auto">
          <a:xfrm>
            <a:off x="71406" y="1030313"/>
            <a:ext cx="8964612" cy="1128713"/>
            <a:chOff x="113" y="501"/>
            <a:chExt cx="5647" cy="711"/>
          </a:xfrm>
        </p:grpSpPr>
        <p:sp>
          <p:nvSpPr>
            <p:cNvPr id="6" name="文本框 164868"/>
            <p:cNvSpPr txBox="1">
              <a:spLocks noChangeArrowheads="1"/>
            </p:cNvSpPr>
            <p:nvPr/>
          </p:nvSpPr>
          <p:spPr bwMode="auto">
            <a:xfrm>
              <a:off x="113" y="572"/>
              <a:ext cx="5647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电压降落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              ，始末两端电压的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向量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差，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仍为相量。其中    和    分别为电压降落的纵分量和横分量。</a:t>
              </a:r>
            </a:p>
          </p:txBody>
        </p:sp>
        <p:graphicFrame>
          <p:nvGraphicFramePr>
            <p:cNvPr id="7" name="对象 164870"/>
            <p:cNvGraphicFramePr>
              <a:graphicFrameLocks/>
            </p:cNvGraphicFramePr>
            <p:nvPr/>
          </p:nvGraphicFramePr>
          <p:xfrm>
            <a:off x="1927" y="501"/>
            <a:ext cx="1452" cy="367"/>
          </p:xfrm>
          <a:graphic>
            <a:graphicData uri="http://schemas.openxmlformats.org/presentationml/2006/ole">
              <p:oleObj spid="_x0000_s28681" r:id="rId4" imgW="32613600" imgH="8229600" progId="Equation.3">
                <p:embed/>
              </p:oleObj>
            </a:graphicData>
          </a:graphic>
        </p:graphicFrame>
        <p:graphicFrame>
          <p:nvGraphicFramePr>
            <p:cNvPr id="8" name="对象 164871"/>
            <p:cNvGraphicFramePr>
              <a:graphicFrameLocks/>
            </p:cNvGraphicFramePr>
            <p:nvPr/>
          </p:nvGraphicFramePr>
          <p:xfrm>
            <a:off x="1519" y="962"/>
            <a:ext cx="363" cy="242"/>
          </p:xfrm>
          <a:graphic>
            <a:graphicData uri="http://schemas.openxmlformats.org/presentationml/2006/ole">
              <p:oleObj spid="_x0000_s28680" r:id="rId5" imgW="6400800" imgH="4267200" progId="Equation.3">
                <p:embed/>
              </p:oleObj>
            </a:graphicData>
          </a:graphic>
        </p:graphicFrame>
        <p:graphicFrame>
          <p:nvGraphicFramePr>
            <p:cNvPr id="9" name="对象 164872"/>
            <p:cNvGraphicFramePr>
              <a:graphicFrameLocks/>
            </p:cNvGraphicFramePr>
            <p:nvPr/>
          </p:nvGraphicFramePr>
          <p:xfrm>
            <a:off x="2155" y="935"/>
            <a:ext cx="362" cy="267"/>
          </p:xfrm>
          <a:graphic>
            <a:graphicData uri="http://schemas.openxmlformats.org/presentationml/2006/ole">
              <p:oleObj spid="_x0000_s28679" r:id="rId6" imgW="5791200" imgH="4267200" progId="Equation.3">
                <p:embed/>
              </p:oleObj>
            </a:graphicData>
          </a:graphic>
        </p:graphicFrame>
      </p:grpSp>
      <p:grpSp>
        <p:nvGrpSpPr>
          <p:cNvPr id="10" name="组合 164890"/>
          <p:cNvGrpSpPr/>
          <p:nvPr/>
        </p:nvGrpSpPr>
        <p:grpSpPr bwMode="auto">
          <a:xfrm>
            <a:off x="71406" y="2270150"/>
            <a:ext cx="8785225" cy="1066800"/>
            <a:chOff x="113" y="1282"/>
            <a:chExt cx="5534" cy="672"/>
          </a:xfrm>
        </p:grpSpPr>
        <p:sp>
          <p:nvSpPr>
            <p:cNvPr id="11" name="文本框 164874"/>
            <p:cNvSpPr txBox="1">
              <a:spLocks noChangeArrowheads="1"/>
            </p:cNvSpPr>
            <p:nvPr/>
          </p:nvSpPr>
          <p:spPr bwMode="auto">
            <a:xfrm>
              <a:off x="113" y="1282"/>
              <a:ext cx="5534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电压损耗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       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，始末两端电压的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差。近似认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             ，电压损耗常以百分数表示，即</a:t>
              </a:r>
            </a:p>
          </p:txBody>
        </p:sp>
        <p:graphicFrame>
          <p:nvGraphicFramePr>
            <p:cNvPr id="12" name="对象 164875"/>
            <p:cNvGraphicFramePr>
              <a:graphicFrameLocks/>
            </p:cNvGraphicFramePr>
            <p:nvPr/>
          </p:nvGraphicFramePr>
          <p:xfrm>
            <a:off x="1973" y="1290"/>
            <a:ext cx="680" cy="289"/>
          </p:xfrm>
          <a:graphic>
            <a:graphicData uri="http://schemas.openxmlformats.org/presentationml/2006/ole">
              <p:oleObj spid="_x0000_s28678" r:id="rId7" imgW="14325600" imgH="6096000" progId="Equation.3">
                <p:embed/>
              </p:oleObj>
            </a:graphicData>
          </a:graphic>
        </p:graphicFrame>
        <p:graphicFrame>
          <p:nvGraphicFramePr>
            <p:cNvPr id="13" name="对象 164876"/>
            <p:cNvGraphicFramePr>
              <a:graphicFrameLocks/>
            </p:cNvGraphicFramePr>
            <p:nvPr/>
          </p:nvGraphicFramePr>
          <p:xfrm>
            <a:off x="413" y="1643"/>
            <a:ext cx="1179" cy="311"/>
          </p:xfrm>
          <a:graphic>
            <a:graphicData uri="http://schemas.openxmlformats.org/presentationml/2006/ole">
              <p:oleObj spid="_x0000_s28677" r:id="rId8" imgW="23164800" imgH="6096000" progId="Equation.3">
                <p:embed/>
              </p:oleObj>
            </a:graphicData>
          </a:graphic>
        </p:graphicFrame>
      </p:grpSp>
      <p:grpSp>
        <p:nvGrpSpPr>
          <p:cNvPr id="14" name="组合 164892"/>
          <p:cNvGrpSpPr/>
          <p:nvPr/>
        </p:nvGrpSpPr>
        <p:grpSpPr bwMode="auto">
          <a:xfrm>
            <a:off x="2303431" y="3448075"/>
            <a:ext cx="5905500" cy="796925"/>
            <a:chOff x="1519" y="2024"/>
            <a:chExt cx="3720" cy="502"/>
          </a:xfrm>
        </p:grpSpPr>
        <p:graphicFrame>
          <p:nvGraphicFramePr>
            <p:cNvPr id="15" name="对象 164878"/>
            <p:cNvGraphicFramePr>
              <a:graphicFrameLocks/>
            </p:cNvGraphicFramePr>
            <p:nvPr/>
          </p:nvGraphicFramePr>
          <p:xfrm>
            <a:off x="1519" y="2024"/>
            <a:ext cx="1588" cy="502"/>
          </p:xfrm>
          <a:graphic>
            <a:graphicData uri="http://schemas.openxmlformats.org/presentationml/2006/ole">
              <p:oleObj spid="_x0000_s28676" r:id="rId9" imgW="34747200" imgH="10972800" progId="Equation.3">
                <p:embed/>
              </p:oleObj>
            </a:graphicData>
          </a:graphic>
        </p:graphicFrame>
        <p:sp>
          <p:nvSpPr>
            <p:cNvPr id="16" name="文本框 164879"/>
            <p:cNvSpPr txBox="1">
              <a:spLocks noChangeArrowheads="1"/>
            </p:cNvSpPr>
            <p:nvPr/>
          </p:nvSpPr>
          <p:spPr bwMode="auto">
            <a:xfrm>
              <a:off x="4332" y="2069"/>
              <a:ext cx="90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3-15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7" name="椭圆形标注 164880"/>
          <p:cNvSpPr>
            <a:spLocks noChangeArrowheads="1"/>
          </p:cNvSpPr>
          <p:nvPr/>
        </p:nvSpPr>
        <p:spPr bwMode="auto">
          <a:xfrm>
            <a:off x="4895818" y="3519513"/>
            <a:ext cx="1944688" cy="792162"/>
          </a:xfrm>
          <a:prstGeom prst="wedgeEllipseCallout">
            <a:avLst>
              <a:gd name="adj1" fmla="val -96940"/>
              <a:gd name="adj2" fmla="val 35569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线路额定</a:t>
            </a: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</a:t>
            </a:r>
          </a:p>
        </p:txBody>
      </p:sp>
      <p:grpSp>
        <p:nvGrpSpPr>
          <p:cNvPr id="18" name="组合 164895"/>
          <p:cNvGrpSpPr/>
          <p:nvPr/>
        </p:nvGrpSpPr>
        <p:grpSpPr bwMode="auto">
          <a:xfrm>
            <a:off x="142843" y="4456139"/>
            <a:ext cx="8642350" cy="1570038"/>
            <a:chOff x="158" y="2659"/>
            <a:chExt cx="5444" cy="989"/>
          </a:xfrm>
        </p:grpSpPr>
        <p:sp>
          <p:nvSpPr>
            <p:cNvPr id="19" name="文本框 164881"/>
            <p:cNvSpPr txBox="1">
              <a:spLocks noChangeArrowheads="1"/>
            </p:cNvSpPr>
            <p:nvPr/>
          </p:nvSpPr>
          <p:spPr bwMode="auto">
            <a:xfrm>
              <a:off x="158" y="2659"/>
              <a:ext cx="5444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电压偏移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                           ，始端电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压或末端电压与线路额定电压的比值。电压偏移也常用百分数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表示，即</a:t>
              </a:r>
            </a:p>
          </p:txBody>
        </p:sp>
        <p:graphicFrame>
          <p:nvGraphicFramePr>
            <p:cNvPr id="20" name="对象 164882"/>
            <p:cNvGraphicFramePr>
              <a:graphicFrameLocks/>
            </p:cNvGraphicFramePr>
            <p:nvPr/>
          </p:nvGraphicFramePr>
          <p:xfrm>
            <a:off x="1973" y="2704"/>
            <a:ext cx="2631" cy="264"/>
          </p:xfrm>
          <a:graphic>
            <a:graphicData uri="http://schemas.openxmlformats.org/presentationml/2006/ole">
              <p:oleObj spid="_x0000_s28675" r:id="rId10" imgW="60960000" imgH="6096000" progId="Equation.3">
                <p:embed/>
              </p:oleObj>
            </a:graphicData>
          </a:graphic>
        </p:graphicFrame>
      </p:grpSp>
      <p:grpSp>
        <p:nvGrpSpPr>
          <p:cNvPr id="21" name="组合 164893"/>
          <p:cNvGrpSpPr/>
          <p:nvPr/>
        </p:nvGrpSpPr>
        <p:grpSpPr bwMode="auto">
          <a:xfrm>
            <a:off x="1584293" y="5751538"/>
            <a:ext cx="2881313" cy="1249362"/>
            <a:chOff x="1066" y="3475"/>
            <a:chExt cx="1815" cy="787"/>
          </a:xfrm>
        </p:grpSpPr>
        <p:graphicFrame>
          <p:nvGraphicFramePr>
            <p:cNvPr id="22" name="对象 164883"/>
            <p:cNvGraphicFramePr>
              <a:graphicFrameLocks/>
            </p:cNvGraphicFramePr>
            <p:nvPr/>
          </p:nvGraphicFramePr>
          <p:xfrm>
            <a:off x="1066" y="3475"/>
            <a:ext cx="1815" cy="491"/>
          </p:xfrm>
          <a:graphic>
            <a:graphicData uri="http://schemas.openxmlformats.org/presentationml/2006/ole">
              <p:oleObj spid="_x0000_s28674" r:id="rId11" imgW="40538400" imgH="10972800" progId="Equation.3">
                <p:embed/>
              </p:oleObj>
            </a:graphicData>
          </a:graphic>
        </p:graphicFrame>
        <p:sp>
          <p:nvSpPr>
            <p:cNvPr id="23" name="文本框 164885"/>
            <p:cNvSpPr txBox="1">
              <a:spLocks noChangeArrowheads="1"/>
            </p:cNvSpPr>
            <p:nvPr/>
          </p:nvSpPr>
          <p:spPr bwMode="auto">
            <a:xfrm>
              <a:off x="1202" y="3974"/>
              <a:ext cx="149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4" name="组合 164894"/>
          <p:cNvGrpSpPr/>
          <p:nvPr/>
        </p:nvGrpSpPr>
        <p:grpSpPr bwMode="auto">
          <a:xfrm>
            <a:off x="5256181" y="5680100"/>
            <a:ext cx="3168650" cy="1249363"/>
            <a:chOff x="3379" y="3430"/>
            <a:chExt cx="1996" cy="787"/>
          </a:xfrm>
        </p:grpSpPr>
        <p:graphicFrame>
          <p:nvGraphicFramePr>
            <p:cNvPr id="25" name="对象 164884"/>
            <p:cNvGraphicFramePr>
              <a:graphicFrameLocks/>
            </p:cNvGraphicFramePr>
            <p:nvPr/>
          </p:nvGraphicFramePr>
          <p:xfrm>
            <a:off x="3379" y="3430"/>
            <a:ext cx="1996" cy="533"/>
          </p:xfrm>
          <a:graphic>
            <a:graphicData uri="http://schemas.openxmlformats.org/presentationml/2006/ole">
              <p:oleObj spid="_x0000_s28673" r:id="rId12" imgW="41148000" imgH="10972800" progId="Equation.3">
                <p:embed/>
              </p:oleObj>
            </a:graphicData>
          </a:graphic>
        </p:graphicFrame>
        <p:sp>
          <p:nvSpPr>
            <p:cNvPr id="26" name="文本框 164886"/>
            <p:cNvSpPr txBox="1">
              <a:spLocks noChangeArrowheads="1"/>
            </p:cNvSpPr>
            <p:nvPr/>
          </p:nvSpPr>
          <p:spPr bwMode="auto">
            <a:xfrm>
              <a:off x="3878" y="3929"/>
              <a:ext cx="149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65908"/>
          <p:cNvGrpSpPr/>
          <p:nvPr/>
        </p:nvGrpSpPr>
        <p:grpSpPr bwMode="auto">
          <a:xfrm>
            <a:off x="395288" y="939818"/>
            <a:ext cx="8569325" cy="1570038"/>
            <a:chOff x="249" y="284"/>
            <a:chExt cx="5398" cy="989"/>
          </a:xfrm>
        </p:grpSpPr>
        <p:sp>
          <p:nvSpPr>
            <p:cNvPr id="5" name="文本框 165891"/>
            <p:cNvSpPr txBox="1">
              <a:spLocks noChangeArrowheads="1"/>
            </p:cNvSpPr>
            <p:nvPr/>
          </p:nvSpPr>
          <p:spPr bwMode="auto">
            <a:xfrm>
              <a:off x="249" y="284"/>
              <a:ext cx="5398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电压调整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        ，线路末端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空载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负载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时电压的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数值差。不计线路对地导纳时，        ，则此时电压调整就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等于电压损耗，即                  。其百分数为</a:t>
              </a:r>
            </a:p>
          </p:txBody>
        </p:sp>
        <p:graphicFrame>
          <p:nvGraphicFramePr>
            <p:cNvPr id="6" name="对象 165892"/>
            <p:cNvGraphicFramePr>
              <a:graphicFrameLocks/>
            </p:cNvGraphicFramePr>
            <p:nvPr/>
          </p:nvGraphicFramePr>
          <p:xfrm>
            <a:off x="2064" y="316"/>
            <a:ext cx="725" cy="284"/>
          </p:xfrm>
          <a:graphic>
            <a:graphicData uri="http://schemas.openxmlformats.org/presentationml/2006/ole">
              <p:oleObj spid="_x0000_s29702" r:id="rId4" imgW="15544800" imgH="6096000" progId="Equation.3">
                <p:embed/>
              </p:oleObj>
            </a:graphicData>
          </a:graphic>
        </p:graphicFrame>
        <p:graphicFrame>
          <p:nvGraphicFramePr>
            <p:cNvPr id="7" name="对象 165893"/>
            <p:cNvGraphicFramePr>
              <a:graphicFrameLocks/>
            </p:cNvGraphicFramePr>
            <p:nvPr/>
          </p:nvGraphicFramePr>
          <p:xfrm>
            <a:off x="2971" y="663"/>
            <a:ext cx="725" cy="279"/>
          </p:xfrm>
          <a:graphic>
            <a:graphicData uri="http://schemas.openxmlformats.org/presentationml/2006/ole">
              <p:oleObj spid="_x0000_s29701" r:id="rId5" imgW="15849600" imgH="6096000" progId="Equation.3">
                <p:embed/>
              </p:oleObj>
            </a:graphicData>
          </a:graphic>
        </p:graphicFrame>
        <p:graphicFrame>
          <p:nvGraphicFramePr>
            <p:cNvPr id="8" name="对象 165894"/>
            <p:cNvGraphicFramePr>
              <a:graphicFrameLocks/>
            </p:cNvGraphicFramePr>
            <p:nvPr/>
          </p:nvGraphicFramePr>
          <p:xfrm>
            <a:off x="1927" y="981"/>
            <a:ext cx="1542" cy="291"/>
          </p:xfrm>
          <a:graphic>
            <a:graphicData uri="http://schemas.openxmlformats.org/presentationml/2006/ole">
              <p:oleObj spid="_x0000_s29700" r:id="rId6" imgW="32308800" imgH="6096000" progId="Equation.3">
                <p:embed/>
              </p:oleObj>
            </a:graphicData>
          </a:graphic>
        </p:graphicFrame>
      </p:grpSp>
      <p:sp>
        <p:nvSpPr>
          <p:cNvPr id="9" name="椭圆形标注 165896"/>
          <p:cNvSpPr>
            <a:spLocks noChangeArrowheads="1"/>
          </p:cNvSpPr>
          <p:nvPr/>
        </p:nvSpPr>
        <p:spPr bwMode="auto">
          <a:xfrm flipV="1">
            <a:off x="179388" y="2622568"/>
            <a:ext cx="2233612" cy="790575"/>
          </a:xfrm>
          <a:prstGeom prst="wedgeEllipseCallout">
            <a:avLst>
              <a:gd name="adj1" fmla="val 83403"/>
              <a:gd name="adj2" fmla="val 7168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rot="10800000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线路末端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空载电压</a:t>
            </a:r>
          </a:p>
        </p:txBody>
      </p:sp>
      <p:grpSp>
        <p:nvGrpSpPr>
          <p:cNvPr id="10" name="组合 165907"/>
          <p:cNvGrpSpPr/>
          <p:nvPr/>
        </p:nvGrpSpPr>
        <p:grpSpPr bwMode="auto">
          <a:xfrm>
            <a:off x="2843213" y="2694006"/>
            <a:ext cx="5184775" cy="742950"/>
            <a:chOff x="1791" y="1389"/>
            <a:chExt cx="3266" cy="468"/>
          </a:xfrm>
        </p:grpSpPr>
        <p:graphicFrame>
          <p:nvGraphicFramePr>
            <p:cNvPr id="11" name="对象 165895"/>
            <p:cNvGraphicFramePr>
              <a:graphicFrameLocks/>
            </p:cNvGraphicFramePr>
            <p:nvPr/>
          </p:nvGraphicFramePr>
          <p:xfrm>
            <a:off x="1791" y="1389"/>
            <a:ext cx="1679" cy="468"/>
          </p:xfrm>
          <a:graphic>
            <a:graphicData uri="http://schemas.openxmlformats.org/presentationml/2006/ole">
              <p:oleObj spid="_x0000_s29699" r:id="rId7" imgW="39319200" imgH="10972800" progId="Equation.3">
                <p:embed/>
              </p:oleObj>
            </a:graphicData>
          </a:graphic>
        </p:graphicFrame>
        <p:sp>
          <p:nvSpPr>
            <p:cNvPr id="12" name="文本框 165897"/>
            <p:cNvSpPr txBox="1">
              <a:spLocks noChangeArrowheads="1"/>
            </p:cNvSpPr>
            <p:nvPr/>
          </p:nvSpPr>
          <p:spPr bwMode="auto">
            <a:xfrm>
              <a:off x="4150" y="1480"/>
              <a:ext cx="90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3-18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3" name="组合 165906"/>
          <p:cNvGrpSpPr/>
          <p:nvPr/>
        </p:nvGrpSpPr>
        <p:grpSpPr bwMode="auto">
          <a:xfrm>
            <a:off x="395288" y="3630632"/>
            <a:ext cx="8640762" cy="1277938"/>
            <a:chOff x="249" y="1979"/>
            <a:chExt cx="5443" cy="805"/>
          </a:xfrm>
        </p:grpSpPr>
        <p:sp>
          <p:nvSpPr>
            <p:cNvPr id="14" name="文本框 165898"/>
            <p:cNvSpPr txBox="1">
              <a:spLocks noChangeArrowheads="1"/>
            </p:cNvSpPr>
            <p:nvPr/>
          </p:nvSpPr>
          <p:spPr bwMode="auto">
            <a:xfrm>
              <a:off x="249" y="2144"/>
              <a:ext cx="5443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输电效率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       ，线路末端输出的有功功率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与始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端输出有功功率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之比，其百分数为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5" name="对象 165899"/>
            <p:cNvGraphicFramePr>
              <a:graphicFrameLocks/>
            </p:cNvGraphicFramePr>
            <p:nvPr/>
          </p:nvGraphicFramePr>
          <p:xfrm>
            <a:off x="1973" y="1979"/>
            <a:ext cx="635" cy="572"/>
          </p:xfrm>
          <a:graphic>
            <a:graphicData uri="http://schemas.openxmlformats.org/presentationml/2006/ole">
              <p:oleObj spid="_x0000_s29698" r:id="rId8" imgW="12192000" imgH="10972800" progId="Equation.3">
                <p:embed/>
              </p:oleObj>
            </a:graphicData>
          </a:graphic>
        </p:graphicFrame>
      </p:grpSp>
      <p:grpSp>
        <p:nvGrpSpPr>
          <p:cNvPr id="16" name="组合 165909"/>
          <p:cNvGrpSpPr/>
          <p:nvPr/>
        </p:nvGrpSpPr>
        <p:grpSpPr bwMode="auto">
          <a:xfrm>
            <a:off x="3132138" y="5070493"/>
            <a:ext cx="4967287" cy="1001713"/>
            <a:chOff x="1973" y="2886"/>
            <a:chExt cx="3129" cy="631"/>
          </a:xfrm>
        </p:grpSpPr>
        <p:graphicFrame>
          <p:nvGraphicFramePr>
            <p:cNvPr id="17" name="对象 165900"/>
            <p:cNvGraphicFramePr>
              <a:graphicFrameLocks/>
            </p:cNvGraphicFramePr>
            <p:nvPr/>
          </p:nvGraphicFramePr>
          <p:xfrm>
            <a:off x="1973" y="2886"/>
            <a:ext cx="1315" cy="631"/>
          </p:xfrm>
          <a:graphic>
            <a:graphicData uri="http://schemas.openxmlformats.org/presentationml/2006/ole">
              <p:oleObj spid="_x0000_s29697" r:id="rId9" imgW="22860000" imgH="10972800" progId="Equation.3">
                <p:embed/>
              </p:oleObj>
            </a:graphicData>
          </a:graphic>
        </p:graphicFrame>
        <p:sp>
          <p:nvSpPr>
            <p:cNvPr id="18" name="文本框 165901"/>
            <p:cNvSpPr txBox="1">
              <a:spLocks noChangeArrowheads="1"/>
            </p:cNvSpPr>
            <p:nvPr/>
          </p:nvSpPr>
          <p:spPr bwMode="auto">
            <a:xfrm>
              <a:off x="4195" y="3022"/>
              <a:ext cx="90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3-19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66916"/>
          <p:cNvSpPr txBox="1">
            <a:spLocks noChangeArrowheads="1"/>
          </p:cNvSpPr>
          <p:nvPr/>
        </p:nvSpPr>
        <p:spPr bwMode="auto">
          <a:xfrm>
            <a:off x="395288" y="1198891"/>
            <a:ext cx="856932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变压器的功率损耗和电压降落的计算与电力线路的不同之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处在于：</a:t>
            </a:r>
          </a:p>
        </p:txBody>
      </p:sp>
      <p:grpSp>
        <p:nvGrpSpPr>
          <p:cNvPr id="5" name="组合 166931"/>
          <p:cNvGrpSpPr/>
          <p:nvPr/>
        </p:nvGrpSpPr>
        <p:grpSpPr bwMode="auto">
          <a:xfrm>
            <a:off x="357158" y="2143116"/>
            <a:ext cx="8569325" cy="1016001"/>
            <a:chOff x="249" y="1346"/>
            <a:chExt cx="5398" cy="640"/>
          </a:xfrm>
        </p:grpSpPr>
        <p:sp>
          <p:nvSpPr>
            <p:cNvPr id="6" name="文本框 166918"/>
            <p:cNvSpPr txBox="1">
              <a:spLocks noChangeArrowheads="1"/>
            </p:cNvSpPr>
            <p:nvPr/>
          </p:nvSpPr>
          <p:spPr bwMode="auto">
            <a:xfrm>
              <a:off x="249" y="1346"/>
              <a:ext cx="5398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①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变压器以   形等值电路表示，电力线路以   形等值电路表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示；</a:t>
              </a:r>
            </a:p>
          </p:txBody>
        </p:sp>
        <p:graphicFrame>
          <p:nvGraphicFramePr>
            <p:cNvPr id="7" name="对象 166919"/>
            <p:cNvGraphicFramePr>
              <a:graphicFrameLocks/>
            </p:cNvGraphicFramePr>
            <p:nvPr/>
          </p:nvGraphicFramePr>
          <p:xfrm>
            <a:off x="1338" y="1389"/>
            <a:ext cx="208" cy="227"/>
          </p:xfrm>
          <a:graphic>
            <a:graphicData uri="http://schemas.openxmlformats.org/presentationml/2006/ole">
              <p:oleObj spid="_x0000_s30725" r:id="rId4" imgW="3352800" imgH="3657600" progId="Equation.3">
                <p:embed/>
              </p:oleObj>
            </a:graphicData>
          </a:graphic>
        </p:graphicFrame>
        <p:graphicFrame>
          <p:nvGraphicFramePr>
            <p:cNvPr id="8" name="对象 166920"/>
            <p:cNvGraphicFramePr>
              <a:graphicFrameLocks/>
            </p:cNvGraphicFramePr>
            <p:nvPr/>
          </p:nvGraphicFramePr>
          <p:xfrm>
            <a:off x="4105" y="1371"/>
            <a:ext cx="272" cy="252"/>
          </p:xfrm>
          <a:graphic>
            <a:graphicData uri="http://schemas.openxmlformats.org/presentationml/2006/ole">
              <p:oleObj spid="_x0000_s30724" r:id="rId5" imgW="3962400" imgH="3657600" progId="Equation.3">
                <p:embed/>
              </p:oleObj>
            </a:graphicData>
          </a:graphic>
        </p:graphicFrame>
      </p:grpSp>
      <p:grpSp>
        <p:nvGrpSpPr>
          <p:cNvPr id="9" name="组合 166933"/>
          <p:cNvGrpSpPr/>
          <p:nvPr/>
        </p:nvGrpSpPr>
        <p:grpSpPr bwMode="auto">
          <a:xfrm>
            <a:off x="928662" y="4572008"/>
            <a:ext cx="6408737" cy="1816100"/>
            <a:chOff x="1519" y="2976"/>
            <a:chExt cx="4037" cy="1144"/>
          </a:xfrm>
        </p:grpSpPr>
        <p:graphicFrame>
          <p:nvGraphicFramePr>
            <p:cNvPr id="10" name="对象 166924"/>
            <p:cNvGraphicFramePr>
              <a:graphicFrameLocks/>
            </p:cNvGraphicFramePr>
            <p:nvPr/>
          </p:nvGraphicFramePr>
          <p:xfrm>
            <a:off x="1519" y="2976"/>
            <a:ext cx="3901" cy="658"/>
          </p:xfrm>
          <a:graphic>
            <a:graphicData uri="http://schemas.openxmlformats.org/presentationml/2006/ole">
              <p:oleObj spid="_x0000_s30723" r:id="rId6" imgW="75895200" imgH="12801600" progId="Equation.3">
                <p:embed/>
              </p:oleObj>
            </a:graphicData>
          </a:graphic>
        </p:graphicFrame>
        <p:graphicFrame>
          <p:nvGraphicFramePr>
            <p:cNvPr id="11" name="对象 166925"/>
            <p:cNvGraphicFramePr>
              <a:graphicFrameLocks/>
            </p:cNvGraphicFramePr>
            <p:nvPr/>
          </p:nvGraphicFramePr>
          <p:xfrm>
            <a:off x="1973" y="3566"/>
            <a:ext cx="1769" cy="554"/>
          </p:xfrm>
          <a:graphic>
            <a:graphicData uri="http://schemas.openxmlformats.org/presentationml/2006/ole">
              <p:oleObj spid="_x0000_s30722" r:id="rId7" imgW="30175200" imgH="9448800" progId="Equation.3">
                <p:embed/>
              </p:oleObj>
            </a:graphicData>
          </a:graphic>
        </p:graphicFrame>
        <p:sp>
          <p:nvSpPr>
            <p:cNvPr id="12" name="文本框 166926"/>
            <p:cNvSpPr txBox="1">
              <a:spLocks noChangeArrowheads="1"/>
            </p:cNvSpPr>
            <p:nvPr/>
          </p:nvSpPr>
          <p:spPr bwMode="auto">
            <a:xfrm>
              <a:off x="4286" y="3748"/>
              <a:ext cx="127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3-20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3" name="标题 166930"/>
          <p:cNvSpPr>
            <a:spLocks noGrp="1" noRot="1" noChangeArrowheads="1"/>
          </p:cNvSpPr>
          <p:nvPr>
            <p:ph type="title"/>
          </p:nvPr>
        </p:nvSpPr>
        <p:spPr>
          <a:xfrm>
            <a:off x="428595" y="555628"/>
            <a:ext cx="6242079" cy="587356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  <a:t>二、变压器的功率损耗和电压降落</a:t>
            </a:r>
          </a:p>
        </p:txBody>
      </p:sp>
      <p:sp>
        <p:nvSpPr>
          <p:cNvPr id="14" name="文本框 166921"/>
          <p:cNvSpPr txBox="1">
            <a:spLocks noChangeArrowheads="1"/>
          </p:cNvSpPr>
          <p:nvPr/>
        </p:nvSpPr>
        <p:spPr bwMode="auto">
          <a:xfrm>
            <a:off x="395289" y="3216275"/>
            <a:ext cx="87487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变压器的导纳支路为电感性，电力线路的导纳支路为电容性；</a:t>
            </a:r>
            <a:endParaRPr lang="en-US" altLang="zh-CN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" name="组合 166932"/>
          <p:cNvGrpSpPr/>
          <p:nvPr/>
        </p:nvGrpSpPr>
        <p:grpSpPr bwMode="auto">
          <a:xfrm>
            <a:off x="395289" y="3789361"/>
            <a:ext cx="8748712" cy="1015999"/>
            <a:chOff x="249" y="2387"/>
            <a:chExt cx="5670" cy="640"/>
          </a:xfrm>
        </p:grpSpPr>
        <p:sp>
          <p:nvSpPr>
            <p:cNvPr id="16" name="文本框 166922"/>
            <p:cNvSpPr txBox="1">
              <a:spLocks noChangeArrowheads="1"/>
            </p:cNvSpPr>
            <p:nvPr/>
          </p:nvSpPr>
          <p:spPr bwMode="auto">
            <a:xfrm>
              <a:off x="249" y="2387"/>
              <a:ext cx="5670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近似计算中，取             ，可将变压器的导纳用不变的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负荷代替，即</a:t>
              </a:r>
            </a:p>
          </p:txBody>
        </p:sp>
        <p:graphicFrame>
          <p:nvGraphicFramePr>
            <p:cNvPr id="17" name="对象 166923"/>
            <p:cNvGraphicFramePr>
              <a:graphicFrameLocks/>
            </p:cNvGraphicFramePr>
            <p:nvPr/>
          </p:nvGraphicFramePr>
          <p:xfrm>
            <a:off x="1927" y="2387"/>
            <a:ext cx="1179" cy="298"/>
          </p:xfrm>
          <a:graphic>
            <a:graphicData uri="http://schemas.openxmlformats.org/presentationml/2006/ole">
              <p:oleObj spid="_x0000_s30721" r:id="rId8" imgW="24079200" imgH="6096000" progId="Equation.3">
                <p:embed/>
              </p:oleObj>
            </a:graphicData>
          </a:graphic>
        </p:graphicFrame>
      </p:grpSp>
      <p:sp>
        <p:nvSpPr>
          <p:cNvPr id="20" name="任意多边形 19"/>
          <p:cNvSpPr/>
          <p:nvPr/>
        </p:nvSpPr>
        <p:spPr>
          <a:xfrm>
            <a:off x="4116159" y="4543124"/>
            <a:ext cx="1241659" cy="1049154"/>
          </a:xfrm>
          <a:custGeom>
            <a:avLst/>
            <a:gdLst>
              <a:gd name="connsiteX0" fmla="*/ 9625 w 1241659"/>
              <a:gd name="connsiteY0" fmla="*/ 0 h 1049154"/>
              <a:gd name="connsiteX1" fmla="*/ 0 w 1241659"/>
              <a:gd name="connsiteY1" fmla="*/ 1049154 h 1049154"/>
              <a:gd name="connsiteX2" fmla="*/ 1241659 w 1241659"/>
              <a:gd name="connsiteY2" fmla="*/ 1049154 h 1049154"/>
              <a:gd name="connsiteX3" fmla="*/ 1222408 w 1241659"/>
              <a:gd name="connsiteY3" fmla="*/ 558265 h 1049154"/>
              <a:gd name="connsiteX4" fmla="*/ 558265 w 1241659"/>
              <a:gd name="connsiteY4" fmla="*/ 548640 h 1049154"/>
              <a:gd name="connsiteX5" fmla="*/ 558265 w 1241659"/>
              <a:gd name="connsiteY5" fmla="*/ 19251 h 1049154"/>
              <a:gd name="connsiteX6" fmla="*/ 9625 w 1241659"/>
              <a:gd name="connsiteY6" fmla="*/ 0 h 1049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1659" h="1049154">
                <a:moveTo>
                  <a:pt x="9625" y="0"/>
                </a:moveTo>
                <a:cubicBezTo>
                  <a:pt x="6417" y="349718"/>
                  <a:pt x="3208" y="699436"/>
                  <a:pt x="0" y="1049154"/>
                </a:cubicBezTo>
                <a:lnTo>
                  <a:pt x="1241659" y="1049154"/>
                </a:lnTo>
                <a:lnTo>
                  <a:pt x="1222408" y="558265"/>
                </a:lnTo>
                <a:lnTo>
                  <a:pt x="558265" y="548640"/>
                </a:lnTo>
                <a:lnTo>
                  <a:pt x="558265" y="19251"/>
                </a:lnTo>
                <a:lnTo>
                  <a:pt x="9625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5515276" y="4533499"/>
            <a:ext cx="1366787" cy="1106905"/>
          </a:xfrm>
          <a:custGeom>
            <a:avLst/>
            <a:gdLst>
              <a:gd name="connsiteX0" fmla="*/ 19250 w 1366787"/>
              <a:gd name="connsiteY0" fmla="*/ 0 h 1106905"/>
              <a:gd name="connsiteX1" fmla="*/ 0 w 1366787"/>
              <a:gd name="connsiteY1" fmla="*/ 1106905 h 1106905"/>
              <a:gd name="connsiteX2" fmla="*/ 1366787 w 1366787"/>
              <a:gd name="connsiteY2" fmla="*/ 1106905 h 1106905"/>
              <a:gd name="connsiteX3" fmla="*/ 1366787 w 1366787"/>
              <a:gd name="connsiteY3" fmla="*/ 587141 h 1106905"/>
              <a:gd name="connsiteX4" fmla="*/ 1058779 w 1366787"/>
              <a:gd name="connsiteY4" fmla="*/ 548640 h 1106905"/>
              <a:gd name="connsiteX5" fmla="*/ 1058779 w 1366787"/>
              <a:gd name="connsiteY5" fmla="*/ 57752 h 1106905"/>
              <a:gd name="connsiteX6" fmla="*/ 0 w 1366787"/>
              <a:gd name="connsiteY6" fmla="*/ 67377 h 1106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6787" h="1106905">
                <a:moveTo>
                  <a:pt x="19250" y="0"/>
                </a:moveTo>
                <a:lnTo>
                  <a:pt x="0" y="1106905"/>
                </a:lnTo>
                <a:lnTo>
                  <a:pt x="1366787" y="1106905"/>
                </a:lnTo>
                <a:lnTo>
                  <a:pt x="1366787" y="587141"/>
                </a:lnTo>
                <a:lnTo>
                  <a:pt x="1058779" y="548640"/>
                </a:lnTo>
                <a:lnTo>
                  <a:pt x="1058779" y="57752"/>
                </a:lnTo>
                <a:lnTo>
                  <a:pt x="0" y="67377"/>
                </a:ln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云形标注 23"/>
          <p:cNvSpPr/>
          <p:nvPr/>
        </p:nvSpPr>
        <p:spPr>
          <a:xfrm>
            <a:off x="4786314" y="6143644"/>
            <a:ext cx="785818" cy="428628"/>
          </a:xfrm>
          <a:prstGeom prst="cloudCallout">
            <a:avLst>
              <a:gd name="adj1" fmla="val -18383"/>
              <a:gd name="adj2" fmla="val -18227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000628" y="6143644"/>
            <a:ext cx="564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 smtClean="0"/>
              <a:t>G</a:t>
            </a:r>
            <a:r>
              <a:rPr lang="en-US" altLang="zh-CN" sz="1400" i="1" dirty="0" smtClean="0"/>
              <a:t>T</a:t>
            </a:r>
            <a:endParaRPr lang="en-US" altLang="zh-CN" sz="2400" i="1" dirty="0" smtClean="0"/>
          </a:p>
        </p:txBody>
      </p:sp>
      <p:sp>
        <p:nvSpPr>
          <p:cNvPr id="26" name="云形标注 25"/>
          <p:cNvSpPr/>
          <p:nvPr/>
        </p:nvSpPr>
        <p:spPr>
          <a:xfrm>
            <a:off x="6572264" y="6215082"/>
            <a:ext cx="785818" cy="428628"/>
          </a:xfrm>
          <a:prstGeom prst="cloudCallout">
            <a:avLst>
              <a:gd name="adj1" fmla="val -18383"/>
              <a:gd name="adj2" fmla="val -18227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786578" y="6182045"/>
            <a:ext cx="64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/>
              <a:t>B</a:t>
            </a:r>
            <a:r>
              <a:rPr lang="en-US" altLang="zh-CN" sz="1400" i="1" dirty="0" smtClean="0"/>
              <a:t>T</a:t>
            </a:r>
            <a:endParaRPr lang="zh-CN" alt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67939"/>
          <p:cNvSpPr txBox="1">
            <a:spLocks noChangeArrowheads="1"/>
          </p:cNvSpPr>
          <p:nvPr/>
        </p:nvSpPr>
        <p:spPr bwMode="auto">
          <a:xfrm>
            <a:off x="395288" y="1181100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电力线路上的电能损耗</a:t>
            </a:r>
          </a:p>
        </p:txBody>
      </p:sp>
      <p:sp>
        <p:nvSpPr>
          <p:cNvPr id="5" name="文本框 167940"/>
          <p:cNvSpPr txBox="1">
            <a:spLocks noChangeArrowheads="1"/>
          </p:cNvSpPr>
          <p:nvPr/>
        </p:nvSpPr>
        <p:spPr bwMode="auto">
          <a:xfrm>
            <a:off x="323850" y="1844675"/>
            <a:ext cx="8496300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本节介绍两种方法，用于近似地计算电力线路在一年内的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电能损耗。</a:t>
            </a:r>
          </a:p>
        </p:txBody>
      </p:sp>
      <p:sp>
        <p:nvSpPr>
          <p:cNvPr id="6" name="文本框 167941"/>
          <p:cNvSpPr txBox="1">
            <a:spLocks noChangeArrowheads="1"/>
          </p:cNvSpPr>
          <p:nvPr/>
        </p:nvSpPr>
        <p:spPr bwMode="auto">
          <a:xfrm>
            <a:off x="323850" y="2928938"/>
            <a:ext cx="84963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年负荷损耗率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求电力线路全年的电能损耗。</a:t>
            </a:r>
          </a:p>
        </p:txBody>
      </p:sp>
      <p:grpSp>
        <p:nvGrpSpPr>
          <p:cNvPr id="7" name="组合 167957"/>
          <p:cNvGrpSpPr/>
          <p:nvPr/>
        </p:nvGrpSpPr>
        <p:grpSpPr bwMode="auto">
          <a:xfrm>
            <a:off x="323850" y="3476625"/>
            <a:ext cx="8496300" cy="457200"/>
            <a:chOff x="204" y="2190"/>
            <a:chExt cx="5352" cy="288"/>
          </a:xfrm>
        </p:grpSpPr>
        <p:sp>
          <p:nvSpPr>
            <p:cNvPr id="8" name="文本框 167942"/>
            <p:cNvSpPr txBox="1">
              <a:spLocks noChangeArrowheads="1"/>
            </p:cNvSpPr>
            <p:nvPr/>
          </p:nvSpPr>
          <p:spPr bwMode="auto">
            <a:xfrm>
              <a:off x="204" y="2190"/>
              <a:ext cx="53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从手册中查得最大负荷小时数      ，并求得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年负荷率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</a:p>
          </p:txBody>
        </p:sp>
        <p:graphicFrame>
          <p:nvGraphicFramePr>
            <p:cNvPr id="9" name="对象 167943"/>
            <p:cNvGraphicFramePr>
              <a:graphicFrameLocks/>
            </p:cNvGraphicFramePr>
            <p:nvPr/>
          </p:nvGraphicFramePr>
          <p:xfrm>
            <a:off x="3270" y="2214"/>
            <a:ext cx="375" cy="261"/>
          </p:xfrm>
          <a:graphic>
            <a:graphicData uri="http://schemas.openxmlformats.org/presentationml/2006/ole">
              <p:oleObj spid="_x0000_s31746" r:id="rId4" imgW="8229600" imgH="5791200" progId="Equation.3">
                <p:embed/>
              </p:oleObj>
            </a:graphicData>
          </a:graphic>
        </p:graphicFrame>
      </p:grpSp>
      <p:sp>
        <p:nvSpPr>
          <p:cNvPr id="10" name="文本框 167945"/>
          <p:cNvSpPr txBox="1">
            <a:spLocks noChangeArrowheads="1"/>
          </p:cNvSpPr>
          <p:nvPr/>
        </p:nvSpPr>
        <p:spPr bwMode="auto">
          <a:xfrm>
            <a:off x="7235825" y="4292600"/>
            <a:ext cx="15128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3-21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1" name="文本框 167947"/>
          <p:cNvSpPr txBox="1">
            <a:spLocks noChangeArrowheads="1"/>
          </p:cNvSpPr>
          <p:nvPr/>
        </p:nvSpPr>
        <p:spPr bwMode="auto">
          <a:xfrm>
            <a:off x="323850" y="5013325"/>
            <a:ext cx="84963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由经验公式计算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年负荷损耗率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</a:p>
        </p:txBody>
      </p:sp>
      <p:sp>
        <p:nvSpPr>
          <p:cNvPr id="12" name="椭圆形标注 167951"/>
          <p:cNvSpPr>
            <a:spLocks noChangeArrowheads="1"/>
          </p:cNvSpPr>
          <p:nvPr/>
        </p:nvSpPr>
        <p:spPr bwMode="auto">
          <a:xfrm>
            <a:off x="4716463" y="5357826"/>
            <a:ext cx="4427537" cy="1285884"/>
          </a:xfrm>
          <a:prstGeom prst="wedgeEllipseCallout">
            <a:avLst>
              <a:gd name="adj1" fmla="val -64630"/>
              <a:gd name="adj2" fmla="val 34954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为经验系数，一般取</a:t>
            </a: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0.1-0.4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，年负荷率低时</a:t>
            </a: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取较小值，反之取较大值</a:t>
            </a:r>
          </a:p>
        </p:txBody>
      </p:sp>
      <p:graphicFrame>
        <p:nvGraphicFramePr>
          <p:cNvPr id="13" name="对象 167949"/>
          <p:cNvGraphicFramePr>
            <a:graphicFrameLocks/>
          </p:cNvGraphicFramePr>
          <p:nvPr/>
        </p:nvGraphicFramePr>
        <p:xfrm>
          <a:off x="1285852" y="5715016"/>
          <a:ext cx="3095625" cy="663575"/>
        </p:xfrm>
        <a:graphic>
          <a:graphicData uri="http://schemas.openxmlformats.org/presentationml/2006/ole">
            <p:oleObj spid="_x0000_s31745" r:id="rId5" imgW="29870400" imgH="6400800" progId="Equation.3">
              <p:embed/>
            </p:oleObj>
          </a:graphicData>
        </a:graphic>
      </p:graphicFrame>
      <p:sp>
        <p:nvSpPr>
          <p:cNvPr id="38" name="标题 167956"/>
          <p:cNvSpPr>
            <a:spLocks noGrp="1" noRot="1" noChangeArrowheads="1"/>
          </p:cNvSpPr>
          <p:nvPr>
            <p:ph type="title"/>
          </p:nvPr>
        </p:nvSpPr>
        <p:spPr>
          <a:xfrm>
            <a:off x="725504" y="349250"/>
            <a:ext cx="6346826" cy="847725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  <a:t>三、电力网络的电能损耗</a:t>
            </a:r>
          </a:p>
        </p:txBody>
      </p:sp>
      <p:pic>
        <p:nvPicPr>
          <p:cNvPr id="29700" name="Picture 4" descr="C:\Users\chenliang\AppData\Roaming\Tencent\Users\284798068\QQ\WinTemp\RichOle\W}`LQ74YMJ]S6PN4NPBE`HD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14414" y="4000504"/>
            <a:ext cx="5095657" cy="10715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aphicFrame>
        <p:nvGraphicFramePr>
          <p:cNvPr id="3" name="对象 168963"/>
          <p:cNvGraphicFramePr>
            <a:graphicFrameLocks/>
          </p:cNvGraphicFramePr>
          <p:nvPr/>
        </p:nvGraphicFramePr>
        <p:xfrm>
          <a:off x="2268538" y="1125538"/>
          <a:ext cx="3455987" cy="503237"/>
        </p:xfrm>
        <a:graphic>
          <a:graphicData uri="http://schemas.openxmlformats.org/presentationml/2006/ole">
            <p:oleObj spid="_x0000_s32775" r:id="rId4" imgW="37185600" imgH="6096000" progId="Equation.3">
              <p:embed/>
            </p:oleObj>
          </a:graphicData>
        </a:graphic>
      </p:graphicFrame>
      <p:sp>
        <p:nvSpPr>
          <p:cNvPr id="5" name="文本框 168964"/>
          <p:cNvSpPr txBox="1">
            <a:spLocks noChangeArrowheads="1"/>
          </p:cNvSpPr>
          <p:nvPr/>
        </p:nvSpPr>
        <p:spPr bwMode="auto">
          <a:xfrm>
            <a:off x="323850" y="614346"/>
            <a:ext cx="84963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所谓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年负荷损耗率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，其定义为</a:t>
            </a:r>
          </a:p>
        </p:txBody>
      </p:sp>
      <p:sp>
        <p:nvSpPr>
          <p:cNvPr id="6" name="文本框 168965"/>
          <p:cNvSpPr txBox="1">
            <a:spLocks noChangeArrowheads="1"/>
          </p:cNvSpPr>
          <p:nvPr/>
        </p:nvSpPr>
        <p:spPr bwMode="auto">
          <a:xfrm>
            <a:off x="323850" y="1676400"/>
            <a:ext cx="8496300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式中，</a:t>
            </a:r>
            <a:r>
              <a:rPr lang="el-GR" altLang="zh-CN" sz="24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Δ</a:t>
            </a:r>
            <a:r>
              <a:rPr lang="en-US" altLang="zh-CN" sz="24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2400" baseline="-250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电力线路全年电能损耗；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l-GR" altLang="zh-CN" sz="24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Δ</a:t>
            </a:r>
            <a:r>
              <a:rPr lang="en-US" altLang="zh-CN" sz="24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400" baseline="-250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max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电力线路在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年中最大负荷时的功率损耗。</a:t>
            </a:r>
            <a:endParaRPr lang="zh-CN" altLang="el-GR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68966"/>
          <p:cNvSpPr txBox="1">
            <a:spLocks noChangeArrowheads="1"/>
          </p:cNvSpPr>
          <p:nvPr/>
        </p:nvSpPr>
        <p:spPr bwMode="auto">
          <a:xfrm>
            <a:off x="323850" y="2784475"/>
            <a:ext cx="84963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由上式可得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电力线路全年电能损耗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endParaRPr lang="zh-CN" altLang="el-GR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" name="组合 168985"/>
          <p:cNvGrpSpPr/>
          <p:nvPr/>
        </p:nvGrpSpPr>
        <p:grpSpPr bwMode="auto">
          <a:xfrm>
            <a:off x="1979613" y="3429000"/>
            <a:ext cx="5832475" cy="552450"/>
            <a:chOff x="1247" y="2160"/>
            <a:chExt cx="3674" cy="348"/>
          </a:xfrm>
        </p:grpSpPr>
        <p:graphicFrame>
          <p:nvGraphicFramePr>
            <p:cNvPr id="9" name="对象 168967"/>
            <p:cNvGraphicFramePr>
              <a:graphicFrameLocks/>
            </p:cNvGraphicFramePr>
            <p:nvPr/>
          </p:nvGraphicFramePr>
          <p:xfrm>
            <a:off x="1247" y="2160"/>
            <a:ext cx="1951" cy="348"/>
          </p:xfrm>
          <a:graphic>
            <a:graphicData uri="http://schemas.openxmlformats.org/presentationml/2006/ole">
              <p:oleObj spid="_x0000_s32774" r:id="rId5" imgW="34137600" imgH="6096000" progId="Equation.3">
                <p:embed/>
              </p:oleObj>
            </a:graphicData>
          </a:graphic>
        </p:graphicFrame>
        <p:sp>
          <p:nvSpPr>
            <p:cNvPr id="10" name="文本框 168968"/>
            <p:cNvSpPr txBox="1">
              <a:spLocks noChangeArrowheads="1"/>
            </p:cNvSpPr>
            <p:nvPr/>
          </p:nvSpPr>
          <p:spPr bwMode="auto">
            <a:xfrm>
              <a:off x="3969" y="2205"/>
              <a:ext cx="9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3-23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1" name="组合 168986"/>
          <p:cNvGrpSpPr/>
          <p:nvPr/>
        </p:nvGrpSpPr>
        <p:grpSpPr bwMode="auto">
          <a:xfrm>
            <a:off x="323850" y="4076700"/>
            <a:ext cx="8496300" cy="533400"/>
            <a:chOff x="204" y="2568"/>
            <a:chExt cx="5352" cy="336"/>
          </a:xfrm>
        </p:grpSpPr>
        <p:sp>
          <p:nvSpPr>
            <p:cNvPr id="12" name="文本框 168971"/>
            <p:cNvSpPr txBox="1">
              <a:spLocks noChangeArrowheads="1"/>
            </p:cNvSpPr>
            <p:nvPr/>
          </p:nvSpPr>
          <p:spPr bwMode="auto">
            <a:xfrm>
              <a:off x="204" y="2616"/>
              <a:ext cx="53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）利用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最大负荷损耗时间    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求全年的电能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损耗</a:t>
              </a:r>
              <a:endParaRPr lang="zh-CN" altLang="el-GR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3" name="对象 168972"/>
            <p:cNvGraphicFramePr>
              <a:graphicFrameLocks/>
            </p:cNvGraphicFramePr>
            <p:nvPr/>
          </p:nvGraphicFramePr>
          <p:xfrm>
            <a:off x="3016" y="2568"/>
            <a:ext cx="363" cy="303"/>
          </p:xfrm>
          <a:graphic>
            <a:graphicData uri="http://schemas.openxmlformats.org/presentationml/2006/ole">
              <p:oleObj spid="_x0000_s32773" r:id="rId6" imgW="7315200" imgH="6096000" progId="Equation.3">
                <p:embed/>
              </p:oleObj>
            </a:graphicData>
          </a:graphic>
        </p:graphicFrame>
      </p:grpSp>
      <p:grpSp>
        <p:nvGrpSpPr>
          <p:cNvPr id="14" name="组合 168987"/>
          <p:cNvGrpSpPr/>
          <p:nvPr/>
        </p:nvGrpSpPr>
        <p:grpSpPr bwMode="auto">
          <a:xfrm>
            <a:off x="323850" y="4700588"/>
            <a:ext cx="8640763" cy="1063625"/>
            <a:chOff x="204" y="2961"/>
            <a:chExt cx="5443" cy="670"/>
          </a:xfrm>
        </p:grpSpPr>
        <p:sp>
          <p:nvSpPr>
            <p:cNvPr id="15" name="文本框 168973"/>
            <p:cNvSpPr txBox="1">
              <a:spLocks noChangeArrowheads="1"/>
            </p:cNvSpPr>
            <p:nvPr/>
          </p:nvSpPr>
          <p:spPr bwMode="auto">
            <a:xfrm>
              <a:off x="204" y="2961"/>
              <a:ext cx="5443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另一种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方法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是根据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用户负荷的</a:t>
              </a:r>
              <a:r>
                <a:rPr lang="zh-CN" altLang="en-US" sz="2400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最大负荷利用小时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    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负荷的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功率因数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，从手册中查得最大负荷损耗时间    </a:t>
              </a:r>
              <a:endParaRPr lang="zh-CN" altLang="el-GR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6" name="对象 168974"/>
            <p:cNvGraphicFramePr>
              <a:graphicFrameLocks/>
            </p:cNvGraphicFramePr>
            <p:nvPr/>
          </p:nvGraphicFramePr>
          <p:xfrm>
            <a:off x="4860" y="2995"/>
            <a:ext cx="363" cy="256"/>
          </p:xfrm>
          <a:graphic>
            <a:graphicData uri="http://schemas.openxmlformats.org/presentationml/2006/ole">
              <p:oleObj spid="_x0000_s32772" r:id="rId7" imgW="8229600" imgH="5791200" progId="Equation.3">
                <p:embed/>
              </p:oleObj>
            </a:graphicData>
          </a:graphic>
        </p:graphicFrame>
        <p:graphicFrame>
          <p:nvGraphicFramePr>
            <p:cNvPr id="17" name="对象 168975"/>
            <p:cNvGraphicFramePr>
              <a:graphicFrameLocks/>
            </p:cNvGraphicFramePr>
            <p:nvPr/>
          </p:nvGraphicFramePr>
          <p:xfrm>
            <a:off x="1655" y="3357"/>
            <a:ext cx="590" cy="274"/>
          </p:xfrm>
          <a:graphic>
            <a:graphicData uri="http://schemas.openxmlformats.org/presentationml/2006/ole">
              <p:oleObj spid="_x0000_s32771" r:id="rId8" imgW="8534400" imgH="3962400" progId="Equation.3">
                <p:embed/>
              </p:oleObj>
            </a:graphicData>
          </a:graphic>
        </p:graphicFrame>
        <p:graphicFrame>
          <p:nvGraphicFramePr>
            <p:cNvPr id="18" name="对象 168976"/>
            <p:cNvGraphicFramePr>
              <a:graphicFrameLocks/>
            </p:cNvGraphicFramePr>
            <p:nvPr/>
          </p:nvGraphicFramePr>
          <p:xfrm>
            <a:off x="5193" y="3294"/>
            <a:ext cx="363" cy="303"/>
          </p:xfrm>
          <a:graphic>
            <a:graphicData uri="http://schemas.openxmlformats.org/presentationml/2006/ole">
              <p:oleObj spid="_x0000_s32770" r:id="rId9" imgW="7315200" imgH="6096000" progId="Equation.3">
                <p:embed/>
              </p:oleObj>
            </a:graphicData>
          </a:graphic>
        </p:graphicFrame>
      </p:grpSp>
      <p:grpSp>
        <p:nvGrpSpPr>
          <p:cNvPr id="19" name="组合 168988"/>
          <p:cNvGrpSpPr/>
          <p:nvPr/>
        </p:nvGrpSpPr>
        <p:grpSpPr bwMode="auto">
          <a:xfrm>
            <a:off x="971550" y="5734050"/>
            <a:ext cx="4032250" cy="912813"/>
            <a:chOff x="612" y="3612"/>
            <a:chExt cx="2540" cy="575"/>
          </a:xfrm>
        </p:grpSpPr>
        <p:graphicFrame>
          <p:nvGraphicFramePr>
            <p:cNvPr id="20" name="对象 168978"/>
            <p:cNvGraphicFramePr>
              <a:graphicFrameLocks/>
            </p:cNvGraphicFramePr>
            <p:nvPr/>
          </p:nvGraphicFramePr>
          <p:xfrm>
            <a:off x="2018" y="3612"/>
            <a:ext cx="1134" cy="575"/>
          </p:xfrm>
          <a:graphic>
            <a:graphicData uri="http://schemas.openxmlformats.org/presentationml/2006/ole">
              <p:oleObj spid="_x0000_s32769" r:id="rId10" imgW="21640800" imgH="10972800" progId="Equation.3">
                <p:embed/>
              </p:oleObj>
            </a:graphicData>
          </a:graphic>
        </p:graphicFrame>
        <p:sp>
          <p:nvSpPr>
            <p:cNvPr id="21" name="文本框 168979"/>
            <p:cNvSpPr txBox="1">
              <a:spLocks noChangeArrowheads="1"/>
            </p:cNvSpPr>
            <p:nvPr/>
          </p:nvSpPr>
          <p:spPr bwMode="auto">
            <a:xfrm>
              <a:off x="612" y="3793"/>
              <a:ext cx="81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定义：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69987"/>
          <p:cNvSpPr txBox="1">
            <a:spLocks noChangeArrowheads="1"/>
          </p:cNvSpPr>
          <p:nvPr/>
        </p:nvSpPr>
        <p:spPr bwMode="auto">
          <a:xfrm>
            <a:off x="395288" y="852502"/>
            <a:ext cx="85693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那么，全年电能损耗为</a:t>
            </a:r>
          </a:p>
        </p:txBody>
      </p:sp>
      <p:grpSp>
        <p:nvGrpSpPr>
          <p:cNvPr id="5" name="组合 169997"/>
          <p:cNvGrpSpPr/>
          <p:nvPr/>
        </p:nvGrpSpPr>
        <p:grpSpPr bwMode="auto">
          <a:xfrm>
            <a:off x="2051050" y="1501790"/>
            <a:ext cx="6265863" cy="633412"/>
            <a:chOff x="1292" y="709"/>
            <a:chExt cx="3947" cy="399"/>
          </a:xfrm>
        </p:grpSpPr>
        <p:graphicFrame>
          <p:nvGraphicFramePr>
            <p:cNvPr id="6" name="对象 169988"/>
            <p:cNvGraphicFramePr>
              <a:graphicFrameLocks/>
            </p:cNvGraphicFramePr>
            <p:nvPr/>
          </p:nvGraphicFramePr>
          <p:xfrm>
            <a:off x="1292" y="709"/>
            <a:ext cx="1996" cy="399"/>
          </p:xfrm>
          <a:graphic>
            <a:graphicData uri="http://schemas.openxmlformats.org/presentationml/2006/ole">
              <p:oleObj spid="_x0000_s33796" r:id="rId4" imgW="30480000" imgH="6096000" progId="Equation.3">
                <p:embed/>
              </p:oleObj>
            </a:graphicData>
          </a:graphic>
        </p:graphicFrame>
        <p:sp>
          <p:nvSpPr>
            <p:cNvPr id="7" name="文本框 169989"/>
            <p:cNvSpPr txBox="1">
              <a:spLocks noChangeArrowheads="1"/>
            </p:cNvSpPr>
            <p:nvPr/>
          </p:nvSpPr>
          <p:spPr bwMode="auto">
            <a:xfrm>
              <a:off x="4105" y="755"/>
              <a:ext cx="113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3-24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8" name="组合 169998"/>
          <p:cNvGrpSpPr/>
          <p:nvPr/>
        </p:nvGrpSpPr>
        <p:grpSpPr bwMode="auto">
          <a:xfrm>
            <a:off x="431800" y="2365390"/>
            <a:ext cx="8964613" cy="2724150"/>
            <a:chOff x="272" y="1253"/>
            <a:chExt cx="5647" cy="1716"/>
          </a:xfrm>
        </p:grpSpPr>
        <p:sp>
          <p:nvSpPr>
            <p:cNvPr id="9" name="文本框 169991"/>
            <p:cNvSpPr txBox="1">
              <a:spLocks noChangeArrowheads="1"/>
            </p:cNvSpPr>
            <p:nvPr/>
          </p:nvSpPr>
          <p:spPr bwMode="auto">
            <a:xfrm>
              <a:off x="272" y="1282"/>
              <a:ext cx="5647" cy="16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注意：    </a:t>
              </a:r>
              <a:r>
                <a:rPr lang="zh-CN" altLang="en-US" sz="2400" dirty="0">
                  <a:solidFill>
                    <a:srgbClr val="FF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不仅与    有关，而且与负荷的      有关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因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此，由式（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3-24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）求得的</a:t>
              </a:r>
              <a:r>
                <a:rPr lang="el-GR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Δ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W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Z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与式（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3-23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）求得的</a:t>
              </a:r>
              <a:r>
                <a:rPr lang="el-GR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Δ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W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Z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      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往往有差异。这是由于这两种方法所根据的统计资料不同。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此外，如上所有的计算公式中都没有包括电力线路电晕损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耗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l-GR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" name="对象 169992"/>
            <p:cNvGraphicFramePr>
              <a:graphicFrameLocks/>
            </p:cNvGraphicFramePr>
            <p:nvPr/>
          </p:nvGraphicFramePr>
          <p:xfrm>
            <a:off x="1927" y="1317"/>
            <a:ext cx="363" cy="256"/>
          </p:xfrm>
          <a:graphic>
            <a:graphicData uri="http://schemas.openxmlformats.org/presentationml/2006/ole">
              <p:oleObj spid="_x0000_s33795" r:id="rId5" imgW="8229600" imgH="5791200" progId="Equation.3">
                <p:embed/>
              </p:oleObj>
            </a:graphicData>
          </a:graphic>
        </p:graphicFrame>
        <p:graphicFrame>
          <p:nvGraphicFramePr>
            <p:cNvPr id="11" name="对象 169993"/>
            <p:cNvGraphicFramePr>
              <a:graphicFrameLocks/>
            </p:cNvGraphicFramePr>
            <p:nvPr/>
          </p:nvGraphicFramePr>
          <p:xfrm>
            <a:off x="4014" y="1344"/>
            <a:ext cx="590" cy="274"/>
          </p:xfrm>
          <a:graphic>
            <a:graphicData uri="http://schemas.openxmlformats.org/presentationml/2006/ole">
              <p:oleObj spid="_x0000_s33794" r:id="rId6" imgW="8534400" imgH="3962400" progId="Equation.3">
                <p:embed/>
              </p:oleObj>
            </a:graphicData>
          </a:graphic>
        </p:graphicFrame>
        <p:graphicFrame>
          <p:nvGraphicFramePr>
            <p:cNvPr id="12" name="对象 169994"/>
            <p:cNvGraphicFramePr>
              <a:graphicFrameLocks/>
            </p:cNvGraphicFramePr>
            <p:nvPr/>
          </p:nvGraphicFramePr>
          <p:xfrm>
            <a:off x="884" y="1253"/>
            <a:ext cx="363" cy="303"/>
          </p:xfrm>
          <a:graphic>
            <a:graphicData uri="http://schemas.openxmlformats.org/presentationml/2006/ole">
              <p:oleObj spid="_x0000_s33793" r:id="rId7" imgW="7315200" imgH="60960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71011"/>
          <p:cNvSpPr txBox="1">
            <a:spLocks noChangeArrowheads="1"/>
          </p:cNvSpPr>
          <p:nvPr/>
        </p:nvSpPr>
        <p:spPr bwMode="auto">
          <a:xfrm>
            <a:off x="395288" y="549275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变压器中的电能损耗</a:t>
            </a:r>
          </a:p>
        </p:txBody>
      </p:sp>
      <p:sp>
        <p:nvSpPr>
          <p:cNvPr id="5" name="文本框 171012"/>
          <p:cNvSpPr txBox="1">
            <a:spLocks noChangeArrowheads="1"/>
          </p:cNvSpPr>
          <p:nvPr/>
        </p:nvSpPr>
        <p:spPr bwMode="auto">
          <a:xfrm>
            <a:off x="214282" y="1109663"/>
            <a:ext cx="8748712" cy="32316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变压器电阻中的电能损耗，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即铜耗部分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，完全同于电力线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路上的电能损耗计算，</a:t>
            </a:r>
            <a:r>
              <a:rPr lang="el-GR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Δ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ZT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可以套用（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3-21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3-24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）计算。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变压器电导中的电能损耗，即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铁耗部分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，则可近似取变压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器空载损耗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与变压器运行小时数的乘积。变压器运行小时数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等于一年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8760h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减去因检修而退出运行的小时数。那么，变压器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中在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年内的电能损耗的表达式为</a:t>
            </a:r>
            <a:endParaRPr lang="zh-CN" altLang="el-GR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171013"/>
          <p:cNvGraphicFramePr>
            <a:graphicFrameLocks/>
          </p:cNvGraphicFramePr>
          <p:nvPr/>
        </p:nvGraphicFramePr>
        <p:xfrm>
          <a:off x="1074710" y="4429132"/>
          <a:ext cx="5329237" cy="711200"/>
        </p:xfrm>
        <a:graphic>
          <a:graphicData uri="http://schemas.openxmlformats.org/presentationml/2006/ole">
            <p:oleObj spid="_x0000_s34817" r:id="rId4" imgW="45720000" imgH="6096000" progId="Equation.3">
              <p:embed/>
            </p:oleObj>
          </a:graphicData>
        </a:graphic>
      </p:graphicFrame>
      <p:sp>
        <p:nvSpPr>
          <p:cNvPr id="7" name="圆角矩形标注 171014"/>
          <p:cNvSpPr>
            <a:spLocks noChangeArrowheads="1"/>
          </p:cNvSpPr>
          <p:nvPr/>
        </p:nvSpPr>
        <p:spPr bwMode="auto">
          <a:xfrm flipV="1">
            <a:off x="571472" y="5654682"/>
            <a:ext cx="1800225" cy="719138"/>
          </a:xfrm>
          <a:prstGeom prst="wedgeRoundRectCallout">
            <a:avLst>
              <a:gd name="adj1" fmla="val 60667"/>
              <a:gd name="adj2" fmla="val 12417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rot="10800000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变压器的</a:t>
            </a: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空载损耗</a:t>
            </a:r>
          </a:p>
        </p:txBody>
      </p:sp>
      <p:sp>
        <p:nvSpPr>
          <p:cNvPr id="8" name="椭圆形标注 171015"/>
          <p:cNvSpPr>
            <a:spLocks noChangeArrowheads="1"/>
          </p:cNvSpPr>
          <p:nvPr/>
        </p:nvSpPr>
        <p:spPr bwMode="auto">
          <a:xfrm flipV="1">
            <a:off x="2573310" y="5437195"/>
            <a:ext cx="2089150" cy="865187"/>
          </a:xfrm>
          <a:prstGeom prst="wedgeEllipseCallout">
            <a:avLst>
              <a:gd name="adj1" fmla="val 39662"/>
              <a:gd name="adj2" fmla="val 92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rot="10800000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一年中退出运行的时间</a:t>
            </a:r>
          </a:p>
        </p:txBody>
      </p:sp>
      <p:sp>
        <p:nvSpPr>
          <p:cNvPr id="9" name="云形标注 171016"/>
          <p:cNvSpPr>
            <a:spLocks noChangeArrowheads="1"/>
          </p:cNvSpPr>
          <p:nvPr/>
        </p:nvSpPr>
        <p:spPr bwMode="auto">
          <a:xfrm flipV="1">
            <a:off x="5353022" y="5510220"/>
            <a:ext cx="2843213" cy="936625"/>
          </a:xfrm>
          <a:prstGeom prst="cloudCallout">
            <a:avLst>
              <a:gd name="adj1" fmla="val -35875"/>
              <a:gd name="adj2" fmla="val 9338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rot="10800000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变压器电阻中的电能损耗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72035"/>
          <p:cNvSpPr txBox="1">
            <a:spLocks noChangeArrowheads="1"/>
          </p:cNvSpPr>
          <p:nvPr/>
        </p:nvSpPr>
        <p:spPr bwMode="auto">
          <a:xfrm>
            <a:off x="395288" y="549275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电力网的网损率和线损率</a:t>
            </a:r>
          </a:p>
        </p:txBody>
      </p:sp>
      <p:sp>
        <p:nvSpPr>
          <p:cNvPr id="5" name="文本框 172036"/>
          <p:cNvSpPr txBox="1">
            <a:spLocks noChangeArrowheads="1"/>
          </p:cNvSpPr>
          <p:nvPr/>
        </p:nvSpPr>
        <p:spPr bwMode="auto">
          <a:xfrm>
            <a:off x="395288" y="1125538"/>
            <a:ext cx="856932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供电量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：指在给定的时间（日、月、季、年）内，电力系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统中所有发电厂的总发电量与厂用电量之差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    </a:t>
            </a:r>
            <a:endParaRPr lang="zh-CN" altLang="el-GR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172037"/>
          <p:cNvSpPr txBox="1">
            <a:spLocks noChangeArrowheads="1"/>
          </p:cNvSpPr>
          <p:nvPr/>
        </p:nvSpPr>
        <p:spPr bwMode="auto">
          <a:xfrm>
            <a:off x="395288" y="2133600"/>
            <a:ext cx="856932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电力网的</a:t>
            </a:r>
            <a:r>
              <a:rPr lang="zh-CN" altLang="en-US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网损电量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：在所有送电、变电和配电环节中所损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耗的电量</a:t>
            </a:r>
            <a:r>
              <a:rPr lang="el-GR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Δ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l-GR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文本框 172038"/>
          <p:cNvSpPr txBox="1">
            <a:spLocks noChangeArrowheads="1"/>
          </p:cNvSpPr>
          <p:nvPr/>
        </p:nvSpPr>
        <p:spPr bwMode="auto">
          <a:xfrm>
            <a:off x="395288" y="3144838"/>
            <a:ext cx="856932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电力网的</a:t>
            </a:r>
            <a:r>
              <a:rPr lang="zh-CN" altLang="en-US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网损率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：在同一时间内，电力网的网损电量占供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电量的百分值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%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），其表达式为</a:t>
            </a:r>
            <a:endParaRPr lang="zh-CN" altLang="el-GR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8" name="组合 172043"/>
          <p:cNvGrpSpPr/>
          <p:nvPr/>
        </p:nvGrpSpPr>
        <p:grpSpPr bwMode="auto">
          <a:xfrm>
            <a:off x="2339975" y="4292600"/>
            <a:ext cx="5976938" cy="889000"/>
            <a:chOff x="1474" y="2704"/>
            <a:chExt cx="3765" cy="560"/>
          </a:xfrm>
        </p:grpSpPr>
        <p:graphicFrame>
          <p:nvGraphicFramePr>
            <p:cNvPr id="9" name="对象 172039"/>
            <p:cNvGraphicFramePr>
              <a:graphicFrameLocks/>
            </p:cNvGraphicFramePr>
            <p:nvPr/>
          </p:nvGraphicFramePr>
          <p:xfrm>
            <a:off x="1474" y="2704"/>
            <a:ext cx="1587" cy="560"/>
          </p:xfrm>
          <a:graphic>
            <a:graphicData uri="http://schemas.openxmlformats.org/presentationml/2006/ole">
              <p:oleObj spid="_x0000_s35841" r:id="rId4" imgW="31089600" imgH="10972800" progId="Equation.3">
                <p:embed/>
              </p:oleObj>
            </a:graphicData>
          </a:graphic>
        </p:graphicFrame>
        <p:sp>
          <p:nvSpPr>
            <p:cNvPr id="10" name="文本框 172040"/>
            <p:cNvSpPr txBox="1">
              <a:spLocks noChangeArrowheads="1"/>
            </p:cNvSpPr>
            <p:nvPr/>
          </p:nvSpPr>
          <p:spPr bwMode="auto">
            <a:xfrm>
              <a:off x="4105" y="2840"/>
              <a:ext cx="113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3-26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1" name="文本框 172042"/>
          <p:cNvSpPr txBox="1">
            <a:spLocks noChangeArrowheads="1"/>
          </p:cNvSpPr>
          <p:nvPr/>
        </p:nvSpPr>
        <p:spPr bwMode="auto">
          <a:xfrm>
            <a:off x="395288" y="5160963"/>
            <a:ext cx="856932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电力网的网损率是国家下达给电力系统的一项重要经济指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标，也是衡量供电企业管理水平的一项主要标志。</a:t>
            </a:r>
            <a:endParaRPr lang="zh-CN" altLang="el-GR" sz="240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73059"/>
          <p:cNvSpPr txBox="1">
            <a:spLocks noChangeArrowheads="1"/>
          </p:cNvSpPr>
          <p:nvPr/>
        </p:nvSpPr>
        <p:spPr bwMode="auto">
          <a:xfrm>
            <a:off x="395288" y="1254125"/>
            <a:ext cx="8280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运算负荷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173257"/>
          <p:cNvGrpSpPr/>
          <p:nvPr/>
        </p:nvGrpSpPr>
        <p:grpSpPr bwMode="auto">
          <a:xfrm>
            <a:off x="1187450" y="1773237"/>
            <a:ext cx="5113338" cy="1470024"/>
            <a:chOff x="748" y="1117"/>
            <a:chExt cx="3221" cy="926"/>
          </a:xfrm>
        </p:grpSpPr>
        <p:grpSp>
          <p:nvGrpSpPr>
            <p:cNvPr id="6" name="组合 173256"/>
            <p:cNvGrpSpPr/>
            <p:nvPr/>
          </p:nvGrpSpPr>
          <p:grpSpPr bwMode="auto">
            <a:xfrm>
              <a:off x="748" y="1117"/>
              <a:ext cx="3221" cy="725"/>
              <a:chOff x="748" y="1117"/>
              <a:chExt cx="3221" cy="725"/>
            </a:xfrm>
          </p:grpSpPr>
          <p:grpSp>
            <p:nvGrpSpPr>
              <p:cNvPr id="8" name="组合 173062"/>
              <p:cNvGrpSpPr/>
              <p:nvPr/>
            </p:nvGrpSpPr>
            <p:grpSpPr bwMode="auto">
              <a:xfrm>
                <a:off x="1338" y="1453"/>
                <a:ext cx="635" cy="227"/>
                <a:chOff x="1810" y="1752"/>
                <a:chExt cx="635" cy="227"/>
              </a:xfrm>
            </p:grpSpPr>
            <p:sp>
              <p:nvSpPr>
                <p:cNvPr id="35" name="椭圆 173063"/>
                <p:cNvSpPr>
                  <a:spLocks noChangeArrowheads="1"/>
                </p:cNvSpPr>
                <p:nvPr/>
              </p:nvSpPr>
              <p:spPr bwMode="auto">
                <a:xfrm>
                  <a:off x="1973" y="1752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椭圆 173064"/>
                <p:cNvSpPr>
                  <a:spLocks noChangeArrowheads="1"/>
                </p:cNvSpPr>
                <p:nvPr/>
              </p:nvSpPr>
              <p:spPr bwMode="auto">
                <a:xfrm>
                  <a:off x="2109" y="1752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" name="直接连接符 173065"/>
                <p:cNvSpPr>
                  <a:spLocks noChangeShapeType="1"/>
                </p:cNvSpPr>
                <p:nvPr/>
              </p:nvSpPr>
              <p:spPr bwMode="auto">
                <a:xfrm>
                  <a:off x="2290" y="1842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" name="直接连接符 173066"/>
                <p:cNvSpPr>
                  <a:spLocks noChangeShapeType="1"/>
                </p:cNvSpPr>
                <p:nvPr/>
              </p:nvSpPr>
              <p:spPr bwMode="auto">
                <a:xfrm flipH="1">
                  <a:off x="1837" y="1842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" name="直接连接符 173067"/>
                <p:cNvSpPr>
                  <a:spLocks noChangeShapeType="1"/>
                </p:cNvSpPr>
                <p:nvPr/>
              </p:nvSpPr>
              <p:spPr bwMode="auto">
                <a:xfrm>
                  <a:off x="2426" y="1752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" name="直接连接符 173068"/>
                <p:cNvSpPr>
                  <a:spLocks noChangeShapeType="1"/>
                </p:cNvSpPr>
                <p:nvPr/>
              </p:nvSpPr>
              <p:spPr bwMode="auto">
                <a:xfrm>
                  <a:off x="1837" y="1752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椭圆 173069"/>
                <p:cNvSpPr>
                  <a:spLocks noChangeArrowheads="1"/>
                </p:cNvSpPr>
                <p:nvPr/>
              </p:nvSpPr>
              <p:spPr bwMode="auto">
                <a:xfrm>
                  <a:off x="1810" y="1815"/>
                  <a:ext cx="46" cy="4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" name="椭圆 173070"/>
                <p:cNvSpPr>
                  <a:spLocks noChangeArrowheads="1"/>
                </p:cNvSpPr>
                <p:nvPr/>
              </p:nvSpPr>
              <p:spPr bwMode="auto">
                <a:xfrm>
                  <a:off x="2399" y="1815"/>
                  <a:ext cx="46" cy="4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组合 173071"/>
              <p:cNvGrpSpPr/>
              <p:nvPr/>
            </p:nvGrpSpPr>
            <p:grpSpPr bwMode="auto">
              <a:xfrm>
                <a:off x="2789" y="1452"/>
                <a:ext cx="635" cy="227"/>
                <a:chOff x="1810" y="1752"/>
                <a:chExt cx="635" cy="227"/>
              </a:xfrm>
            </p:grpSpPr>
            <p:sp>
              <p:nvSpPr>
                <p:cNvPr id="27" name="椭圆 173072"/>
                <p:cNvSpPr>
                  <a:spLocks noChangeArrowheads="1"/>
                </p:cNvSpPr>
                <p:nvPr/>
              </p:nvSpPr>
              <p:spPr bwMode="auto">
                <a:xfrm>
                  <a:off x="1973" y="1752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" name="椭圆 173073"/>
                <p:cNvSpPr>
                  <a:spLocks noChangeArrowheads="1"/>
                </p:cNvSpPr>
                <p:nvPr/>
              </p:nvSpPr>
              <p:spPr bwMode="auto">
                <a:xfrm>
                  <a:off x="2109" y="1752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" name="直接连接符 173074"/>
                <p:cNvSpPr>
                  <a:spLocks noChangeShapeType="1"/>
                </p:cNvSpPr>
                <p:nvPr/>
              </p:nvSpPr>
              <p:spPr bwMode="auto">
                <a:xfrm>
                  <a:off x="2290" y="1842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直接连接符 173075"/>
                <p:cNvSpPr>
                  <a:spLocks noChangeShapeType="1"/>
                </p:cNvSpPr>
                <p:nvPr/>
              </p:nvSpPr>
              <p:spPr bwMode="auto">
                <a:xfrm flipH="1">
                  <a:off x="1837" y="1842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直接连接符 173076"/>
                <p:cNvSpPr>
                  <a:spLocks noChangeShapeType="1"/>
                </p:cNvSpPr>
                <p:nvPr/>
              </p:nvSpPr>
              <p:spPr bwMode="auto">
                <a:xfrm>
                  <a:off x="2426" y="1752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" name="直接连接符 173077"/>
                <p:cNvSpPr>
                  <a:spLocks noChangeShapeType="1"/>
                </p:cNvSpPr>
                <p:nvPr/>
              </p:nvSpPr>
              <p:spPr bwMode="auto">
                <a:xfrm>
                  <a:off x="1837" y="1752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椭圆 173078"/>
                <p:cNvSpPr>
                  <a:spLocks noChangeArrowheads="1"/>
                </p:cNvSpPr>
                <p:nvPr/>
              </p:nvSpPr>
              <p:spPr bwMode="auto">
                <a:xfrm>
                  <a:off x="1810" y="1815"/>
                  <a:ext cx="46" cy="4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" name="椭圆 173079"/>
                <p:cNvSpPr>
                  <a:spLocks noChangeArrowheads="1"/>
                </p:cNvSpPr>
                <p:nvPr/>
              </p:nvSpPr>
              <p:spPr bwMode="auto">
                <a:xfrm>
                  <a:off x="2399" y="1815"/>
                  <a:ext cx="46" cy="4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0" name="组合 173080"/>
              <p:cNvGrpSpPr/>
              <p:nvPr/>
            </p:nvGrpSpPr>
            <p:grpSpPr bwMode="auto">
              <a:xfrm>
                <a:off x="748" y="1344"/>
                <a:ext cx="635" cy="397"/>
                <a:chOff x="2699" y="2550"/>
                <a:chExt cx="635" cy="397"/>
              </a:xfrm>
            </p:grpSpPr>
            <p:sp>
              <p:nvSpPr>
                <p:cNvPr id="23" name="椭圆 173081"/>
                <p:cNvSpPr>
                  <a:spLocks noChangeArrowheads="1"/>
                </p:cNvSpPr>
                <p:nvPr/>
              </p:nvSpPr>
              <p:spPr bwMode="auto">
                <a:xfrm>
                  <a:off x="2699" y="2569"/>
                  <a:ext cx="317" cy="31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" name="文本框 173082"/>
                <p:cNvSpPr txBox="1">
                  <a:spLocks noChangeArrowheads="1"/>
                </p:cNvSpPr>
                <p:nvPr/>
              </p:nvSpPr>
              <p:spPr bwMode="auto">
                <a:xfrm>
                  <a:off x="2726" y="2550"/>
                  <a:ext cx="47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G</a:t>
                  </a:r>
                </a:p>
              </p:txBody>
            </p:sp>
            <p:sp>
              <p:nvSpPr>
                <p:cNvPr id="25" name="文本框 173083"/>
                <p:cNvSpPr txBox="1">
                  <a:spLocks noChangeArrowheads="1"/>
                </p:cNvSpPr>
                <p:nvPr/>
              </p:nvSpPr>
              <p:spPr bwMode="auto">
                <a:xfrm>
                  <a:off x="2744" y="2659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~</a:t>
                  </a:r>
                </a:p>
              </p:txBody>
            </p:sp>
            <p:sp>
              <p:nvSpPr>
                <p:cNvPr id="26" name="直接连接符 173084"/>
                <p:cNvSpPr>
                  <a:spLocks noChangeShapeType="1"/>
                </p:cNvSpPr>
                <p:nvPr/>
              </p:nvSpPr>
              <p:spPr bwMode="auto">
                <a:xfrm>
                  <a:off x="3016" y="2750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直接连接符 173085"/>
              <p:cNvSpPr>
                <a:spLocks noChangeShapeType="1"/>
              </p:cNvSpPr>
              <p:nvPr/>
            </p:nvSpPr>
            <p:spPr bwMode="auto">
              <a:xfrm>
                <a:off x="1927" y="1543"/>
                <a:ext cx="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直接连接符 173086"/>
              <p:cNvSpPr>
                <a:spLocks noChangeShapeType="1"/>
              </p:cNvSpPr>
              <p:nvPr/>
            </p:nvSpPr>
            <p:spPr bwMode="auto">
              <a:xfrm>
                <a:off x="3424" y="1543"/>
                <a:ext cx="4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文本框 173087"/>
              <p:cNvSpPr txBox="1">
                <a:spLocks noChangeArrowheads="1"/>
              </p:cNvSpPr>
              <p:nvPr/>
            </p:nvSpPr>
            <p:spPr bwMode="auto">
              <a:xfrm>
                <a:off x="748" y="1117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4" name="文本框 173088"/>
              <p:cNvSpPr txBox="1">
                <a:spLocks noChangeArrowheads="1"/>
              </p:cNvSpPr>
              <p:nvPr/>
            </p:nvSpPr>
            <p:spPr bwMode="auto">
              <a:xfrm>
                <a:off x="1292" y="1208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" name="文本框 173089"/>
              <p:cNvSpPr txBox="1">
                <a:spLocks noChangeArrowheads="1"/>
              </p:cNvSpPr>
              <p:nvPr/>
            </p:nvSpPr>
            <p:spPr bwMode="auto">
              <a:xfrm>
                <a:off x="2744" y="1181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6" name="文本框 173090"/>
              <p:cNvSpPr txBox="1">
                <a:spLocks noChangeArrowheads="1"/>
              </p:cNvSpPr>
              <p:nvPr/>
            </p:nvSpPr>
            <p:spPr bwMode="auto">
              <a:xfrm>
                <a:off x="1882" y="1208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" name="文本框 173091"/>
              <p:cNvSpPr txBox="1">
                <a:spLocks noChangeArrowheads="1"/>
              </p:cNvSpPr>
              <p:nvPr/>
            </p:nvSpPr>
            <p:spPr bwMode="auto">
              <a:xfrm>
                <a:off x="3288" y="1172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8" name="文本框 173092"/>
              <p:cNvSpPr txBox="1">
                <a:spLocks noChangeArrowheads="1"/>
              </p:cNvSpPr>
              <p:nvPr/>
            </p:nvSpPr>
            <p:spPr bwMode="auto">
              <a:xfrm>
                <a:off x="1519" y="116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T1</a:t>
                </a:r>
              </a:p>
            </p:txBody>
          </p:sp>
          <p:sp>
            <p:nvSpPr>
              <p:cNvPr id="19" name="文本框 173093"/>
              <p:cNvSpPr txBox="1">
                <a:spLocks noChangeArrowheads="1"/>
              </p:cNvSpPr>
              <p:nvPr/>
            </p:nvSpPr>
            <p:spPr bwMode="auto">
              <a:xfrm>
                <a:off x="2971" y="116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T2</a:t>
                </a:r>
              </a:p>
            </p:txBody>
          </p:sp>
          <p:sp>
            <p:nvSpPr>
              <p:cNvPr id="20" name="文本框 173094"/>
              <p:cNvSpPr txBox="1">
                <a:spLocks noChangeArrowheads="1"/>
              </p:cNvSpPr>
              <p:nvPr/>
            </p:nvSpPr>
            <p:spPr bwMode="auto">
              <a:xfrm>
                <a:off x="3696" y="1208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  <p:graphicFrame>
            <p:nvGraphicFramePr>
              <p:cNvPr id="21" name="对象 173095"/>
              <p:cNvGraphicFramePr>
                <a:graphicFrameLocks/>
              </p:cNvGraphicFramePr>
              <p:nvPr/>
            </p:nvGraphicFramePr>
            <p:xfrm>
              <a:off x="3651" y="1525"/>
              <a:ext cx="211" cy="317"/>
            </p:xfrm>
            <a:graphic>
              <a:graphicData uri="http://schemas.openxmlformats.org/presentationml/2006/ole">
                <p:oleObj spid="_x0000_s36865" r:id="rId4" imgW="5486400" imgH="8229600" progId="Equation.3">
                  <p:embed/>
                </p:oleObj>
              </a:graphicData>
            </a:graphic>
          </p:graphicFrame>
          <p:sp>
            <p:nvSpPr>
              <p:cNvPr id="22" name="文本框 173096"/>
              <p:cNvSpPr txBox="1">
                <a:spLocks noChangeArrowheads="1"/>
              </p:cNvSpPr>
              <p:nvPr/>
            </p:nvSpPr>
            <p:spPr bwMode="auto">
              <a:xfrm>
                <a:off x="2290" y="1253"/>
                <a:ext cx="27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7" name="文本框 173097"/>
            <p:cNvSpPr txBox="1">
              <a:spLocks noChangeArrowheads="1"/>
            </p:cNvSpPr>
            <p:nvPr/>
          </p:nvSpPr>
          <p:spPr bwMode="auto">
            <a:xfrm>
              <a:off x="1973" y="1752"/>
              <a:ext cx="63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(a)</a:t>
              </a:r>
            </a:p>
          </p:txBody>
        </p:sp>
      </p:grpSp>
      <p:sp>
        <p:nvSpPr>
          <p:cNvPr id="198" name="文本框 173254"/>
          <p:cNvSpPr txBox="1">
            <a:spLocks noChangeArrowheads="1"/>
          </p:cNvSpPr>
          <p:nvPr/>
        </p:nvSpPr>
        <p:spPr bwMode="auto">
          <a:xfrm>
            <a:off x="1142976" y="5929330"/>
            <a:ext cx="6119812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电力系统的接线图与等值网络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199" name="标题 173255"/>
          <p:cNvSpPr>
            <a:spLocks noGrp="1" noRot="1" noChangeArrowheads="1"/>
          </p:cNvSpPr>
          <p:nvPr>
            <p:ph type="title"/>
          </p:nvPr>
        </p:nvSpPr>
        <p:spPr>
          <a:xfrm>
            <a:off x="250825" y="500042"/>
            <a:ext cx="4319588" cy="1143000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  <a:t>四、运算负荷和运算功率</a:t>
            </a:r>
            <a:r>
              <a:rPr lang="zh-CN" altLang="en-US" sz="2400" dirty="0" smtClean="0">
                <a:solidFill>
                  <a:srgbClr val="CC00CC"/>
                </a:solidFill>
              </a:rPr>
              <a:t/>
            </a:r>
            <a:br>
              <a:rPr lang="zh-CN" altLang="en-US" sz="2400" dirty="0" smtClean="0">
                <a:solidFill>
                  <a:srgbClr val="CC00CC"/>
                </a:solidFill>
              </a:rPr>
            </a:br>
            <a:endParaRPr lang="zh-CN" altLang="en-US" sz="2400" dirty="0" smtClean="0">
              <a:solidFill>
                <a:srgbClr val="CC00CC"/>
              </a:solidFill>
            </a:endParaRPr>
          </a:p>
        </p:txBody>
      </p:sp>
      <p:pic>
        <p:nvPicPr>
          <p:cNvPr id="36880" name="Picture 16" descr="C:\Users\chenliang\AppData\Roaming\Tencent\Users\284798068\QQ\WinTemp\RichOle\XW{M}LO%T$Q0TL@RC)9HSPF.png"/>
          <p:cNvPicPr>
            <a:picLocks noChangeAspect="1" noChangeArrowheads="1"/>
          </p:cNvPicPr>
          <p:nvPr/>
        </p:nvPicPr>
        <p:blipFill>
          <a:blip r:embed="rId5"/>
          <a:srcRect b="4419"/>
          <a:stretch>
            <a:fillRect/>
          </a:stretch>
        </p:blipFill>
        <p:spPr bwMode="auto">
          <a:xfrm>
            <a:off x="714380" y="2928934"/>
            <a:ext cx="7358082" cy="26432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3" name="组合 174106"/>
          <p:cNvGrpSpPr/>
          <p:nvPr/>
        </p:nvGrpSpPr>
        <p:grpSpPr bwMode="auto">
          <a:xfrm>
            <a:off x="285720" y="2801947"/>
            <a:ext cx="8497887" cy="1089026"/>
            <a:chOff x="249" y="300"/>
            <a:chExt cx="5353" cy="686"/>
          </a:xfrm>
        </p:grpSpPr>
        <p:sp>
          <p:nvSpPr>
            <p:cNvPr id="5" name="文本框 174083"/>
            <p:cNvSpPr txBox="1">
              <a:spLocks noChangeArrowheads="1"/>
            </p:cNvSpPr>
            <p:nvPr/>
          </p:nvSpPr>
          <p:spPr bwMode="auto">
            <a:xfrm>
              <a:off x="249" y="346"/>
              <a:ext cx="5353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）负荷功率。           ，为降压变压器低压侧末端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负荷的功率。</a:t>
              </a:r>
            </a:p>
          </p:txBody>
        </p:sp>
        <p:graphicFrame>
          <p:nvGraphicFramePr>
            <p:cNvPr id="6" name="对象 174084"/>
            <p:cNvGraphicFramePr>
              <a:graphicFrameLocks/>
            </p:cNvGraphicFramePr>
            <p:nvPr/>
          </p:nvGraphicFramePr>
          <p:xfrm>
            <a:off x="2109" y="300"/>
            <a:ext cx="998" cy="366"/>
          </p:xfrm>
          <a:graphic>
            <a:graphicData uri="http://schemas.openxmlformats.org/presentationml/2006/ole">
              <p:oleObj spid="_x0000_s37893" r:id="rId4" imgW="24079200" imgH="8839200" progId="Equation.3">
                <p:embed/>
              </p:oleObj>
            </a:graphicData>
          </a:graphic>
        </p:graphicFrame>
      </p:grpSp>
      <p:grpSp>
        <p:nvGrpSpPr>
          <p:cNvPr id="7" name="组合 174109"/>
          <p:cNvGrpSpPr/>
          <p:nvPr/>
        </p:nvGrpSpPr>
        <p:grpSpPr bwMode="auto">
          <a:xfrm>
            <a:off x="285720" y="3689373"/>
            <a:ext cx="8497887" cy="1689101"/>
            <a:chOff x="249" y="908"/>
            <a:chExt cx="5353" cy="1064"/>
          </a:xfrm>
        </p:grpSpPr>
        <p:grpSp>
          <p:nvGrpSpPr>
            <p:cNvPr id="8" name="组合 174107"/>
            <p:cNvGrpSpPr/>
            <p:nvPr/>
          </p:nvGrpSpPr>
          <p:grpSpPr bwMode="auto">
            <a:xfrm>
              <a:off x="249" y="908"/>
              <a:ext cx="5353" cy="1064"/>
              <a:chOff x="249" y="908"/>
              <a:chExt cx="5353" cy="1064"/>
            </a:xfrm>
          </p:grpSpPr>
          <p:sp>
            <p:nvSpPr>
              <p:cNvPr id="10" name="文本框 174085"/>
              <p:cNvSpPr txBox="1">
                <a:spLocks noChangeArrowheads="1"/>
              </p:cNvSpPr>
              <p:nvPr/>
            </p:nvSpPr>
            <p:spPr bwMode="auto">
              <a:xfrm>
                <a:off x="249" y="983"/>
                <a:ext cx="5353" cy="9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（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）等值负荷功率。          ，是在变电所高压母线上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负荷从网络中吸取的功率。那么，节点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向网络中注入功率为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 。</a:t>
                </a:r>
              </a:p>
            </p:txBody>
          </p:sp>
          <p:graphicFrame>
            <p:nvGraphicFramePr>
              <p:cNvPr id="11" name="对象 174086"/>
              <p:cNvGraphicFramePr>
                <a:graphicFrameLocks/>
              </p:cNvGraphicFramePr>
              <p:nvPr/>
            </p:nvGraphicFramePr>
            <p:xfrm>
              <a:off x="2426" y="908"/>
              <a:ext cx="998" cy="372"/>
            </p:xfrm>
            <a:graphic>
              <a:graphicData uri="http://schemas.openxmlformats.org/presentationml/2006/ole">
                <p:oleObj spid="_x0000_s37892" r:id="rId5" imgW="23774400" imgH="8839200" progId="Equation.3">
                  <p:embed/>
                </p:oleObj>
              </a:graphicData>
            </a:graphic>
          </p:graphicFrame>
        </p:grpSp>
        <p:graphicFrame>
          <p:nvGraphicFramePr>
            <p:cNvPr id="9" name="对象 174090"/>
            <p:cNvGraphicFramePr>
              <a:graphicFrameLocks/>
            </p:cNvGraphicFramePr>
            <p:nvPr/>
          </p:nvGraphicFramePr>
          <p:xfrm>
            <a:off x="385" y="1570"/>
            <a:ext cx="349" cy="363"/>
          </p:xfrm>
          <a:graphic>
            <a:graphicData uri="http://schemas.openxmlformats.org/presentationml/2006/ole">
              <p:oleObj spid="_x0000_s37891" r:id="rId6" imgW="7924800" imgH="8229600" progId="Equation.3">
                <p:embed/>
              </p:oleObj>
            </a:graphicData>
          </a:graphic>
        </p:graphicFrame>
      </p:grpSp>
      <p:grpSp>
        <p:nvGrpSpPr>
          <p:cNvPr id="12" name="组合 174108"/>
          <p:cNvGrpSpPr/>
          <p:nvPr/>
        </p:nvGrpSpPr>
        <p:grpSpPr bwMode="auto">
          <a:xfrm>
            <a:off x="285720" y="5287985"/>
            <a:ext cx="8497887" cy="1120774"/>
            <a:chOff x="249" y="1915"/>
            <a:chExt cx="5353" cy="706"/>
          </a:xfrm>
        </p:grpSpPr>
        <p:sp>
          <p:nvSpPr>
            <p:cNvPr id="13" name="文本框 174088"/>
            <p:cNvSpPr txBox="1">
              <a:spLocks noChangeArrowheads="1"/>
            </p:cNvSpPr>
            <p:nvPr/>
          </p:nvSpPr>
          <p:spPr bwMode="auto">
            <a:xfrm>
              <a:off x="249" y="1981"/>
              <a:ext cx="5353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）运算负荷。          ，为从电力线路阻抗中流出的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功率。且</a:t>
              </a:r>
            </a:p>
          </p:txBody>
        </p:sp>
        <p:graphicFrame>
          <p:nvGraphicFramePr>
            <p:cNvPr id="14" name="对象 174089"/>
            <p:cNvGraphicFramePr>
              <a:graphicFrameLocks/>
            </p:cNvGraphicFramePr>
            <p:nvPr/>
          </p:nvGraphicFramePr>
          <p:xfrm>
            <a:off x="2018" y="1915"/>
            <a:ext cx="953" cy="379"/>
          </p:xfrm>
          <a:graphic>
            <a:graphicData uri="http://schemas.openxmlformats.org/presentationml/2006/ole">
              <p:oleObj spid="_x0000_s37890" r:id="rId7" imgW="23774400" imgH="9448800" progId="Equation.3">
                <p:embed/>
              </p:oleObj>
            </a:graphicData>
          </a:graphic>
        </p:graphicFrame>
      </p:grpSp>
      <p:graphicFrame>
        <p:nvGraphicFramePr>
          <p:cNvPr id="15" name="对象 174091"/>
          <p:cNvGraphicFramePr>
            <a:graphicFrameLocks/>
          </p:cNvGraphicFramePr>
          <p:nvPr/>
        </p:nvGraphicFramePr>
        <p:xfrm>
          <a:off x="1725582" y="5964261"/>
          <a:ext cx="5472113" cy="750887"/>
        </p:xfrm>
        <a:graphic>
          <a:graphicData uri="http://schemas.openxmlformats.org/presentationml/2006/ole">
            <p:oleObj spid="_x0000_s37889" r:id="rId8" imgW="68884800" imgH="9448800" progId="Equation.3">
              <p:embed/>
            </p:oleObj>
          </a:graphicData>
        </a:graphic>
      </p:graphicFrame>
      <p:pic>
        <p:nvPicPr>
          <p:cNvPr id="23" name="Picture 16" descr="C:\Users\chenliang\AppData\Roaming\Tencent\Users\284798068\QQ\WinTemp\RichOle\XW{M}LO%T$Q0TL@RC)9HSPF.png"/>
          <p:cNvPicPr>
            <a:picLocks noChangeAspect="1" noChangeArrowheads="1"/>
          </p:cNvPicPr>
          <p:nvPr/>
        </p:nvPicPr>
        <p:blipFill>
          <a:blip r:embed="rId9"/>
          <a:srcRect b="4419"/>
          <a:stretch>
            <a:fillRect/>
          </a:stretch>
        </p:blipFill>
        <p:spPr bwMode="auto">
          <a:xfrm>
            <a:off x="714380" y="214290"/>
            <a:ext cx="7358082" cy="26432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grpSp>
        <p:nvGrpSpPr>
          <p:cNvPr id="5" name="组合 174105"/>
          <p:cNvGrpSpPr/>
          <p:nvPr/>
        </p:nvGrpSpPr>
        <p:grpSpPr bwMode="auto">
          <a:xfrm>
            <a:off x="214282" y="1357298"/>
            <a:ext cx="8497887" cy="2343151"/>
            <a:chOff x="249" y="2704"/>
            <a:chExt cx="5353" cy="1476"/>
          </a:xfrm>
        </p:grpSpPr>
        <p:sp>
          <p:nvSpPr>
            <p:cNvPr id="6" name="文本框 174092"/>
            <p:cNvSpPr txBox="1">
              <a:spLocks noChangeArrowheads="1"/>
            </p:cNvSpPr>
            <p:nvPr/>
          </p:nvSpPr>
          <p:spPr bwMode="auto">
            <a:xfrm>
              <a:off x="249" y="2842"/>
              <a:ext cx="5353" cy="1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可见：变电所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的运算负荷等于等值负荷功率   加上与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变电所高压母线所连电力线路导纳功率的一半     ；也等于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变电所低压侧的负荷功率   加上变压器阻抗和导纳中的功率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损耗      和      ，再加上与该变电所高压线线所连电力线</a:t>
              </a:r>
            </a:p>
          </p:txBody>
        </p:sp>
        <p:graphicFrame>
          <p:nvGraphicFramePr>
            <p:cNvPr id="7" name="对象 174093"/>
            <p:cNvGraphicFramePr>
              <a:graphicFrameLocks/>
            </p:cNvGraphicFramePr>
            <p:nvPr/>
          </p:nvGraphicFramePr>
          <p:xfrm>
            <a:off x="4558" y="2704"/>
            <a:ext cx="258" cy="408"/>
          </p:xfrm>
          <a:graphic>
            <a:graphicData uri="http://schemas.openxmlformats.org/presentationml/2006/ole">
              <p:oleObj spid="_x0000_s38918" r:id="rId4" imgW="5181600" imgH="8229600" progId="Equation.3">
                <p:embed/>
              </p:oleObj>
            </a:graphicData>
          </a:graphic>
        </p:graphicFrame>
        <p:graphicFrame>
          <p:nvGraphicFramePr>
            <p:cNvPr id="8" name="对象 174094"/>
            <p:cNvGraphicFramePr>
              <a:graphicFrameLocks/>
            </p:cNvGraphicFramePr>
            <p:nvPr/>
          </p:nvGraphicFramePr>
          <p:xfrm>
            <a:off x="4195" y="3077"/>
            <a:ext cx="454" cy="398"/>
          </p:xfrm>
          <a:graphic>
            <a:graphicData uri="http://schemas.openxmlformats.org/presentationml/2006/ole">
              <p:oleObj spid="_x0000_s38917" r:id="rId5" imgW="10058400" imgH="8839200" progId="Equation.3">
                <p:embed/>
              </p:oleObj>
            </a:graphicData>
          </a:graphic>
        </p:graphicFrame>
        <p:graphicFrame>
          <p:nvGraphicFramePr>
            <p:cNvPr id="9" name="对象 174095"/>
            <p:cNvGraphicFramePr>
              <a:graphicFrameLocks/>
            </p:cNvGraphicFramePr>
            <p:nvPr/>
          </p:nvGraphicFramePr>
          <p:xfrm>
            <a:off x="2472" y="3430"/>
            <a:ext cx="273" cy="409"/>
          </p:xfrm>
          <a:graphic>
            <a:graphicData uri="http://schemas.openxmlformats.org/presentationml/2006/ole">
              <p:oleObj spid="_x0000_s38916" r:id="rId6" imgW="5486400" imgH="8229600" progId="Equation.3">
                <p:embed/>
              </p:oleObj>
            </a:graphicData>
          </a:graphic>
        </p:graphicFrame>
        <p:graphicFrame>
          <p:nvGraphicFramePr>
            <p:cNvPr id="10" name="对象 174096"/>
            <p:cNvGraphicFramePr>
              <a:graphicFrameLocks/>
            </p:cNvGraphicFramePr>
            <p:nvPr/>
          </p:nvGraphicFramePr>
          <p:xfrm>
            <a:off x="748" y="3748"/>
            <a:ext cx="544" cy="409"/>
          </p:xfrm>
          <a:graphic>
            <a:graphicData uri="http://schemas.openxmlformats.org/presentationml/2006/ole">
              <p:oleObj spid="_x0000_s38915" r:id="rId7" imgW="10972800" imgH="8229600" progId="Equation.3">
                <p:embed/>
              </p:oleObj>
            </a:graphicData>
          </a:graphic>
        </p:graphicFrame>
        <p:graphicFrame>
          <p:nvGraphicFramePr>
            <p:cNvPr id="11" name="对象 174097"/>
            <p:cNvGraphicFramePr>
              <a:graphicFrameLocks/>
            </p:cNvGraphicFramePr>
            <p:nvPr/>
          </p:nvGraphicFramePr>
          <p:xfrm>
            <a:off x="1565" y="3775"/>
            <a:ext cx="499" cy="402"/>
          </p:xfrm>
          <a:graphic>
            <a:graphicData uri="http://schemas.openxmlformats.org/presentationml/2006/ole">
              <p:oleObj spid="_x0000_s38914" r:id="rId8" imgW="10972800" imgH="8839200" progId="Equation.3">
                <p:embed/>
              </p:oleObj>
            </a:graphicData>
          </a:graphic>
        </p:graphicFrame>
      </p:grpSp>
      <p:grpSp>
        <p:nvGrpSpPr>
          <p:cNvPr id="12" name="组合 175110"/>
          <p:cNvGrpSpPr/>
          <p:nvPr/>
        </p:nvGrpSpPr>
        <p:grpSpPr bwMode="auto">
          <a:xfrm>
            <a:off x="214282" y="3571876"/>
            <a:ext cx="8497887" cy="1701799"/>
            <a:chOff x="249" y="255"/>
            <a:chExt cx="5353" cy="1072"/>
          </a:xfrm>
        </p:grpSpPr>
        <p:sp>
          <p:nvSpPr>
            <p:cNvPr id="13" name="文本框 175107"/>
            <p:cNvSpPr txBox="1">
              <a:spLocks noChangeArrowheads="1"/>
            </p:cNvSpPr>
            <p:nvPr/>
          </p:nvSpPr>
          <p:spPr bwMode="auto">
            <a:xfrm>
              <a:off x="249" y="338"/>
              <a:ext cx="5353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路导纳功率的一半     。如果该变电所高压母线接有多回电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力线路时，此时电力线路导纳功率的一半，应包括与该变电所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高压母线所连接的全部电力线路导纳功率的一半。</a:t>
              </a:r>
            </a:p>
          </p:txBody>
        </p:sp>
        <p:graphicFrame>
          <p:nvGraphicFramePr>
            <p:cNvPr id="14" name="对象 175108"/>
            <p:cNvGraphicFramePr>
              <a:graphicFrameLocks/>
            </p:cNvGraphicFramePr>
            <p:nvPr/>
          </p:nvGraphicFramePr>
          <p:xfrm>
            <a:off x="1882" y="255"/>
            <a:ext cx="454" cy="399"/>
          </p:xfrm>
          <a:graphic>
            <a:graphicData uri="http://schemas.openxmlformats.org/presentationml/2006/ole">
              <p:oleObj spid="_x0000_s38913" r:id="rId9" imgW="10058400" imgH="8839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32" y="28572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电力线路和变压器的功率损耗和电压降落</a:t>
            </a:r>
            <a:endParaRPr lang="zh-CN" altLang="en-US" sz="2000" dirty="0"/>
          </a:p>
        </p:txBody>
      </p:sp>
      <p:sp>
        <p:nvSpPr>
          <p:cNvPr id="3" name="文本框 176131"/>
          <p:cNvSpPr txBox="1">
            <a:spLocks noChangeArrowheads="1"/>
          </p:cNvSpPr>
          <p:nvPr/>
        </p:nvSpPr>
        <p:spPr bwMode="auto">
          <a:xfrm>
            <a:off x="395288" y="2252955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运算功率</a:t>
            </a:r>
          </a:p>
        </p:txBody>
      </p:sp>
      <p:grpSp>
        <p:nvGrpSpPr>
          <p:cNvPr id="5" name="组合 176145"/>
          <p:cNvGrpSpPr/>
          <p:nvPr/>
        </p:nvGrpSpPr>
        <p:grpSpPr bwMode="auto">
          <a:xfrm>
            <a:off x="395288" y="2603498"/>
            <a:ext cx="8569325" cy="611188"/>
            <a:chOff x="249" y="668"/>
            <a:chExt cx="5398" cy="385"/>
          </a:xfrm>
        </p:grpSpPr>
        <p:sp>
          <p:nvSpPr>
            <p:cNvPr id="6" name="文本框 176132"/>
            <p:cNvSpPr txBox="1">
              <a:spLocks noChangeArrowheads="1"/>
            </p:cNvSpPr>
            <p:nvPr/>
          </p:nvSpPr>
          <p:spPr bwMode="auto">
            <a:xfrm>
              <a:off x="249" y="738"/>
              <a:ext cx="539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）电源功率。          ，为发电机电压母线送至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系统功率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</a:p>
          </p:txBody>
        </p:sp>
        <p:graphicFrame>
          <p:nvGraphicFramePr>
            <p:cNvPr id="7" name="对象 176133"/>
            <p:cNvGraphicFramePr>
              <a:graphicFrameLocks/>
            </p:cNvGraphicFramePr>
            <p:nvPr/>
          </p:nvGraphicFramePr>
          <p:xfrm>
            <a:off x="1657" y="668"/>
            <a:ext cx="998" cy="385"/>
          </p:xfrm>
          <a:graphic>
            <a:graphicData uri="http://schemas.openxmlformats.org/presentationml/2006/ole">
              <p:oleObj spid="_x0000_s39941" r:id="rId4" imgW="22860000" imgH="8839200" progId="Equation.3">
                <p:embed/>
              </p:oleObj>
            </a:graphicData>
          </a:graphic>
        </p:graphicFrame>
      </p:grpSp>
      <p:grpSp>
        <p:nvGrpSpPr>
          <p:cNvPr id="8" name="组合 176146"/>
          <p:cNvGrpSpPr/>
          <p:nvPr/>
        </p:nvGrpSpPr>
        <p:grpSpPr bwMode="auto">
          <a:xfrm>
            <a:off x="395288" y="3109923"/>
            <a:ext cx="8569325" cy="1676399"/>
            <a:chOff x="249" y="1369"/>
            <a:chExt cx="5398" cy="1056"/>
          </a:xfrm>
        </p:grpSpPr>
        <p:sp>
          <p:nvSpPr>
            <p:cNvPr id="9" name="文本框 176134"/>
            <p:cNvSpPr txBox="1">
              <a:spLocks noChangeArrowheads="1"/>
            </p:cNvSpPr>
            <p:nvPr/>
          </p:nvSpPr>
          <p:spPr bwMode="auto">
            <a:xfrm>
              <a:off x="249" y="1436"/>
              <a:ext cx="5398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）等值电源功率。           ，为发电机高压母线向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系统送出的功率，也称节点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向系统里注入的功率，此时定为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正值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" name="对象 176135"/>
            <p:cNvGraphicFramePr>
              <a:graphicFrameLocks/>
            </p:cNvGraphicFramePr>
            <p:nvPr/>
          </p:nvGraphicFramePr>
          <p:xfrm>
            <a:off x="2426" y="1369"/>
            <a:ext cx="1044" cy="383"/>
          </p:xfrm>
          <a:graphic>
            <a:graphicData uri="http://schemas.openxmlformats.org/presentationml/2006/ole">
              <p:oleObj spid="_x0000_s39940" r:id="rId5" imgW="24079200" imgH="8839200" progId="Equation.3">
                <p:embed/>
              </p:oleObj>
            </a:graphicData>
          </a:graphic>
        </p:graphicFrame>
      </p:grpSp>
      <p:graphicFrame>
        <p:nvGraphicFramePr>
          <p:cNvPr id="11" name="对象 176136"/>
          <p:cNvGraphicFramePr>
            <a:graphicFrameLocks/>
          </p:cNvGraphicFramePr>
          <p:nvPr/>
        </p:nvGraphicFramePr>
        <p:xfrm>
          <a:off x="3203575" y="4243399"/>
          <a:ext cx="3455988" cy="828675"/>
        </p:xfrm>
        <a:graphic>
          <a:graphicData uri="http://schemas.openxmlformats.org/presentationml/2006/ole">
            <p:oleObj spid="_x0000_s39939" r:id="rId6" imgW="36880800" imgH="8839200" progId="Equation.3">
              <p:embed/>
            </p:oleObj>
          </a:graphicData>
        </a:graphic>
      </p:graphicFrame>
      <p:grpSp>
        <p:nvGrpSpPr>
          <p:cNvPr id="12" name="组合 176144"/>
          <p:cNvGrpSpPr/>
          <p:nvPr/>
        </p:nvGrpSpPr>
        <p:grpSpPr bwMode="auto">
          <a:xfrm>
            <a:off x="395288" y="4995885"/>
            <a:ext cx="8569325" cy="1719263"/>
            <a:chOff x="249" y="2721"/>
            <a:chExt cx="5398" cy="1083"/>
          </a:xfrm>
        </p:grpSpPr>
        <p:grpSp>
          <p:nvGrpSpPr>
            <p:cNvPr id="13" name="组合 176143"/>
            <p:cNvGrpSpPr/>
            <p:nvPr/>
          </p:nvGrpSpPr>
          <p:grpSpPr bwMode="auto">
            <a:xfrm>
              <a:off x="249" y="2721"/>
              <a:ext cx="5398" cy="1083"/>
              <a:chOff x="249" y="2721"/>
              <a:chExt cx="5398" cy="1083"/>
            </a:xfrm>
          </p:grpSpPr>
          <p:sp>
            <p:nvSpPr>
              <p:cNvPr id="15" name="文本框 176137"/>
              <p:cNvSpPr txBox="1">
                <a:spLocks noChangeArrowheads="1"/>
              </p:cNvSpPr>
              <p:nvPr/>
            </p:nvSpPr>
            <p:spPr bwMode="auto">
              <a:xfrm>
                <a:off x="249" y="2815"/>
                <a:ext cx="5398" cy="9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（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）运算功率。           ，为流入电力线路阻抗中的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功率。且             ，也为等值电源功率与电力线路首端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 smtClean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导纳损耗的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功率之差。</a:t>
                </a:r>
              </a:p>
            </p:txBody>
          </p:sp>
          <p:graphicFrame>
            <p:nvGraphicFramePr>
              <p:cNvPr id="16" name="对象 176138"/>
              <p:cNvGraphicFramePr>
                <a:graphicFrameLocks/>
              </p:cNvGraphicFramePr>
              <p:nvPr/>
            </p:nvGraphicFramePr>
            <p:xfrm>
              <a:off x="2018" y="2721"/>
              <a:ext cx="1043" cy="410"/>
            </p:xfrm>
            <a:graphic>
              <a:graphicData uri="http://schemas.openxmlformats.org/presentationml/2006/ole">
                <p:oleObj spid="_x0000_s39938" r:id="rId7" imgW="24079200" imgH="9448800" progId="Equation.3">
                  <p:embed/>
                </p:oleObj>
              </a:graphicData>
            </a:graphic>
          </p:graphicFrame>
        </p:grpSp>
        <p:graphicFrame>
          <p:nvGraphicFramePr>
            <p:cNvPr id="14" name="对象 176139"/>
            <p:cNvGraphicFramePr>
              <a:graphicFrameLocks/>
            </p:cNvGraphicFramePr>
            <p:nvPr/>
          </p:nvGraphicFramePr>
          <p:xfrm>
            <a:off x="1156" y="3075"/>
            <a:ext cx="1134" cy="428"/>
          </p:xfrm>
          <a:graphic>
            <a:graphicData uri="http://schemas.openxmlformats.org/presentationml/2006/ole">
              <p:oleObj spid="_x0000_s39937" r:id="rId8" imgW="24993600" imgH="9448800" progId="Equation.3">
                <p:embed/>
              </p:oleObj>
            </a:graphicData>
          </a:graphic>
        </p:graphicFrame>
      </p:grpSp>
      <p:pic>
        <p:nvPicPr>
          <p:cNvPr id="18" name="Picture 16" descr="C:\Users\chenliang\AppData\Roaming\Tencent\Users\284798068\QQ\WinTemp\RichOle\XW{M}LO%T$Q0TL@RC)9HSPF.png"/>
          <p:cNvPicPr>
            <a:picLocks noChangeAspect="1" noChangeArrowheads="1"/>
          </p:cNvPicPr>
          <p:nvPr/>
        </p:nvPicPr>
        <p:blipFill>
          <a:blip r:embed="rId9"/>
          <a:srcRect t="2561" b="4419"/>
          <a:stretch>
            <a:fillRect/>
          </a:stretch>
        </p:blipFill>
        <p:spPr bwMode="auto">
          <a:xfrm>
            <a:off x="2186940" y="281010"/>
            <a:ext cx="6960235" cy="24336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373" y="142852"/>
            <a:ext cx="7417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开式网络的潮流计算</a:t>
            </a:r>
            <a:endParaRPr lang="zh-CN" altLang="en-US" sz="2400" dirty="0"/>
          </a:p>
        </p:txBody>
      </p:sp>
      <p:sp>
        <p:nvSpPr>
          <p:cNvPr id="3" name="文本框 179203"/>
          <p:cNvSpPr txBox="1">
            <a:spLocks noChangeArrowheads="1"/>
          </p:cNvSpPr>
          <p:nvPr/>
        </p:nvSpPr>
        <p:spPr bwMode="auto">
          <a:xfrm>
            <a:off x="323850" y="928670"/>
            <a:ext cx="8820150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电力系统的接线方式包括开式网络、环形网络和两端网络。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其中开式网络又包括无备用和有备用的放射式、干线式和链式网</a:t>
            </a:r>
          </a:p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络。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电力系统的潮流计算包括网络中的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电压计算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两方面的内容。</a:t>
            </a:r>
          </a:p>
        </p:txBody>
      </p:sp>
      <p:grpSp>
        <p:nvGrpSpPr>
          <p:cNvPr id="5" name="组合 179283"/>
          <p:cNvGrpSpPr/>
          <p:nvPr/>
        </p:nvGrpSpPr>
        <p:grpSpPr bwMode="auto">
          <a:xfrm>
            <a:off x="179388" y="2826372"/>
            <a:ext cx="2124075" cy="2016125"/>
            <a:chOff x="113" y="1752"/>
            <a:chExt cx="1338" cy="1270"/>
          </a:xfrm>
        </p:grpSpPr>
        <p:sp>
          <p:nvSpPr>
            <p:cNvPr id="6" name="文本框 179277"/>
            <p:cNvSpPr txBox="1">
              <a:spLocks noChangeArrowheads="1"/>
            </p:cNvSpPr>
            <p:nvPr/>
          </p:nvSpPr>
          <p:spPr bwMode="auto">
            <a:xfrm>
              <a:off x="113" y="2568"/>
              <a:ext cx="133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无备用放射式</a:t>
              </a:r>
              <a:endParaRPr lang="en-US" altLang="zh-CN" sz="20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" name="组合 179204"/>
            <p:cNvGrpSpPr/>
            <p:nvPr/>
          </p:nvGrpSpPr>
          <p:grpSpPr bwMode="auto">
            <a:xfrm>
              <a:off x="204" y="1752"/>
              <a:ext cx="1089" cy="1270"/>
              <a:chOff x="612" y="663"/>
              <a:chExt cx="1089" cy="1270"/>
            </a:xfrm>
          </p:grpSpPr>
          <p:sp>
            <p:nvSpPr>
              <p:cNvPr id="8" name="矩形 179205"/>
              <p:cNvSpPr>
                <a:spLocks noChangeArrowheads="1"/>
              </p:cNvSpPr>
              <p:nvPr/>
            </p:nvSpPr>
            <p:spPr bwMode="auto">
              <a:xfrm>
                <a:off x="612" y="935"/>
                <a:ext cx="227" cy="227"/>
              </a:xfrm>
              <a:prstGeom prst="rect">
                <a:avLst/>
              </a:prstGeom>
              <a:pattFill prst="ltUpDiag">
                <a:fgClr>
                  <a:srgbClr val="333399"/>
                </a:fgClr>
                <a:bgClr>
                  <a:srgbClr val="171747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椭圆 179206"/>
              <p:cNvSpPr>
                <a:spLocks noChangeArrowheads="1"/>
              </p:cNvSpPr>
              <p:nvPr/>
            </p:nvSpPr>
            <p:spPr bwMode="auto">
              <a:xfrm>
                <a:off x="1383" y="663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椭圆 179207"/>
              <p:cNvSpPr>
                <a:spLocks noChangeArrowheads="1"/>
              </p:cNvSpPr>
              <p:nvPr/>
            </p:nvSpPr>
            <p:spPr bwMode="auto">
              <a:xfrm>
                <a:off x="1565" y="1207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椭圆 179208"/>
              <p:cNvSpPr>
                <a:spLocks noChangeArrowheads="1"/>
              </p:cNvSpPr>
              <p:nvPr/>
            </p:nvSpPr>
            <p:spPr bwMode="auto">
              <a:xfrm>
                <a:off x="1020" y="1797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直接连接符 179209"/>
              <p:cNvSpPr>
                <a:spLocks noChangeShapeType="1"/>
              </p:cNvSpPr>
              <p:nvPr/>
            </p:nvSpPr>
            <p:spPr bwMode="auto">
              <a:xfrm flipV="1">
                <a:off x="839" y="754"/>
                <a:ext cx="544" cy="18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直接连接符 179210"/>
              <p:cNvSpPr>
                <a:spLocks noChangeShapeType="1"/>
              </p:cNvSpPr>
              <p:nvPr/>
            </p:nvSpPr>
            <p:spPr bwMode="auto">
              <a:xfrm>
                <a:off x="839" y="1071"/>
                <a:ext cx="726" cy="18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直接连接符 179211"/>
              <p:cNvSpPr>
                <a:spLocks noChangeShapeType="1"/>
              </p:cNvSpPr>
              <p:nvPr/>
            </p:nvSpPr>
            <p:spPr bwMode="auto">
              <a:xfrm>
                <a:off x="839" y="1162"/>
                <a:ext cx="227" cy="635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" name="组合 179284"/>
          <p:cNvGrpSpPr/>
          <p:nvPr/>
        </p:nvGrpSpPr>
        <p:grpSpPr bwMode="auto">
          <a:xfrm>
            <a:off x="2411413" y="2897809"/>
            <a:ext cx="3816350" cy="1552575"/>
            <a:chOff x="1519" y="1888"/>
            <a:chExt cx="2404" cy="978"/>
          </a:xfrm>
        </p:grpSpPr>
        <p:sp>
          <p:nvSpPr>
            <p:cNvPr id="16" name="文本框 179278"/>
            <p:cNvSpPr txBox="1">
              <a:spLocks noChangeArrowheads="1"/>
            </p:cNvSpPr>
            <p:nvPr/>
          </p:nvSpPr>
          <p:spPr bwMode="auto">
            <a:xfrm>
              <a:off x="1882" y="2614"/>
              <a:ext cx="133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无备用干线式</a:t>
              </a:r>
              <a:endParaRPr lang="en-US" altLang="zh-CN" sz="20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7" name="组合 179212"/>
            <p:cNvGrpSpPr/>
            <p:nvPr/>
          </p:nvGrpSpPr>
          <p:grpSpPr bwMode="auto">
            <a:xfrm>
              <a:off x="1519" y="1888"/>
              <a:ext cx="2404" cy="771"/>
              <a:chOff x="2653" y="935"/>
              <a:chExt cx="2404" cy="771"/>
            </a:xfrm>
          </p:grpSpPr>
          <p:sp>
            <p:nvSpPr>
              <p:cNvPr id="18" name="矩形 179213"/>
              <p:cNvSpPr>
                <a:spLocks noChangeArrowheads="1"/>
              </p:cNvSpPr>
              <p:nvPr/>
            </p:nvSpPr>
            <p:spPr bwMode="auto">
              <a:xfrm>
                <a:off x="2653" y="1071"/>
                <a:ext cx="227" cy="227"/>
              </a:xfrm>
              <a:prstGeom prst="rect">
                <a:avLst/>
              </a:prstGeom>
              <a:pattFill prst="ltUpDiag">
                <a:fgClr>
                  <a:srgbClr val="333399"/>
                </a:fgClr>
                <a:bgClr>
                  <a:srgbClr val="171747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椭圆 179214"/>
              <p:cNvSpPr>
                <a:spLocks noChangeArrowheads="1"/>
              </p:cNvSpPr>
              <p:nvPr/>
            </p:nvSpPr>
            <p:spPr bwMode="auto">
              <a:xfrm>
                <a:off x="3515" y="1117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椭圆 179215"/>
              <p:cNvSpPr>
                <a:spLocks noChangeArrowheads="1"/>
              </p:cNvSpPr>
              <p:nvPr/>
            </p:nvSpPr>
            <p:spPr bwMode="auto">
              <a:xfrm>
                <a:off x="4150" y="1117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椭圆 179216"/>
              <p:cNvSpPr>
                <a:spLocks noChangeArrowheads="1"/>
              </p:cNvSpPr>
              <p:nvPr/>
            </p:nvSpPr>
            <p:spPr bwMode="auto">
              <a:xfrm>
                <a:off x="4332" y="1570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椭圆 179217"/>
              <p:cNvSpPr>
                <a:spLocks noChangeArrowheads="1"/>
              </p:cNvSpPr>
              <p:nvPr/>
            </p:nvSpPr>
            <p:spPr bwMode="auto">
              <a:xfrm>
                <a:off x="3379" y="1570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椭圆 179218"/>
              <p:cNvSpPr>
                <a:spLocks noChangeArrowheads="1"/>
              </p:cNvSpPr>
              <p:nvPr/>
            </p:nvSpPr>
            <p:spPr bwMode="auto">
              <a:xfrm>
                <a:off x="4921" y="935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4" name="直接连接符 179219"/>
              <p:cNvSpPr>
                <a:spLocks noChangeShapeType="1"/>
              </p:cNvSpPr>
              <p:nvPr/>
            </p:nvSpPr>
            <p:spPr bwMode="auto">
              <a:xfrm>
                <a:off x="2880" y="1162"/>
                <a:ext cx="635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5" name="直接连接符 179220"/>
              <p:cNvSpPr>
                <a:spLocks noChangeShapeType="1"/>
              </p:cNvSpPr>
              <p:nvPr/>
            </p:nvSpPr>
            <p:spPr bwMode="auto">
              <a:xfrm>
                <a:off x="3651" y="1162"/>
                <a:ext cx="49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6" name="直接连接符 179221"/>
              <p:cNvSpPr>
                <a:spLocks noChangeShapeType="1"/>
              </p:cNvSpPr>
              <p:nvPr/>
            </p:nvSpPr>
            <p:spPr bwMode="auto">
              <a:xfrm flipV="1">
                <a:off x="4286" y="1026"/>
                <a:ext cx="635" cy="13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直接连接符 179222"/>
              <p:cNvSpPr>
                <a:spLocks noChangeShapeType="1"/>
              </p:cNvSpPr>
              <p:nvPr/>
            </p:nvSpPr>
            <p:spPr bwMode="auto">
              <a:xfrm flipH="1">
                <a:off x="3470" y="1253"/>
                <a:ext cx="90" cy="31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直接连接符 179223"/>
              <p:cNvSpPr>
                <a:spLocks noChangeShapeType="1"/>
              </p:cNvSpPr>
              <p:nvPr/>
            </p:nvSpPr>
            <p:spPr bwMode="auto">
              <a:xfrm>
                <a:off x="4241" y="1253"/>
                <a:ext cx="136" cy="31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组合 179285"/>
          <p:cNvGrpSpPr/>
          <p:nvPr/>
        </p:nvGrpSpPr>
        <p:grpSpPr bwMode="auto">
          <a:xfrm>
            <a:off x="6264275" y="2824784"/>
            <a:ext cx="2879725" cy="1943100"/>
            <a:chOff x="3946" y="1842"/>
            <a:chExt cx="1814" cy="1224"/>
          </a:xfrm>
        </p:grpSpPr>
        <p:sp>
          <p:nvSpPr>
            <p:cNvPr id="30" name="文本框 179279"/>
            <p:cNvSpPr txBox="1">
              <a:spLocks noChangeArrowheads="1"/>
            </p:cNvSpPr>
            <p:nvPr/>
          </p:nvSpPr>
          <p:spPr bwMode="auto">
            <a:xfrm>
              <a:off x="4095" y="2814"/>
              <a:ext cx="133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无备用链式</a:t>
              </a:r>
              <a:endParaRPr lang="en-US" altLang="zh-CN" sz="20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1" name="组合 179224"/>
            <p:cNvGrpSpPr/>
            <p:nvPr/>
          </p:nvGrpSpPr>
          <p:grpSpPr bwMode="auto">
            <a:xfrm>
              <a:off x="3946" y="1842"/>
              <a:ext cx="1814" cy="998"/>
              <a:chOff x="1746" y="2432"/>
              <a:chExt cx="1814" cy="998"/>
            </a:xfrm>
          </p:grpSpPr>
          <p:sp>
            <p:nvSpPr>
              <p:cNvPr id="32" name="矩形 179225"/>
              <p:cNvSpPr>
                <a:spLocks noChangeArrowheads="1"/>
              </p:cNvSpPr>
              <p:nvPr/>
            </p:nvSpPr>
            <p:spPr bwMode="auto">
              <a:xfrm>
                <a:off x="1746" y="2750"/>
                <a:ext cx="227" cy="227"/>
              </a:xfrm>
              <a:prstGeom prst="rect">
                <a:avLst/>
              </a:prstGeom>
              <a:pattFill prst="ltUpDiag">
                <a:fgClr>
                  <a:srgbClr val="333399"/>
                </a:fgClr>
                <a:bgClr>
                  <a:srgbClr val="171747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椭圆 179226"/>
              <p:cNvSpPr>
                <a:spLocks noChangeArrowheads="1"/>
              </p:cNvSpPr>
              <p:nvPr/>
            </p:nvSpPr>
            <p:spPr bwMode="auto">
              <a:xfrm>
                <a:off x="3152" y="3294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椭圆 179227"/>
              <p:cNvSpPr>
                <a:spLocks noChangeArrowheads="1"/>
              </p:cNvSpPr>
              <p:nvPr/>
            </p:nvSpPr>
            <p:spPr bwMode="auto">
              <a:xfrm>
                <a:off x="2245" y="3294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椭圆 179228"/>
              <p:cNvSpPr>
                <a:spLocks noChangeArrowheads="1"/>
              </p:cNvSpPr>
              <p:nvPr/>
            </p:nvSpPr>
            <p:spPr bwMode="auto">
              <a:xfrm>
                <a:off x="3424" y="2432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椭圆 179229"/>
              <p:cNvSpPr>
                <a:spLocks noChangeArrowheads="1"/>
              </p:cNvSpPr>
              <p:nvPr/>
            </p:nvSpPr>
            <p:spPr bwMode="auto">
              <a:xfrm>
                <a:off x="2472" y="2478"/>
                <a:ext cx="136" cy="136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直接连接符 179230"/>
              <p:cNvSpPr>
                <a:spLocks noChangeShapeType="1"/>
              </p:cNvSpPr>
              <p:nvPr/>
            </p:nvSpPr>
            <p:spPr bwMode="auto">
              <a:xfrm flipV="1">
                <a:off x="1973" y="2568"/>
                <a:ext cx="499" cy="18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直接连接符 179231"/>
              <p:cNvSpPr>
                <a:spLocks noChangeShapeType="1"/>
              </p:cNvSpPr>
              <p:nvPr/>
            </p:nvSpPr>
            <p:spPr bwMode="auto">
              <a:xfrm flipV="1">
                <a:off x="2608" y="2523"/>
                <a:ext cx="816" cy="45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直接连接符 179232"/>
              <p:cNvSpPr>
                <a:spLocks noChangeShapeType="1"/>
              </p:cNvSpPr>
              <p:nvPr/>
            </p:nvSpPr>
            <p:spPr bwMode="auto">
              <a:xfrm>
                <a:off x="1973" y="2976"/>
                <a:ext cx="272" cy="36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直接连接符 179233"/>
              <p:cNvSpPr>
                <a:spLocks noChangeShapeType="1"/>
              </p:cNvSpPr>
              <p:nvPr/>
            </p:nvSpPr>
            <p:spPr bwMode="auto">
              <a:xfrm>
                <a:off x="2381" y="3385"/>
                <a:ext cx="77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1" name="组合 179286"/>
          <p:cNvGrpSpPr/>
          <p:nvPr/>
        </p:nvGrpSpPr>
        <p:grpSpPr bwMode="auto">
          <a:xfrm>
            <a:off x="287338" y="4524997"/>
            <a:ext cx="2124075" cy="2233612"/>
            <a:chOff x="181" y="2913"/>
            <a:chExt cx="1338" cy="1407"/>
          </a:xfrm>
        </p:grpSpPr>
        <p:sp>
          <p:nvSpPr>
            <p:cNvPr id="42" name="文本框 179280"/>
            <p:cNvSpPr txBox="1">
              <a:spLocks noChangeArrowheads="1"/>
            </p:cNvSpPr>
            <p:nvPr/>
          </p:nvSpPr>
          <p:spPr bwMode="auto">
            <a:xfrm>
              <a:off x="181" y="3793"/>
              <a:ext cx="133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99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有备用放射式</a:t>
              </a:r>
              <a:endParaRPr lang="en-US" altLang="zh-CN" sz="200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43" name="组合 179234"/>
            <p:cNvGrpSpPr/>
            <p:nvPr/>
          </p:nvGrpSpPr>
          <p:grpSpPr bwMode="auto">
            <a:xfrm>
              <a:off x="249" y="2913"/>
              <a:ext cx="1088" cy="1407"/>
              <a:chOff x="295" y="2296"/>
              <a:chExt cx="1088" cy="1407"/>
            </a:xfrm>
          </p:grpSpPr>
          <p:sp>
            <p:nvSpPr>
              <p:cNvPr id="44" name="矩形 179235"/>
              <p:cNvSpPr>
                <a:spLocks noChangeArrowheads="1"/>
              </p:cNvSpPr>
              <p:nvPr/>
            </p:nvSpPr>
            <p:spPr bwMode="auto">
              <a:xfrm>
                <a:off x="295" y="2750"/>
                <a:ext cx="227" cy="227"/>
              </a:xfrm>
              <a:prstGeom prst="rect">
                <a:avLst/>
              </a:prstGeom>
              <a:pattFill prst="ltUpDiag">
                <a:fgClr>
                  <a:srgbClr val="333399"/>
                </a:fgClr>
                <a:bgClr>
                  <a:srgbClr val="171747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直接连接符 179236"/>
              <p:cNvSpPr>
                <a:spLocks noChangeShapeType="1"/>
              </p:cNvSpPr>
              <p:nvPr/>
            </p:nvSpPr>
            <p:spPr bwMode="auto">
              <a:xfrm flipH="1">
                <a:off x="439" y="2314"/>
                <a:ext cx="635" cy="40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直接连接符 179237"/>
              <p:cNvSpPr>
                <a:spLocks noChangeShapeType="1"/>
              </p:cNvSpPr>
              <p:nvPr/>
            </p:nvSpPr>
            <p:spPr bwMode="auto">
              <a:xfrm>
                <a:off x="521" y="2840"/>
                <a:ext cx="817" cy="13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直接连接符 179238"/>
              <p:cNvSpPr>
                <a:spLocks noChangeShapeType="1"/>
              </p:cNvSpPr>
              <p:nvPr/>
            </p:nvSpPr>
            <p:spPr bwMode="auto">
              <a:xfrm>
                <a:off x="404" y="2976"/>
                <a:ext cx="590" cy="63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直接连接符 179239"/>
              <p:cNvSpPr>
                <a:spLocks noChangeShapeType="1"/>
              </p:cNvSpPr>
              <p:nvPr/>
            </p:nvSpPr>
            <p:spPr bwMode="auto">
              <a:xfrm flipH="1">
                <a:off x="521" y="2360"/>
                <a:ext cx="635" cy="40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直接连接符 179240"/>
              <p:cNvSpPr>
                <a:spLocks noChangeShapeType="1"/>
              </p:cNvSpPr>
              <p:nvPr/>
            </p:nvSpPr>
            <p:spPr bwMode="auto">
              <a:xfrm>
                <a:off x="495" y="2922"/>
                <a:ext cx="817" cy="13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直接连接符 179241"/>
              <p:cNvSpPr>
                <a:spLocks noChangeShapeType="1"/>
              </p:cNvSpPr>
              <p:nvPr/>
            </p:nvSpPr>
            <p:spPr bwMode="auto">
              <a:xfrm>
                <a:off x="295" y="2976"/>
                <a:ext cx="635" cy="69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椭圆 179242"/>
              <p:cNvSpPr>
                <a:spLocks noChangeArrowheads="1"/>
              </p:cNvSpPr>
              <p:nvPr/>
            </p:nvSpPr>
            <p:spPr bwMode="auto">
              <a:xfrm>
                <a:off x="1066" y="2296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椭圆 179243"/>
              <p:cNvSpPr>
                <a:spLocks noChangeArrowheads="1"/>
              </p:cNvSpPr>
              <p:nvPr/>
            </p:nvSpPr>
            <p:spPr bwMode="auto">
              <a:xfrm>
                <a:off x="1292" y="2976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3" name="椭圆 179244"/>
              <p:cNvSpPr>
                <a:spLocks noChangeArrowheads="1"/>
              </p:cNvSpPr>
              <p:nvPr/>
            </p:nvSpPr>
            <p:spPr bwMode="auto">
              <a:xfrm>
                <a:off x="930" y="3612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54" name="组合 179287"/>
          <p:cNvGrpSpPr/>
          <p:nvPr/>
        </p:nvGrpSpPr>
        <p:grpSpPr bwMode="auto">
          <a:xfrm>
            <a:off x="2627313" y="4842497"/>
            <a:ext cx="2628900" cy="1479550"/>
            <a:chOff x="1655" y="3113"/>
            <a:chExt cx="1656" cy="932"/>
          </a:xfrm>
        </p:grpSpPr>
        <p:sp>
          <p:nvSpPr>
            <p:cNvPr id="55" name="文本框 179281"/>
            <p:cNvSpPr txBox="1">
              <a:spLocks noChangeArrowheads="1"/>
            </p:cNvSpPr>
            <p:nvPr/>
          </p:nvSpPr>
          <p:spPr bwMode="auto">
            <a:xfrm>
              <a:off x="1973" y="3793"/>
              <a:ext cx="133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99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有备用干线式</a:t>
              </a:r>
              <a:endParaRPr lang="en-US" altLang="zh-CN" sz="200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56" name="组合 179245"/>
            <p:cNvGrpSpPr/>
            <p:nvPr/>
          </p:nvGrpSpPr>
          <p:grpSpPr bwMode="auto">
            <a:xfrm>
              <a:off x="1655" y="3113"/>
              <a:ext cx="1633" cy="681"/>
              <a:chOff x="2109" y="2795"/>
              <a:chExt cx="1633" cy="681"/>
            </a:xfrm>
          </p:grpSpPr>
          <p:sp>
            <p:nvSpPr>
              <p:cNvPr id="57" name="矩形 179246"/>
              <p:cNvSpPr>
                <a:spLocks noChangeArrowheads="1"/>
              </p:cNvSpPr>
              <p:nvPr/>
            </p:nvSpPr>
            <p:spPr bwMode="auto">
              <a:xfrm>
                <a:off x="2109" y="2931"/>
                <a:ext cx="227" cy="227"/>
              </a:xfrm>
              <a:prstGeom prst="rect">
                <a:avLst/>
              </a:prstGeom>
              <a:pattFill prst="ltUpDiag">
                <a:fgClr>
                  <a:srgbClr val="333399"/>
                </a:fgClr>
                <a:bgClr>
                  <a:srgbClr val="171747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椭圆 179247"/>
              <p:cNvSpPr>
                <a:spLocks noChangeArrowheads="1"/>
              </p:cNvSpPr>
              <p:nvPr/>
            </p:nvSpPr>
            <p:spPr bwMode="auto">
              <a:xfrm>
                <a:off x="3651" y="2795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椭圆 179248"/>
              <p:cNvSpPr>
                <a:spLocks noChangeArrowheads="1"/>
              </p:cNvSpPr>
              <p:nvPr/>
            </p:nvSpPr>
            <p:spPr bwMode="auto">
              <a:xfrm>
                <a:off x="2653" y="2976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椭圆 179249"/>
              <p:cNvSpPr>
                <a:spLocks noChangeArrowheads="1"/>
              </p:cNvSpPr>
              <p:nvPr/>
            </p:nvSpPr>
            <p:spPr bwMode="auto">
              <a:xfrm>
                <a:off x="3016" y="2976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椭圆 179250"/>
              <p:cNvSpPr>
                <a:spLocks noChangeArrowheads="1"/>
              </p:cNvSpPr>
              <p:nvPr/>
            </p:nvSpPr>
            <p:spPr bwMode="auto">
              <a:xfrm>
                <a:off x="2517" y="3385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椭圆 179251"/>
              <p:cNvSpPr>
                <a:spLocks noChangeArrowheads="1"/>
              </p:cNvSpPr>
              <p:nvPr/>
            </p:nvSpPr>
            <p:spPr bwMode="auto">
              <a:xfrm>
                <a:off x="3107" y="3294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3" name="直接连接符 179252"/>
              <p:cNvSpPr>
                <a:spLocks noChangeShapeType="1"/>
              </p:cNvSpPr>
              <p:nvPr/>
            </p:nvSpPr>
            <p:spPr bwMode="auto">
              <a:xfrm>
                <a:off x="2336" y="2976"/>
                <a:ext cx="36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直接连接符 179253"/>
              <p:cNvSpPr>
                <a:spLocks noChangeShapeType="1"/>
              </p:cNvSpPr>
              <p:nvPr/>
            </p:nvSpPr>
            <p:spPr bwMode="auto">
              <a:xfrm>
                <a:off x="2336" y="3067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直接连接符 179254"/>
              <p:cNvSpPr>
                <a:spLocks noChangeShapeType="1"/>
              </p:cNvSpPr>
              <p:nvPr/>
            </p:nvSpPr>
            <p:spPr bwMode="auto">
              <a:xfrm flipV="1">
                <a:off x="3061" y="2795"/>
                <a:ext cx="635" cy="18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直接连接符 179255"/>
              <p:cNvSpPr>
                <a:spLocks noChangeShapeType="1"/>
              </p:cNvSpPr>
              <p:nvPr/>
            </p:nvSpPr>
            <p:spPr bwMode="auto">
              <a:xfrm flipV="1">
                <a:off x="3107" y="2886"/>
                <a:ext cx="589" cy="18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直接连接符 179256"/>
              <p:cNvSpPr>
                <a:spLocks noChangeShapeType="1"/>
              </p:cNvSpPr>
              <p:nvPr/>
            </p:nvSpPr>
            <p:spPr bwMode="auto">
              <a:xfrm flipH="1">
                <a:off x="2517" y="3067"/>
                <a:ext cx="136" cy="36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直接连接符 179257"/>
              <p:cNvSpPr>
                <a:spLocks noChangeShapeType="1"/>
              </p:cNvSpPr>
              <p:nvPr/>
            </p:nvSpPr>
            <p:spPr bwMode="auto">
              <a:xfrm flipH="1">
                <a:off x="2608" y="3067"/>
                <a:ext cx="136" cy="36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直接连接符 179258"/>
              <p:cNvSpPr>
                <a:spLocks noChangeShapeType="1"/>
              </p:cNvSpPr>
              <p:nvPr/>
            </p:nvSpPr>
            <p:spPr bwMode="auto">
              <a:xfrm>
                <a:off x="2699" y="2976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直接连接符 179259"/>
              <p:cNvSpPr>
                <a:spLocks noChangeShapeType="1"/>
              </p:cNvSpPr>
              <p:nvPr/>
            </p:nvSpPr>
            <p:spPr bwMode="auto">
              <a:xfrm>
                <a:off x="2744" y="3067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直接连接符 179260"/>
              <p:cNvSpPr>
                <a:spLocks noChangeShapeType="1"/>
              </p:cNvSpPr>
              <p:nvPr/>
            </p:nvSpPr>
            <p:spPr bwMode="auto">
              <a:xfrm>
                <a:off x="3016" y="3067"/>
                <a:ext cx="91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直接连接符 179261"/>
              <p:cNvSpPr>
                <a:spLocks noChangeShapeType="1"/>
              </p:cNvSpPr>
              <p:nvPr/>
            </p:nvSpPr>
            <p:spPr bwMode="auto">
              <a:xfrm>
                <a:off x="3107" y="3067"/>
                <a:ext cx="91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3" name="组合 179288"/>
          <p:cNvGrpSpPr/>
          <p:nvPr/>
        </p:nvGrpSpPr>
        <p:grpSpPr bwMode="auto">
          <a:xfrm>
            <a:off x="5662619" y="4913936"/>
            <a:ext cx="2870203" cy="1487488"/>
            <a:chOff x="3567" y="3158"/>
            <a:chExt cx="1808" cy="937"/>
          </a:xfrm>
        </p:grpSpPr>
        <p:sp>
          <p:nvSpPr>
            <p:cNvPr id="74" name="文本框 179282"/>
            <p:cNvSpPr txBox="1">
              <a:spLocks noChangeArrowheads="1"/>
            </p:cNvSpPr>
            <p:nvPr/>
          </p:nvSpPr>
          <p:spPr bwMode="auto">
            <a:xfrm>
              <a:off x="3567" y="3843"/>
              <a:ext cx="133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99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有备用链式</a:t>
              </a:r>
              <a:endParaRPr lang="en-US" altLang="zh-CN" sz="2000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5" name="组合 179262"/>
            <p:cNvGrpSpPr/>
            <p:nvPr/>
          </p:nvGrpSpPr>
          <p:grpSpPr bwMode="auto">
            <a:xfrm>
              <a:off x="3833" y="3158"/>
              <a:ext cx="1542" cy="862"/>
              <a:chOff x="3606" y="2750"/>
              <a:chExt cx="1542" cy="862"/>
            </a:xfrm>
          </p:grpSpPr>
          <p:sp>
            <p:nvSpPr>
              <p:cNvPr id="76" name="矩形 179263"/>
              <p:cNvSpPr>
                <a:spLocks noChangeArrowheads="1"/>
              </p:cNvSpPr>
              <p:nvPr/>
            </p:nvSpPr>
            <p:spPr bwMode="auto">
              <a:xfrm>
                <a:off x="3606" y="3022"/>
                <a:ext cx="227" cy="227"/>
              </a:xfrm>
              <a:prstGeom prst="rect">
                <a:avLst/>
              </a:prstGeom>
              <a:pattFill prst="ltUpDiag">
                <a:fgClr>
                  <a:srgbClr val="333399"/>
                </a:fgClr>
                <a:bgClr>
                  <a:srgbClr val="171747"/>
                </a:bgClr>
              </a:patt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椭圆 179264"/>
              <p:cNvSpPr>
                <a:spLocks noChangeArrowheads="1"/>
              </p:cNvSpPr>
              <p:nvPr/>
            </p:nvSpPr>
            <p:spPr bwMode="auto">
              <a:xfrm>
                <a:off x="4468" y="2750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8" name="椭圆 179265"/>
              <p:cNvSpPr>
                <a:spLocks noChangeArrowheads="1"/>
              </p:cNvSpPr>
              <p:nvPr/>
            </p:nvSpPr>
            <p:spPr bwMode="auto">
              <a:xfrm>
                <a:off x="5057" y="3521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9" name="椭圆 179266"/>
              <p:cNvSpPr>
                <a:spLocks noChangeArrowheads="1"/>
              </p:cNvSpPr>
              <p:nvPr/>
            </p:nvSpPr>
            <p:spPr bwMode="auto">
              <a:xfrm>
                <a:off x="4468" y="3521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0" name="椭圆 179267"/>
              <p:cNvSpPr>
                <a:spLocks noChangeArrowheads="1"/>
              </p:cNvSpPr>
              <p:nvPr/>
            </p:nvSpPr>
            <p:spPr bwMode="auto">
              <a:xfrm>
                <a:off x="5012" y="2750"/>
                <a:ext cx="91" cy="91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1" name="直接连接符 179268"/>
              <p:cNvSpPr>
                <a:spLocks noChangeShapeType="1"/>
              </p:cNvSpPr>
              <p:nvPr/>
            </p:nvSpPr>
            <p:spPr bwMode="auto">
              <a:xfrm flipV="1">
                <a:off x="3833" y="2750"/>
                <a:ext cx="680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2" name="直接连接符 179269"/>
              <p:cNvSpPr>
                <a:spLocks noChangeShapeType="1"/>
              </p:cNvSpPr>
              <p:nvPr/>
            </p:nvSpPr>
            <p:spPr bwMode="auto">
              <a:xfrm flipV="1">
                <a:off x="3852" y="2832"/>
                <a:ext cx="680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3" name="直接连接符 179270"/>
              <p:cNvSpPr>
                <a:spLocks noChangeShapeType="1"/>
              </p:cNvSpPr>
              <p:nvPr/>
            </p:nvSpPr>
            <p:spPr bwMode="auto">
              <a:xfrm>
                <a:off x="4513" y="2750"/>
                <a:ext cx="544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4" name="直接连接符 179271"/>
              <p:cNvSpPr>
                <a:spLocks noChangeShapeType="1"/>
              </p:cNvSpPr>
              <p:nvPr/>
            </p:nvSpPr>
            <p:spPr bwMode="auto">
              <a:xfrm>
                <a:off x="4505" y="2841"/>
                <a:ext cx="544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5" name="直接连接符 179272"/>
              <p:cNvSpPr>
                <a:spLocks noChangeShapeType="1"/>
              </p:cNvSpPr>
              <p:nvPr/>
            </p:nvSpPr>
            <p:spPr bwMode="auto">
              <a:xfrm>
                <a:off x="3833" y="3249"/>
                <a:ext cx="680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6" name="直接连接符 179273"/>
              <p:cNvSpPr>
                <a:spLocks noChangeShapeType="1"/>
              </p:cNvSpPr>
              <p:nvPr/>
            </p:nvSpPr>
            <p:spPr bwMode="auto">
              <a:xfrm>
                <a:off x="3651" y="3276"/>
                <a:ext cx="817" cy="31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7" name="直接连接符 179274"/>
              <p:cNvSpPr>
                <a:spLocks noChangeShapeType="1"/>
              </p:cNvSpPr>
              <p:nvPr/>
            </p:nvSpPr>
            <p:spPr bwMode="auto">
              <a:xfrm>
                <a:off x="4513" y="3521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88" name="直接连接符 179275"/>
              <p:cNvSpPr>
                <a:spLocks noChangeShapeType="1"/>
              </p:cNvSpPr>
              <p:nvPr/>
            </p:nvSpPr>
            <p:spPr bwMode="auto">
              <a:xfrm>
                <a:off x="4468" y="3612"/>
                <a:ext cx="635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90" name="标题 179290"/>
          <p:cNvSpPr>
            <a:spLocks noGrp="1" noRot="1" noChangeArrowheads="1"/>
          </p:cNvSpPr>
          <p:nvPr>
            <p:ph type="title"/>
          </p:nvPr>
        </p:nvSpPr>
        <p:spPr>
          <a:xfrm>
            <a:off x="500034" y="-71462"/>
            <a:ext cx="8540750" cy="1143001"/>
          </a:xfrm>
        </p:spPr>
        <p:txBody>
          <a:bodyPr/>
          <a:lstStyle/>
          <a:p>
            <a:r>
              <a:rPr lang="zh-CN" altLang="en-US" sz="32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第二节  开式网络的潮流计算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373" y="142852"/>
            <a:ext cx="7417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开式网络的潮流计算</a:t>
            </a:r>
            <a:endParaRPr lang="zh-CN" altLang="en-US" sz="2400" dirty="0"/>
          </a:p>
        </p:txBody>
      </p:sp>
      <p:sp>
        <p:nvSpPr>
          <p:cNvPr id="3" name="文本框 178179"/>
          <p:cNvSpPr txBox="1">
            <a:spLocks noChangeArrowheads="1"/>
          </p:cNvSpPr>
          <p:nvPr/>
        </p:nvSpPr>
        <p:spPr bwMode="auto">
          <a:xfrm>
            <a:off x="395288" y="1038509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计算网络元件参数</a:t>
            </a:r>
          </a:p>
        </p:txBody>
      </p:sp>
      <p:sp>
        <p:nvSpPr>
          <p:cNvPr id="5" name="文本框 178180"/>
          <p:cNvSpPr txBox="1">
            <a:spLocks noChangeArrowheads="1"/>
          </p:cNvSpPr>
          <p:nvPr/>
        </p:nvSpPr>
        <p:spPr bwMode="auto">
          <a:xfrm>
            <a:off x="395288" y="1431901"/>
            <a:ext cx="8497887" cy="212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按精确计算方法用变压器实际变比，用有名制时，算出网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络元件参数，归算到基本级的有名值；用标么制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将网络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元件参数化为标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么值。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作出等值网络图，并进行简化，将计算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出的元件参数标于图中。</a:t>
            </a:r>
          </a:p>
        </p:txBody>
      </p:sp>
      <p:sp>
        <p:nvSpPr>
          <p:cNvPr id="6" name="文本框 178181"/>
          <p:cNvSpPr txBox="1">
            <a:spLocks noChangeArrowheads="1"/>
          </p:cNvSpPr>
          <p:nvPr/>
        </p:nvSpPr>
        <p:spPr bwMode="auto">
          <a:xfrm>
            <a:off x="395288" y="3657576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潮流计算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78182"/>
          <p:cNvSpPr txBox="1">
            <a:spLocks noChangeArrowheads="1"/>
          </p:cNvSpPr>
          <p:nvPr/>
        </p:nvSpPr>
        <p:spPr bwMode="auto">
          <a:xfrm>
            <a:off x="395288" y="4237013"/>
            <a:ext cx="8497887" cy="212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）已知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末端负荷及末端电压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。可利用计算电力线路和变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压器功率损耗及电压降落的公式直接进行潮流计算。根据基尔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霍夫第一定律，由末端逐段往始端推算。如果末端电压未知，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可以设一个略低于网络额定电压的末端电压，然后按上述方法</a:t>
            </a:r>
          </a:p>
        </p:txBody>
      </p:sp>
      <p:sp>
        <p:nvSpPr>
          <p:cNvPr id="8" name="标题 178183"/>
          <p:cNvSpPr>
            <a:spLocks noGrp="1" noRot="1" noChangeArrowheads="1"/>
          </p:cNvSpPr>
          <p:nvPr>
            <p:ph type="title"/>
          </p:nvPr>
        </p:nvSpPr>
        <p:spPr>
          <a:xfrm>
            <a:off x="250825" y="-71462"/>
            <a:ext cx="4968875" cy="1143000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  <a:t>一、简单开式网络的潮流计算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373" y="142852"/>
            <a:ext cx="7417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开式网络的潮流计算</a:t>
            </a:r>
            <a:endParaRPr lang="zh-CN" altLang="en-US" sz="2400" dirty="0"/>
          </a:p>
        </p:txBody>
      </p:sp>
      <p:sp>
        <p:nvSpPr>
          <p:cNvPr id="3" name="文本框 180227"/>
          <p:cNvSpPr txBox="1">
            <a:spLocks noChangeArrowheads="1"/>
          </p:cNvSpPr>
          <p:nvPr/>
        </p:nvSpPr>
        <p:spPr bwMode="auto">
          <a:xfrm>
            <a:off x="214282" y="1120793"/>
            <a:ext cx="856932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计算，算得始端电压偏移不大于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10%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即可，否则重新假设一个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末端电压，重新推算。</a:t>
            </a:r>
          </a:p>
        </p:txBody>
      </p:sp>
      <p:grpSp>
        <p:nvGrpSpPr>
          <p:cNvPr id="5" name="组合 180241"/>
          <p:cNvGrpSpPr/>
          <p:nvPr/>
        </p:nvGrpSpPr>
        <p:grpSpPr bwMode="auto">
          <a:xfrm>
            <a:off x="214282" y="2141555"/>
            <a:ext cx="8569325" cy="3930651"/>
            <a:chOff x="249" y="2160"/>
            <a:chExt cx="5398" cy="2476"/>
          </a:xfrm>
        </p:grpSpPr>
        <p:graphicFrame>
          <p:nvGraphicFramePr>
            <p:cNvPr id="6" name="对象 180238"/>
            <p:cNvGraphicFramePr>
              <a:graphicFrameLocks/>
            </p:cNvGraphicFramePr>
            <p:nvPr/>
          </p:nvGraphicFramePr>
          <p:xfrm>
            <a:off x="2744" y="3158"/>
            <a:ext cx="360" cy="453"/>
          </p:xfrm>
          <a:graphic>
            <a:graphicData uri="http://schemas.openxmlformats.org/presentationml/2006/ole">
              <p:oleObj spid="_x0000_s40970" r:id="rId3" imgW="7010400" imgH="8839200" progId="Equation.3">
                <p:embed/>
              </p:oleObj>
            </a:graphicData>
          </a:graphic>
        </p:graphicFrame>
        <p:sp>
          <p:nvSpPr>
            <p:cNvPr id="7" name="文本框 180228"/>
            <p:cNvSpPr txBox="1">
              <a:spLocks noChangeArrowheads="1"/>
            </p:cNvSpPr>
            <p:nvPr/>
          </p:nvSpPr>
          <p:spPr bwMode="auto">
            <a:xfrm>
              <a:off x="249" y="2251"/>
              <a:ext cx="5398" cy="23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（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）已知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末端负荷及始端电压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。先假设末端电压     和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由给定末端负荷    ，往始端推算出     、    ；再由给定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始端电压    和计算得的始端负荷    ，向末端推算出    、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；然后再由给定末端负荷    及计算得的末端电压     往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始端推算，这样依次类推逼近，直到同时满足已给出的末端负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荷及始端电压为止。实践中，经过一、二次往返就可获得足够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精确的结果。</a:t>
              </a:r>
            </a:p>
          </p:txBody>
        </p:sp>
        <p:graphicFrame>
          <p:nvGraphicFramePr>
            <p:cNvPr id="8" name="对象 180229"/>
            <p:cNvGraphicFramePr>
              <a:graphicFrameLocks/>
            </p:cNvGraphicFramePr>
            <p:nvPr/>
          </p:nvGraphicFramePr>
          <p:xfrm>
            <a:off x="4841" y="2160"/>
            <a:ext cx="352" cy="408"/>
          </p:xfrm>
          <a:graphic>
            <a:graphicData uri="http://schemas.openxmlformats.org/presentationml/2006/ole">
              <p:oleObj spid="_x0000_s40969" r:id="rId4" imgW="7620000" imgH="8839200" progId="Equation.3">
                <p:embed/>
              </p:oleObj>
            </a:graphicData>
          </a:graphic>
        </p:graphicFrame>
        <p:graphicFrame>
          <p:nvGraphicFramePr>
            <p:cNvPr id="9" name="对象 180230"/>
            <p:cNvGraphicFramePr>
              <a:graphicFrameLocks/>
            </p:cNvGraphicFramePr>
            <p:nvPr/>
          </p:nvGraphicFramePr>
          <p:xfrm>
            <a:off x="1704" y="2460"/>
            <a:ext cx="360" cy="453"/>
          </p:xfrm>
          <a:graphic>
            <a:graphicData uri="http://schemas.openxmlformats.org/presentationml/2006/ole">
              <p:oleObj spid="_x0000_s40968" r:id="rId5" imgW="7010400" imgH="8839200" progId="Equation.3">
                <p:embed/>
              </p:oleObj>
            </a:graphicData>
          </a:graphic>
        </p:graphicFrame>
        <p:graphicFrame>
          <p:nvGraphicFramePr>
            <p:cNvPr id="10" name="对象 180232"/>
            <p:cNvGraphicFramePr>
              <a:graphicFrameLocks/>
            </p:cNvGraphicFramePr>
            <p:nvPr/>
          </p:nvGraphicFramePr>
          <p:xfrm>
            <a:off x="3470" y="2432"/>
            <a:ext cx="374" cy="453"/>
          </p:xfrm>
          <a:graphic>
            <a:graphicData uri="http://schemas.openxmlformats.org/presentationml/2006/ole">
              <p:oleObj spid="_x0000_s40967" r:id="rId6" imgW="7315200" imgH="8839200" progId="Equation.3">
                <p:embed/>
              </p:oleObj>
            </a:graphicData>
          </a:graphic>
        </p:graphicFrame>
        <p:graphicFrame>
          <p:nvGraphicFramePr>
            <p:cNvPr id="11" name="对象 180233"/>
            <p:cNvGraphicFramePr>
              <a:graphicFrameLocks/>
            </p:cNvGraphicFramePr>
            <p:nvPr/>
          </p:nvGraphicFramePr>
          <p:xfrm>
            <a:off x="4105" y="2432"/>
            <a:ext cx="336" cy="463"/>
          </p:xfrm>
          <a:graphic>
            <a:graphicData uri="http://schemas.openxmlformats.org/presentationml/2006/ole">
              <p:oleObj spid="_x0000_s40966" r:id="rId7" imgW="6400800" imgH="8839200" progId="Equation.3">
                <p:embed/>
              </p:oleObj>
            </a:graphicData>
          </a:graphic>
        </p:graphicFrame>
        <p:graphicFrame>
          <p:nvGraphicFramePr>
            <p:cNvPr id="12" name="对象 180234"/>
            <p:cNvGraphicFramePr>
              <a:graphicFrameLocks/>
            </p:cNvGraphicFramePr>
            <p:nvPr/>
          </p:nvGraphicFramePr>
          <p:xfrm>
            <a:off x="1111" y="2840"/>
            <a:ext cx="352" cy="409"/>
          </p:xfrm>
          <a:graphic>
            <a:graphicData uri="http://schemas.openxmlformats.org/presentationml/2006/ole">
              <p:oleObj spid="_x0000_s40965" r:id="rId8" imgW="7620000" imgH="8839200" progId="Equation.3">
                <p:embed/>
              </p:oleObj>
            </a:graphicData>
          </a:graphic>
        </p:graphicFrame>
        <p:graphicFrame>
          <p:nvGraphicFramePr>
            <p:cNvPr id="13" name="对象 180235"/>
            <p:cNvGraphicFramePr>
              <a:graphicFrameLocks/>
            </p:cNvGraphicFramePr>
            <p:nvPr/>
          </p:nvGraphicFramePr>
          <p:xfrm>
            <a:off x="3243" y="2795"/>
            <a:ext cx="336" cy="463"/>
          </p:xfrm>
          <a:graphic>
            <a:graphicData uri="http://schemas.openxmlformats.org/presentationml/2006/ole">
              <p:oleObj spid="_x0000_s40964" r:id="rId9" imgW="6400800" imgH="8839200" progId="Equation.3">
                <p:embed/>
              </p:oleObj>
            </a:graphicData>
          </a:graphic>
        </p:graphicFrame>
        <p:graphicFrame>
          <p:nvGraphicFramePr>
            <p:cNvPr id="14" name="对象 180236"/>
            <p:cNvGraphicFramePr>
              <a:graphicFrameLocks/>
            </p:cNvGraphicFramePr>
            <p:nvPr/>
          </p:nvGraphicFramePr>
          <p:xfrm>
            <a:off x="5012" y="2795"/>
            <a:ext cx="375" cy="454"/>
          </p:xfrm>
          <a:graphic>
            <a:graphicData uri="http://schemas.openxmlformats.org/presentationml/2006/ole">
              <p:oleObj spid="_x0000_s40963" r:id="rId10" imgW="7315200" imgH="8839200" progId="Equation.3">
                <p:embed/>
              </p:oleObj>
            </a:graphicData>
          </a:graphic>
        </p:graphicFrame>
        <p:graphicFrame>
          <p:nvGraphicFramePr>
            <p:cNvPr id="15" name="对象 180237"/>
            <p:cNvGraphicFramePr>
              <a:graphicFrameLocks/>
            </p:cNvGraphicFramePr>
            <p:nvPr/>
          </p:nvGraphicFramePr>
          <p:xfrm>
            <a:off x="295" y="3158"/>
            <a:ext cx="328" cy="453"/>
          </p:xfrm>
          <a:graphic>
            <a:graphicData uri="http://schemas.openxmlformats.org/presentationml/2006/ole">
              <p:oleObj spid="_x0000_s40962" r:id="rId11" imgW="6400800" imgH="8839200" progId="Equation.3">
                <p:embed/>
              </p:oleObj>
            </a:graphicData>
          </a:graphic>
        </p:graphicFrame>
        <p:graphicFrame>
          <p:nvGraphicFramePr>
            <p:cNvPr id="16" name="对象 180239"/>
            <p:cNvGraphicFramePr>
              <a:graphicFrameLocks/>
            </p:cNvGraphicFramePr>
            <p:nvPr/>
          </p:nvGraphicFramePr>
          <p:xfrm>
            <a:off x="4921" y="3140"/>
            <a:ext cx="375" cy="454"/>
          </p:xfrm>
          <a:graphic>
            <a:graphicData uri="http://schemas.openxmlformats.org/presentationml/2006/ole">
              <p:oleObj spid="_x0000_s40961" r:id="rId12" imgW="7315200" imgH="8839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373" y="142852"/>
            <a:ext cx="7417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开式网络的潮流计算</a:t>
            </a:r>
            <a:endParaRPr lang="zh-CN" altLang="en-US" sz="2400" dirty="0"/>
          </a:p>
        </p:txBody>
      </p:sp>
      <p:sp>
        <p:nvSpPr>
          <p:cNvPr id="3" name="文本框 181252"/>
          <p:cNvSpPr txBox="1">
            <a:spLocks noChangeArrowheads="1"/>
          </p:cNvSpPr>
          <p:nvPr/>
        </p:nvSpPr>
        <p:spPr bwMode="auto">
          <a:xfrm>
            <a:off x="323850" y="1268413"/>
            <a:ext cx="84248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变电所较多的开式网络的潮流计算的步骤和内容如下：</a:t>
            </a:r>
          </a:p>
        </p:txBody>
      </p:sp>
      <p:sp>
        <p:nvSpPr>
          <p:cNvPr id="5" name="文本框 181253"/>
          <p:cNvSpPr txBox="1">
            <a:spLocks noChangeArrowheads="1"/>
          </p:cNvSpPr>
          <p:nvPr/>
        </p:nvSpPr>
        <p:spPr bwMode="auto">
          <a:xfrm>
            <a:off x="323850" y="1892300"/>
            <a:ext cx="84248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）按精确计算方法计算网络元件参数；</a:t>
            </a:r>
          </a:p>
        </p:txBody>
      </p:sp>
      <p:sp>
        <p:nvSpPr>
          <p:cNvPr id="6" name="文本框 181254"/>
          <p:cNvSpPr txBox="1">
            <a:spLocks noChangeArrowheads="1"/>
          </p:cNvSpPr>
          <p:nvPr/>
        </p:nvSpPr>
        <p:spPr bwMode="auto">
          <a:xfrm>
            <a:off x="323850" y="2424113"/>
            <a:ext cx="8424863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）用电力线路额定电压求变电所的运算负荷和发电厂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的运算功率（对固定出力的发电厂）；</a:t>
            </a:r>
          </a:p>
        </p:txBody>
      </p:sp>
      <p:sp>
        <p:nvSpPr>
          <p:cNvPr id="7" name="文本框 181255"/>
          <p:cNvSpPr txBox="1">
            <a:spLocks noChangeArrowheads="1"/>
          </p:cNvSpPr>
          <p:nvPr/>
        </p:nvSpPr>
        <p:spPr bwMode="auto">
          <a:xfrm>
            <a:off x="323850" y="3548063"/>
            <a:ext cx="84248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）作出具有运算负荷或运算功率的等值网络；</a:t>
            </a:r>
          </a:p>
        </p:txBody>
      </p:sp>
      <p:sp>
        <p:nvSpPr>
          <p:cNvPr id="8" name="文本框 181256"/>
          <p:cNvSpPr txBox="1">
            <a:spLocks noChangeArrowheads="1"/>
          </p:cNvSpPr>
          <p:nvPr/>
        </p:nvSpPr>
        <p:spPr bwMode="auto">
          <a:xfrm>
            <a:off x="323850" y="4124325"/>
            <a:ext cx="84248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）潮流计算。</a:t>
            </a:r>
          </a:p>
        </p:txBody>
      </p:sp>
      <p:sp>
        <p:nvSpPr>
          <p:cNvPr id="9" name="文本框 181257"/>
          <p:cNvSpPr txBox="1">
            <a:spLocks noChangeArrowheads="1"/>
          </p:cNvSpPr>
          <p:nvPr/>
        </p:nvSpPr>
        <p:spPr bwMode="auto">
          <a:xfrm>
            <a:off x="323850" y="4800600"/>
            <a:ext cx="8424863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当已知末端电压时，可以用已知末端电压及末端功率的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方法逐段推算至始端，从而算出各支中功率及各点电压。</a:t>
            </a:r>
          </a:p>
        </p:txBody>
      </p:sp>
      <p:sp>
        <p:nvSpPr>
          <p:cNvPr id="10" name="标题 181258"/>
          <p:cNvSpPr>
            <a:spLocks noGrp="1" noRot="1" noChangeArrowheads="1"/>
          </p:cNvSpPr>
          <p:nvPr>
            <p:ph type="title"/>
          </p:nvPr>
        </p:nvSpPr>
        <p:spPr>
          <a:xfrm>
            <a:off x="468313" y="782638"/>
            <a:ext cx="6335712" cy="774700"/>
          </a:xfrm>
        </p:spPr>
        <p:txBody>
          <a:bodyPr>
            <a:noAutofit/>
          </a:bodyPr>
          <a:lstStyle/>
          <a:p>
            <a:r>
              <a:rPr lang="zh-CN" altLang="en-US" sz="2400" smtClean="0">
                <a:solidFill>
                  <a:srgbClr val="CC00CC"/>
                </a:solidFill>
                <a:ea typeface="黑体" panose="02010609060101010101" pitchFamily="49" charset="-122"/>
              </a:rPr>
              <a:t>二、变电所较多的开式网络的潮流分布</a:t>
            </a:r>
            <a:r>
              <a:rPr lang="zh-CN" altLang="en-US" sz="2400" smtClean="0">
                <a:solidFill>
                  <a:srgbClr val="CC00CC"/>
                </a:solidFill>
              </a:rPr>
              <a:t/>
            </a:r>
            <a:br>
              <a:rPr lang="zh-CN" altLang="en-US" sz="2400" smtClean="0">
                <a:solidFill>
                  <a:srgbClr val="CC00CC"/>
                </a:solidFill>
              </a:rPr>
            </a:br>
            <a:endParaRPr lang="zh-CN" altLang="en-US" sz="2400" smtClean="0">
              <a:solidFill>
                <a:srgbClr val="CC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373" y="142852"/>
            <a:ext cx="7417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开式网络的潮流计算</a:t>
            </a:r>
            <a:endParaRPr lang="zh-CN" altLang="en-US" sz="2400" dirty="0"/>
          </a:p>
        </p:txBody>
      </p:sp>
      <p:sp>
        <p:nvSpPr>
          <p:cNvPr id="3" name="文本框 182275"/>
          <p:cNvSpPr txBox="1">
            <a:spLocks noChangeArrowheads="1"/>
          </p:cNvSpPr>
          <p:nvPr/>
        </p:nvSpPr>
        <p:spPr bwMode="auto">
          <a:xfrm>
            <a:off x="214282" y="1411792"/>
            <a:ext cx="8820150" cy="32316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当已知始端电压时，就相当于已知始端电压和末端负荷的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情况，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通常进一步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采取如下简化计算步骤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：开始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由末端向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始</a:t>
            </a:r>
          </a:p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端推算时，设全网电压都为网络的额定电压，仅计算各元件中</a:t>
            </a:r>
          </a:p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功率损耗而不用计算电压，从而求出全网的功率分布；然后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由始端电压及计算所得的始端功率向末端逐段推算出电压降落，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从而求出各点电压。此时不必重新计算功率损耗与功率分布。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grpSp>
        <p:nvGrpSpPr>
          <p:cNvPr id="3" name="组合 184436"/>
          <p:cNvGrpSpPr/>
          <p:nvPr/>
        </p:nvGrpSpPr>
        <p:grpSpPr bwMode="auto">
          <a:xfrm>
            <a:off x="466725" y="1154091"/>
            <a:ext cx="8426450" cy="1014413"/>
            <a:chOff x="294" y="756"/>
            <a:chExt cx="5308" cy="639"/>
          </a:xfrm>
        </p:grpSpPr>
        <p:sp>
          <p:nvSpPr>
            <p:cNvPr id="5" name="文本框 184324"/>
            <p:cNvSpPr txBox="1">
              <a:spLocks noChangeArrowheads="1"/>
            </p:cNvSpPr>
            <p:nvPr/>
          </p:nvSpPr>
          <p:spPr bwMode="auto">
            <a:xfrm>
              <a:off x="294" y="756"/>
              <a:ext cx="5308" cy="6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简单的环式网络，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(a)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图为网络接线图，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(b)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图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为简化等值网络。其中      、      为运算负荷。</a:t>
              </a:r>
            </a:p>
          </p:txBody>
        </p:sp>
        <p:graphicFrame>
          <p:nvGraphicFramePr>
            <p:cNvPr id="6" name="对象 184325"/>
            <p:cNvGraphicFramePr>
              <a:graphicFrameLocks/>
            </p:cNvGraphicFramePr>
            <p:nvPr/>
          </p:nvGraphicFramePr>
          <p:xfrm>
            <a:off x="2290" y="981"/>
            <a:ext cx="272" cy="408"/>
          </p:xfrm>
          <a:graphic>
            <a:graphicData uri="http://schemas.openxmlformats.org/presentationml/2006/ole">
              <p:oleObj spid="_x0000_s44041" r:id="rId3" imgW="5486400" imgH="8229600" progId="Equation.3">
                <p:embed/>
              </p:oleObj>
            </a:graphicData>
          </a:graphic>
        </p:graphicFrame>
        <p:graphicFrame>
          <p:nvGraphicFramePr>
            <p:cNvPr id="7" name="对象 184326"/>
            <p:cNvGraphicFramePr>
              <a:graphicFrameLocks/>
            </p:cNvGraphicFramePr>
            <p:nvPr/>
          </p:nvGraphicFramePr>
          <p:xfrm>
            <a:off x="2744" y="981"/>
            <a:ext cx="257" cy="408"/>
          </p:xfrm>
          <a:graphic>
            <a:graphicData uri="http://schemas.openxmlformats.org/presentationml/2006/ole">
              <p:oleObj spid="_x0000_s44040" r:id="rId4" imgW="5181600" imgH="8229600" progId="Equation.3">
                <p:embed/>
              </p:oleObj>
            </a:graphicData>
          </a:graphic>
        </p:graphicFrame>
      </p:grpSp>
      <p:grpSp>
        <p:nvGrpSpPr>
          <p:cNvPr id="9" name="组合 184437"/>
          <p:cNvGrpSpPr/>
          <p:nvPr/>
        </p:nvGrpSpPr>
        <p:grpSpPr bwMode="auto">
          <a:xfrm>
            <a:off x="300047" y="2087540"/>
            <a:ext cx="5700713" cy="3311525"/>
            <a:chOff x="0" y="1480"/>
            <a:chExt cx="3591" cy="2086"/>
          </a:xfrm>
        </p:grpSpPr>
        <p:sp>
          <p:nvSpPr>
            <p:cNvPr id="10" name="椭圆 184329"/>
            <p:cNvSpPr>
              <a:spLocks noChangeArrowheads="1"/>
            </p:cNvSpPr>
            <p:nvPr/>
          </p:nvSpPr>
          <p:spPr bwMode="auto">
            <a:xfrm>
              <a:off x="725" y="1861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1" name="椭圆 184330"/>
            <p:cNvSpPr>
              <a:spLocks noChangeArrowheads="1"/>
            </p:cNvSpPr>
            <p:nvPr/>
          </p:nvSpPr>
          <p:spPr bwMode="auto">
            <a:xfrm>
              <a:off x="861" y="1861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2" name="直接连接符 184331"/>
            <p:cNvSpPr>
              <a:spLocks noChangeShapeType="1"/>
            </p:cNvSpPr>
            <p:nvPr/>
          </p:nvSpPr>
          <p:spPr bwMode="auto">
            <a:xfrm>
              <a:off x="1042" y="195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184332"/>
            <p:cNvSpPr>
              <a:spLocks noChangeShapeType="1"/>
            </p:cNvSpPr>
            <p:nvPr/>
          </p:nvSpPr>
          <p:spPr bwMode="auto">
            <a:xfrm flipH="1">
              <a:off x="589" y="195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184333"/>
            <p:cNvSpPr>
              <a:spLocks noChangeShapeType="1"/>
            </p:cNvSpPr>
            <p:nvPr/>
          </p:nvSpPr>
          <p:spPr bwMode="auto">
            <a:xfrm flipH="1">
              <a:off x="1179" y="170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15" name="组合 184334"/>
            <p:cNvGrpSpPr/>
            <p:nvPr/>
          </p:nvGrpSpPr>
          <p:grpSpPr bwMode="auto">
            <a:xfrm>
              <a:off x="0" y="1752"/>
              <a:ext cx="635" cy="400"/>
              <a:chOff x="2699" y="2550"/>
              <a:chExt cx="635" cy="400"/>
            </a:xfrm>
          </p:grpSpPr>
          <p:sp>
            <p:nvSpPr>
              <p:cNvPr id="51" name="椭圆 184335"/>
              <p:cNvSpPr>
                <a:spLocks noChangeArrowheads="1"/>
              </p:cNvSpPr>
              <p:nvPr/>
            </p:nvSpPr>
            <p:spPr bwMode="auto">
              <a:xfrm>
                <a:off x="2699" y="2569"/>
                <a:ext cx="317" cy="31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文本框 184336"/>
              <p:cNvSpPr txBox="1">
                <a:spLocks noChangeArrowheads="1"/>
              </p:cNvSpPr>
              <p:nvPr/>
            </p:nvSpPr>
            <p:spPr bwMode="auto">
              <a:xfrm>
                <a:off x="2726" y="2550"/>
                <a:ext cx="47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53" name="文本框 184337"/>
              <p:cNvSpPr txBox="1">
                <a:spLocks noChangeArrowheads="1"/>
              </p:cNvSpPr>
              <p:nvPr/>
            </p:nvSpPr>
            <p:spPr bwMode="auto">
              <a:xfrm>
                <a:off x="2744" y="2659"/>
                <a:ext cx="590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~</a:t>
                </a:r>
              </a:p>
            </p:txBody>
          </p:sp>
          <p:sp>
            <p:nvSpPr>
              <p:cNvPr id="54" name="直接连接符 184338"/>
              <p:cNvSpPr>
                <a:spLocks noChangeShapeType="1"/>
              </p:cNvSpPr>
              <p:nvPr/>
            </p:nvSpPr>
            <p:spPr bwMode="auto">
              <a:xfrm>
                <a:off x="3016" y="275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" name="文本框 184339"/>
            <p:cNvSpPr txBox="1">
              <a:spLocks noChangeArrowheads="1"/>
            </p:cNvSpPr>
            <p:nvPr/>
          </p:nvSpPr>
          <p:spPr bwMode="auto">
            <a:xfrm>
              <a:off x="0" y="2115"/>
              <a:ext cx="31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grpSp>
          <p:nvGrpSpPr>
            <p:cNvPr id="17" name="组合 184340"/>
            <p:cNvGrpSpPr/>
            <p:nvPr/>
          </p:nvGrpSpPr>
          <p:grpSpPr bwMode="auto">
            <a:xfrm>
              <a:off x="2494" y="1843"/>
              <a:ext cx="608" cy="227"/>
              <a:chOff x="4422" y="2432"/>
              <a:chExt cx="608" cy="227"/>
            </a:xfrm>
          </p:grpSpPr>
          <p:sp>
            <p:nvSpPr>
              <p:cNvPr id="45" name="椭圆 184341"/>
              <p:cNvSpPr>
                <a:spLocks noChangeArrowheads="1"/>
              </p:cNvSpPr>
              <p:nvPr/>
            </p:nvSpPr>
            <p:spPr bwMode="auto">
              <a:xfrm>
                <a:off x="4558" y="2432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椭圆 184342"/>
              <p:cNvSpPr>
                <a:spLocks noChangeArrowheads="1"/>
              </p:cNvSpPr>
              <p:nvPr/>
            </p:nvSpPr>
            <p:spPr bwMode="auto">
              <a:xfrm>
                <a:off x="4694" y="2432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直接连接符 184343"/>
              <p:cNvSpPr>
                <a:spLocks noChangeShapeType="1"/>
              </p:cNvSpPr>
              <p:nvPr/>
            </p:nvSpPr>
            <p:spPr bwMode="auto">
              <a:xfrm>
                <a:off x="4875" y="252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直接连接符 184344"/>
              <p:cNvSpPr>
                <a:spLocks noChangeShapeType="1"/>
              </p:cNvSpPr>
              <p:nvPr/>
            </p:nvSpPr>
            <p:spPr bwMode="auto">
              <a:xfrm flipH="1">
                <a:off x="4422" y="252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直接连接符 184345"/>
              <p:cNvSpPr>
                <a:spLocks noChangeShapeType="1"/>
              </p:cNvSpPr>
              <p:nvPr/>
            </p:nvSpPr>
            <p:spPr bwMode="auto">
              <a:xfrm>
                <a:off x="5011" y="2432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椭圆 184346"/>
              <p:cNvSpPr>
                <a:spLocks noChangeArrowheads="1"/>
              </p:cNvSpPr>
              <p:nvPr/>
            </p:nvSpPr>
            <p:spPr bwMode="auto">
              <a:xfrm>
                <a:off x="4984" y="2495"/>
                <a:ext cx="46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" name="组合 184347"/>
            <p:cNvGrpSpPr/>
            <p:nvPr/>
          </p:nvGrpSpPr>
          <p:grpSpPr bwMode="auto">
            <a:xfrm>
              <a:off x="1633" y="2714"/>
              <a:ext cx="362" cy="608"/>
              <a:chOff x="2200" y="2478"/>
              <a:chExt cx="362" cy="608"/>
            </a:xfrm>
          </p:grpSpPr>
          <p:sp>
            <p:nvSpPr>
              <p:cNvPr id="38" name="椭圆 184348"/>
              <p:cNvSpPr>
                <a:spLocks noChangeArrowheads="1"/>
              </p:cNvSpPr>
              <p:nvPr/>
            </p:nvSpPr>
            <p:spPr bwMode="auto">
              <a:xfrm rot="5400000">
                <a:off x="2288" y="2611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椭圆 184349"/>
              <p:cNvSpPr>
                <a:spLocks noChangeArrowheads="1"/>
              </p:cNvSpPr>
              <p:nvPr/>
            </p:nvSpPr>
            <p:spPr bwMode="auto">
              <a:xfrm rot="5400000">
                <a:off x="2288" y="274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直接连接符 184350"/>
              <p:cNvSpPr>
                <a:spLocks noChangeShapeType="1"/>
              </p:cNvSpPr>
              <p:nvPr/>
            </p:nvSpPr>
            <p:spPr bwMode="auto">
              <a:xfrm rot="5400000">
                <a:off x="2315" y="2999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直接连接符 184351"/>
              <p:cNvSpPr>
                <a:spLocks noChangeShapeType="1"/>
              </p:cNvSpPr>
              <p:nvPr/>
            </p:nvSpPr>
            <p:spPr bwMode="auto">
              <a:xfrm rot="5400000" flipH="1">
                <a:off x="2315" y="2546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直接连接符 184352"/>
              <p:cNvSpPr>
                <a:spLocks noChangeShapeType="1"/>
              </p:cNvSpPr>
              <p:nvPr/>
            </p:nvSpPr>
            <p:spPr bwMode="auto">
              <a:xfrm rot="5400000">
                <a:off x="2356" y="295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直接连接符 184353"/>
              <p:cNvSpPr>
                <a:spLocks noChangeShapeType="1"/>
              </p:cNvSpPr>
              <p:nvPr/>
            </p:nvSpPr>
            <p:spPr bwMode="auto">
              <a:xfrm rot="5400000">
                <a:off x="2381" y="2297"/>
                <a:ext cx="0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4" name="椭圆 184354"/>
              <p:cNvSpPr>
                <a:spLocks noChangeArrowheads="1"/>
              </p:cNvSpPr>
              <p:nvPr/>
            </p:nvSpPr>
            <p:spPr bwMode="auto">
              <a:xfrm rot="5400000">
                <a:off x="2364" y="3040"/>
                <a:ext cx="46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" name="直接连接符 184355"/>
            <p:cNvSpPr>
              <a:spLocks noChangeShapeType="1"/>
            </p:cNvSpPr>
            <p:nvPr/>
          </p:nvSpPr>
          <p:spPr bwMode="auto">
            <a:xfrm flipH="1">
              <a:off x="2494" y="170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" name="直接连接符 184356"/>
            <p:cNvSpPr>
              <a:spLocks noChangeShapeType="1"/>
            </p:cNvSpPr>
            <p:nvPr/>
          </p:nvSpPr>
          <p:spPr bwMode="auto">
            <a:xfrm>
              <a:off x="1179" y="1797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184357"/>
            <p:cNvSpPr>
              <a:spLocks noChangeShapeType="1"/>
            </p:cNvSpPr>
            <p:nvPr/>
          </p:nvSpPr>
          <p:spPr bwMode="auto">
            <a:xfrm>
              <a:off x="1179" y="206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184358"/>
            <p:cNvSpPr>
              <a:spLocks noChangeShapeType="1"/>
            </p:cNvSpPr>
            <p:nvPr/>
          </p:nvSpPr>
          <p:spPr bwMode="auto">
            <a:xfrm>
              <a:off x="2358" y="206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184359"/>
            <p:cNvSpPr>
              <a:spLocks noChangeShapeType="1"/>
            </p:cNvSpPr>
            <p:nvPr/>
          </p:nvSpPr>
          <p:spPr bwMode="auto">
            <a:xfrm>
              <a:off x="1723" y="2568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184360"/>
            <p:cNvSpPr>
              <a:spLocks noChangeShapeType="1"/>
            </p:cNvSpPr>
            <p:nvPr/>
          </p:nvSpPr>
          <p:spPr bwMode="auto">
            <a:xfrm>
              <a:off x="1905" y="2568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184361"/>
            <p:cNvSpPr>
              <a:spLocks noChangeShapeType="1"/>
            </p:cNvSpPr>
            <p:nvPr/>
          </p:nvSpPr>
          <p:spPr bwMode="auto">
            <a:xfrm>
              <a:off x="1315" y="2069"/>
              <a:ext cx="408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184362"/>
            <p:cNvSpPr>
              <a:spLocks noChangeShapeType="1"/>
            </p:cNvSpPr>
            <p:nvPr/>
          </p:nvSpPr>
          <p:spPr bwMode="auto">
            <a:xfrm flipH="1">
              <a:off x="1905" y="2069"/>
              <a:ext cx="45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184363"/>
            <p:cNvSpPr>
              <a:spLocks noChangeShapeType="1"/>
            </p:cNvSpPr>
            <p:nvPr/>
          </p:nvSpPr>
          <p:spPr bwMode="auto">
            <a:xfrm>
              <a:off x="3084" y="1933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8" name="文本框 184364"/>
            <p:cNvSpPr txBox="1">
              <a:spLocks noChangeArrowheads="1"/>
            </p:cNvSpPr>
            <p:nvPr/>
          </p:nvSpPr>
          <p:spPr bwMode="auto">
            <a:xfrm>
              <a:off x="771" y="2115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29" name="文本框 184365"/>
            <p:cNvSpPr txBox="1">
              <a:spLocks noChangeArrowheads="1"/>
            </p:cNvSpPr>
            <p:nvPr/>
          </p:nvSpPr>
          <p:spPr bwMode="auto">
            <a:xfrm>
              <a:off x="2639" y="2078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30" name="文本框 184366"/>
            <p:cNvSpPr txBox="1">
              <a:spLocks noChangeArrowheads="1"/>
            </p:cNvSpPr>
            <p:nvPr/>
          </p:nvSpPr>
          <p:spPr bwMode="auto">
            <a:xfrm>
              <a:off x="1950" y="2841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31" name="直接连接符 184367"/>
            <p:cNvSpPr>
              <a:spLocks noChangeShapeType="1"/>
            </p:cNvSpPr>
            <p:nvPr/>
          </p:nvSpPr>
          <p:spPr bwMode="auto">
            <a:xfrm>
              <a:off x="1814" y="329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2" name="文本框 184368"/>
            <p:cNvSpPr txBox="1">
              <a:spLocks noChangeArrowheads="1"/>
            </p:cNvSpPr>
            <p:nvPr/>
          </p:nvSpPr>
          <p:spPr bwMode="auto">
            <a:xfrm>
              <a:off x="1995" y="2568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3" name="文本框 184369"/>
            <p:cNvSpPr txBox="1">
              <a:spLocks noChangeArrowheads="1"/>
            </p:cNvSpPr>
            <p:nvPr/>
          </p:nvSpPr>
          <p:spPr bwMode="auto">
            <a:xfrm>
              <a:off x="2404" y="1480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4" name="文本框 184370"/>
            <p:cNvSpPr txBox="1">
              <a:spLocks noChangeArrowheads="1"/>
            </p:cNvSpPr>
            <p:nvPr/>
          </p:nvSpPr>
          <p:spPr bwMode="auto">
            <a:xfrm>
              <a:off x="1043" y="1480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graphicFrame>
          <p:nvGraphicFramePr>
            <p:cNvPr id="35" name="对象 184371"/>
            <p:cNvGraphicFramePr>
              <a:graphicFrameLocks/>
            </p:cNvGraphicFramePr>
            <p:nvPr/>
          </p:nvGraphicFramePr>
          <p:xfrm>
            <a:off x="3326" y="1480"/>
            <a:ext cx="265" cy="397"/>
          </p:xfrm>
          <a:graphic>
            <a:graphicData uri="http://schemas.openxmlformats.org/presentationml/2006/ole">
              <p:oleObj spid="_x0000_s44039" r:id="rId5" imgW="5486400" imgH="8229600" progId="Equation.3">
                <p:embed/>
              </p:oleObj>
            </a:graphicData>
          </a:graphic>
        </p:graphicFrame>
        <p:graphicFrame>
          <p:nvGraphicFramePr>
            <p:cNvPr id="36" name="对象 184372"/>
            <p:cNvGraphicFramePr>
              <a:graphicFrameLocks/>
            </p:cNvGraphicFramePr>
            <p:nvPr/>
          </p:nvGraphicFramePr>
          <p:xfrm>
            <a:off x="1995" y="3158"/>
            <a:ext cx="273" cy="408"/>
          </p:xfrm>
          <a:graphic>
            <a:graphicData uri="http://schemas.openxmlformats.org/presentationml/2006/ole">
              <p:oleObj spid="_x0000_s44038" r:id="rId6" imgW="5486400" imgH="8229600" progId="Equation.3">
                <p:embed/>
              </p:oleObj>
            </a:graphicData>
          </a:graphic>
        </p:graphicFrame>
        <p:sp>
          <p:nvSpPr>
            <p:cNvPr id="37" name="文本框 184431"/>
            <p:cNvSpPr txBox="1">
              <a:spLocks noChangeArrowheads="1"/>
            </p:cNvSpPr>
            <p:nvPr/>
          </p:nvSpPr>
          <p:spPr bwMode="auto">
            <a:xfrm>
              <a:off x="657" y="3022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(a)</a:t>
              </a:r>
            </a:p>
          </p:txBody>
        </p:sp>
      </p:grpSp>
      <p:grpSp>
        <p:nvGrpSpPr>
          <p:cNvPr id="55" name="组合 184438"/>
          <p:cNvGrpSpPr/>
          <p:nvPr/>
        </p:nvGrpSpPr>
        <p:grpSpPr bwMode="auto">
          <a:xfrm>
            <a:off x="4572000" y="3478233"/>
            <a:ext cx="4373563" cy="2879725"/>
            <a:chOff x="2880" y="2115"/>
            <a:chExt cx="2755" cy="1814"/>
          </a:xfrm>
        </p:grpSpPr>
        <p:grpSp>
          <p:nvGrpSpPr>
            <p:cNvPr id="56" name="组合 184374"/>
            <p:cNvGrpSpPr/>
            <p:nvPr/>
          </p:nvGrpSpPr>
          <p:grpSpPr bwMode="auto">
            <a:xfrm>
              <a:off x="3963" y="2614"/>
              <a:ext cx="232" cy="112"/>
              <a:chOff x="3016" y="1888"/>
              <a:chExt cx="232" cy="91"/>
            </a:xfrm>
          </p:grpSpPr>
          <p:sp>
            <p:nvSpPr>
              <p:cNvPr id="105" name="直接连接符 184375"/>
              <p:cNvSpPr>
                <a:spLocks noChangeShapeType="1"/>
              </p:cNvSpPr>
              <p:nvPr/>
            </p:nvSpPr>
            <p:spPr bwMode="auto">
              <a:xfrm>
                <a:off x="3021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直接连接符 184376"/>
              <p:cNvSpPr>
                <a:spLocks noChangeShapeType="1"/>
              </p:cNvSpPr>
              <p:nvPr/>
            </p:nvSpPr>
            <p:spPr bwMode="auto">
              <a:xfrm>
                <a:off x="3021" y="1888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直接连接符 184377"/>
              <p:cNvSpPr>
                <a:spLocks noChangeShapeType="1"/>
              </p:cNvSpPr>
              <p:nvPr/>
            </p:nvSpPr>
            <p:spPr bwMode="auto">
              <a:xfrm>
                <a:off x="3021" y="197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8" name="直接连接符 184378"/>
              <p:cNvSpPr>
                <a:spLocks noChangeShapeType="1"/>
              </p:cNvSpPr>
              <p:nvPr/>
            </p:nvSpPr>
            <p:spPr bwMode="auto">
              <a:xfrm>
                <a:off x="3248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9" name="直接连接符 184379"/>
              <p:cNvSpPr>
                <a:spLocks noChangeShapeType="1"/>
              </p:cNvSpPr>
              <p:nvPr/>
            </p:nvSpPr>
            <p:spPr bwMode="auto">
              <a:xfrm>
                <a:off x="3016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" name="直接连接符 184380"/>
              <p:cNvSpPr>
                <a:spLocks noChangeShapeType="1"/>
              </p:cNvSpPr>
              <p:nvPr/>
            </p:nvSpPr>
            <p:spPr bwMode="auto">
              <a:xfrm>
                <a:off x="3016" y="197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" name="直接连接符 184381"/>
              <p:cNvSpPr>
                <a:spLocks noChangeShapeType="1"/>
              </p:cNvSpPr>
              <p:nvPr/>
            </p:nvSpPr>
            <p:spPr bwMode="auto">
              <a:xfrm>
                <a:off x="3243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直接连接符 184382"/>
            <p:cNvSpPr>
              <a:spLocks noChangeShapeType="1"/>
            </p:cNvSpPr>
            <p:nvPr/>
          </p:nvSpPr>
          <p:spPr bwMode="auto">
            <a:xfrm>
              <a:off x="4281" y="2659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8" name="直接连接符 184383"/>
            <p:cNvSpPr>
              <a:spLocks noChangeShapeType="1"/>
            </p:cNvSpPr>
            <p:nvPr/>
          </p:nvSpPr>
          <p:spPr bwMode="auto">
            <a:xfrm flipH="1">
              <a:off x="3283" y="2659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59" name="组合 184384"/>
            <p:cNvGrpSpPr/>
            <p:nvPr/>
          </p:nvGrpSpPr>
          <p:grpSpPr bwMode="auto">
            <a:xfrm rot="2234755">
              <a:off x="3373" y="3022"/>
              <a:ext cx="771" cy="112"/>
              <a:chOff x="3515" y="2387"/>
              <a:chExt cx="771" cy="112"/>
            </a:xfrm>
          </p:grpSpPr>
          <p:grpSp>
            <p:nvGrpSpPr>
              <p:cNvPr id="95" name="组合 184385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98" name="直接连接符 184386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9" name="直接连接符 184387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0" name="直接连接符 184388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1" name="直接连接符 184389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" name="直接连接符 184390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3" name="直接连接符 184391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" name="直接连接符 184392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6" name="直接连接符 184393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7" name="直接连接符 184394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0" name="组合 184395"/>
            <p:cNvGrpSpPr/>
            <p:nvPr/>
          </p:nvGrpSpPr>
          <p:grpSpPr bwMode="auto">
            <a:xfrm rot="-2128453">
              <a:off x="4345" y="3014"/>
              <a:ext cx="771" cy="112"/>
              <a:chOff x="3515" y="2387"/>
              <a:chExt cx="771" cy="112"/>
            </a:xfrm>
          </p:grpSpPr>
          <p:grpSp>
            <p:nvGrpSpPr>
              <p:cNvPr id="85" name="组合 184396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88" name="直接连接符 184397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9" name="直接连接符 184398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0" name="直接连接符 184399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1" name="直接连接符 184400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" name="直接连接符 184401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" name="直接连接符 184402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" name="直接连接符 184403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86" name="直接连接符 184404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7" name="直接连接符 184405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" name="直接连接符 184406"/>
            <p:cNvSpPr>
              <a:spLocks noChangeShapeType="1"/>
            </p:cNvSpPr>
            <p:nvPr/>
          </p:nvSpPr>
          <p:spPr bwMode="auto">
            <a:xfrm>
              <a:off x="3283" y="2568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2" name="直接连接符 184407"/>
            <p:cNvSpPr>
              <a:spLocks noChangeShapeType="1"/>
            </p:cNvSpPr>
            <p:nvPr/>
          </p:nvSpPr>
          <p:spPr bwMode="auto">
            <a:xfrm>
              <a:off x="5234" y="2568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3" name="直接连接符 184408"/>
            <p:cNvSpPr>
              <a:spLocks noChangeShapeType="1"/>
            </p:cNvSpPr>
            <p:nvPr/>
          </p:nvSpPr>
          <p:spPr bwMode="auto">
            <a:xfrm>
              <a:off x="4009" y="3476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4" name="直接连接符 184409"/>
            <p:cNvSpPr>
              <a:spLocks noChangeShapeType="1"/>
            </p:cNvSpPr>
            <p:nvPr/>
          </p:nvSpPr>
          <p:spPr bwMode="auto">
            <a:xfrm>
              <a:off x="3283" y="28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5" name="直接连接符 184410"/>
            <p:cNvSpPr>
              <a:spLocks noChangeShapeType="1"/>
            </p:cNvSpPr>
            <p:nvPr/>
          </p:nvSpPr>
          <p:spPr bwMode="auto">
            <a:xfrm>
              <a:off x="5044" y="28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6" name="直接连接符 184411"/>
            <p:cNvSpPr>
              <a:spLocks noChangeShapeType="1"/>
            </p:cNvSpPr>
            <p:nvPr/>
          </p:nvSpPr>
          <p:spPr bwMode="auto">
            <a:xfrm>
              <a:off x="4073" y="329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" name="直接连接符 184412"/>
            <p:cNvSpPr>
              <a:spLocks noChangeShapeType="1"/>
            </p:cNvSpPr>
            <p:nvPr/>
          </p:nvSpPr>
          <p:spPr bwMode="auto">
            <a:xfrm>
              <a:off x="4399" y="329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" name="直接连接符 184413"/>
            <p:cNvSpPr>
              <a:spLocks noChangeShapeType="1"/>
            </p:cNvSpPr>
            <p:nvPr/>
          </p:nvSpPr>
          <p:spPr bwMode="auto">
            <a:xfrm>
              <a:off x="3057" y="270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9" name="直接连接符 184414"/>
            <p:cNvSpPr>
              <a:spLocks noChangeShapeType="1"/>
            </p:cNvSpPr>
            <p:nvPr/>
          </p:nvSpPr>
          <p:spPr bwMode="auto">
            <a:xfrm>
              <a:off x="5234" y="270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0" name="直接连接符 184415"/>
            <p:cNvSpPr>
              <a:spLocks noChangeShapeType="1"/>
            </p:cNvSpPr>
            <p:nvPr/>
          </p:nvSpPr>
          <p:spPr bwMode="auto">
            <a:xfrm>
              <a:off x="4236" y="347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" name="文本框 184416"/>
            <p:cNvSpPr txBox="1">
              <a:spLocks noChangeArrowheads="1"/>
            </p:cNvSpPr>
            <p:nvPr/>
          </p:nvSpPr>
          <p:spPr bwMode="auto">
            <a:xfrm>
              <a:off x="3147" y="2296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" name="文本框 184417"/>
            <p:cNvSpPr txBox="1">
              <a:spLocks noChangeArrowheads="1"/>
            </p:cNvSpPr>
            <p:nvPr/>
          </p:nvSpPr>
          <p:spPr bwMode="auto">
            <a:xfrm>
              <a:off x="4526" y="3340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3" name="文本框 184418"/>
            <p:cNvSpPr txBox="1">
              <a:spLocks noChangeArrowheads="1"/>
            </p:cNvSpPr>
            <p:nvPr/>
          </p:nvSpPr>
          <p:spPr bwMode="auto">
            <a:xfrm>
              <a:off x="5143" y="2296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4" name="文本框 184419"/>
            <p:cNvSpPr txBox="1">
              <a:spLocks noChangeArrowheads="1"/>
            </p:cNvSpPr>
            <p:nvPr/>
          </p:nvSpPr>
          <p:spPr bwMode="auto">
            <a:xfrm>
              <a:off x="4055" y="2342"/>
              <a:ext cx="36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" name="文本框 184420"/>
            <p:cNvSpPr txBox="1">
              <a:spLocks noChangeArrowheads="1"/>
            </p:cNvSpPr>
            <p:nvPr/>
          </p:nvSpPr>
          <p:spPr bwMode="auto">
            <a:xfrm>
              <a:off x="3737" y="2786"/>
              <a:ext cx="40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13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文本框 184421"/>
            <p:cNvSpPr txBox="1">
              <a:spLocks noChangeArrowheads="1"/>
            </p:cNvSpPr>
            <p:nvPr/>
          </p:nvSpPr>
          <p:spPr bwMode="auto">
            <a:xfrm>
              <a:off x="4417" y="2795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直接连接符 184422"/>
            <p:cNvSpPr>
              <a:spLocks noChangeShapeType="1"/>
            </p:cNvSpPr>
            <p:nvPr/>
          </p:nvSpPr>
          <p:spPr bwMode="auto">
            <a:xfrm>
              <a:off x="3374" y="2560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" name="直接连接符 184423"/>
            <p:cNvSpPr>
              <a:spLocks noChangeShapeType="1"/>
            </p:cNvSpPr>
            <p:nvPr/>
          </p:nvSpPr>
          <p:spPr bwMode="auto">
            <a:xfrm>
              <a:off x="3384" y="2949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79" name="对象 184424"/>
            <p:cNvGraphicFramePr>
              <a:graphicFrameLocks/>
            </p:cNvGraphicFramePr>
            <p:nvPr/>
          </p:nvGraphicFramePr>
          <p:xfrm>
            <a:off x="4327" y="3566"/>
            <a:ext cx="242" cy="363"/>
          </p:xfrm>
          <a:graphic>
            <a:graphicData uri="http://schemas.openxmlformats.org/presentationml/2006/ole">
              <p:oleObj spid="_x0000_s44037" r:id="rId7" imgW="5486400" imgH="8229600" progId="Equation.3">
                <p:embed/>
              </p:oleObj>
            </a:graphicData>
          </a:graphic>
        </p:graphicFrame>
        <p:graphicFrame>
          <p:nvGraphicFramePr>
            <p:cNvPr id="80" name="对象 184425"/>
            <p:cNvGraphicFramePr>
              <a:graphicFrameLocks/>
            </p:cNvGraphicFramePr>
            <p:nvPr/>
          </p:nvGraphicFramePr>
          <p:xfrm>
            <a:off x="5370" y="2251"/>
            <a:ext cx="265" cy="397"/>
          </p:xfrm>
          <a:graphic>
            <a:graphicData uri="http://schemas.openxmlformats.org/presentationml/2006/ole">
              <p:oleObj spid="_x0000_s44036" r:id="rId8" imgW="5486400" imgH="8229600" progId="Equation.3">
                <p:embed/>
              </p:oleObj>
            </a:graphicData>
          </a:graphic>
        </p:graphicFrame>
        <p:graphicFrame>
          <p:nvGraphicFramePr>
            <p:cNvPr id="81" name="对象 184426"/>
            <p:cNvGraphicFramePr>
              <a:graphicFrameLocks/>
            </p:cNvGraphicFramePr>
            <p:nvPr/>
          </p:nvGraphicFramePr>
          <p:xfrm>
            <a:off x="2880" y="2296"/>
            <a:ext cx="222" cy="352"/>
          </p:xfrm>
          <a:graphic>
            <a:graphicData uri="http://schemas.openxmlformats.org/presentationml/2006/ole">
              <p:oleObj spid="_x0000_s44035" r:id="rId9" imgW="5181600" imgH="8229600" progId="Equation.3">
                <p:embed/>
              </p:oleObj>
            </a:graphicData>
          </a:graphic>
        </p:graphicFrame>
        <p:graphicFrame>
          <p:nvGraphicFramePr>
            <p:cNvPr id="82" name="对象 184427"/>
            <p:cNvGraphicFramePr>
              <a:graphicFrameLocks/>
            </p:cNvGraphicFramePr>
            <p:nvPr/>
          </p:nvGraphicFramePr>
          <p:xfrm>
            <a:off x="3420" y="2115"/>
            <a:ext cx="239" cy="389"/>
          </p:xfrm>
          <a:graphic>
            <a:graphicData uri="http://schemas.openxmlformats.org/presentationml/2006/ole">
              <p:oleObj spid="_x0000_s44034" r:id="rId10" imgW="4876800" imgH="7924800" progId="Equation.3">
                <p:embed/>
              </p:oleObj>
            </a:graphicData>
          </a:graphic>
        </p:graphicFrame>
        <p:graphicFrame>
          <p:nvGraphicFramePr>
            <p:cNvPr id="83" name="对象 184428"/>
            <p:cNvGraphicFramePr>
              <a:graphicFrameLocks/>
            </p:cNvGraphicFramePr>
            <p:nvPr/>
          </p:nvGraphicFramePr>
          <p:xfrm>
            <a:off x="3357" y="3022"/>
            <a:ext cx="223" cy="363"/>
          </p:xfrm>
          <a:graphic>
            <a:graphicData uri="http://schemas.openxmlformats.org/presentationml/2006/ole">
              <p:oleObj spid="_x0000_s44033" r:id="rId11" imgW="4876800" imgH="7924800" progId="Equation.3">
                <p:embed/>
              </p:oleObj>
            </a:graphicData>
          </a:graphic>
        </p:graphicFrame>
        <p:sp>
          <p:nvSpPr>
            <p:cNvPr id="84" name="文本框 184432"/>
            <p:cNvSpPr txBox="1">
              <a:spLocks noChangeArrowheads="1"/>
            </p:cNvSpPr>
            <p:nvPr/>
          </p:nvSpPr>
          <p:spPr bwMode="auto">
            <a:xfrm>
              <a:off x="4967" y="3430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(b)</a:t>
              </a:r>
            </a:p>
          </p:txBody>
        </p:sp>
      </p:grpSp>
      <p:sp>
        <p:nvSpPr>
          <p:cNvPr id="112" name="矩形 184439"/>
          <p:cNvSpPr>
            <a:spLocks noRot="1" noChangeArrowheads="1"/>
          </p:cNvSpPr>
          <p:nvPr/>
        </p:nvSpPr>
        <p:spPr bwMode="auto">
          <a:xfrm>
            <a:off x="107950" y="214290"/>
            <a:ext cx="467995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2400">
                <a:solidFill>
                  <a:srgbClr val="CC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一、环式网络中的潮流计算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85347"/>
          <p:cNvSpPr txBox="1">
            <a:spLocks noChangeArrowheads="1"/>
          </p:cNvSpPr>
          <p:nvPr/>
        </p:nvSpPr>
        <p:spPr bwMode="auto">
          <a:xfrm>
            <a:off x="214282" y="1162073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力矩法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求环式网络的功率分布</a:t>
            </a:r>
          </a:p>
        </p:txBody>
      </p:sp>
      <p:sp>
        <p:nvSpPr>
          <p:cNvPr id="5" name="文本框 185348"/>
          <p:cNvSpPr txBox="1">
            <a:spLocks noChangeArrowheads="1"/>
          </p:cNvSpPr>
          <p:nvPr/>
        </p:nvSpPr>
        <p:spPr bwMode="auto">
          <a:xfrm>
            <a:off x="142844" y="1793898"/>
            <a:ext cx="8280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应用回路电流法列回路方程式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6" name="组合 185365"/>
          <p:cNvGrpSpPr/>
          <p:nvPr/>
        </p:nvGrpSpPr>
        <p:grpSpPr bwMode="auto">
          <a:xfrm>
            <a:off x="500034" y="2386036"/>
            <a:ext cx="6911975" cy="763587"/>
            <a:chOff x="839" y="1117"/>
            <a:chExt cx="4354" cy="481"/>
          </a:xfrm>
        </p:grpSpPr>
        <p:graphicFrame>
          <p:nvGraphicFramePr>
            <p:cNvPr id="7" name="对象 185349"/>
            <p:cNvGraphicFramePr>
              <a:graphicFrameLocks/>
            </p:cNvGraphicFramePr>
            <p:nvPr/>
          </p:nvGraphicFramePr>
          <p:xfrm>
            <a:off x="839" y="1117"/>
            <a:ext cx="3084" cy="481"/>
          </p:xfrm>
          <a:graphic>
            <a:graphicData uri="http://schemas.openxmlformats.org/presentationml/2006/ole">
              <p:oleObj spid="_x0000_s47120" r:id="rId3" imgW="66446400" imgH="10363200" progId="Equation.3">
                <p:embed/>
              </p:oleObj>
            </a:graphicData>
          </a:graphic>
        </p:graphicFrame>
        <p:sp>
          <p:nvSpPr>
            <p:cNvPr id="8" name="文本框 185350"/>
            <p:cNvSpPr txBox="1">
              <a:spLocks noChangeArrowheads="1"/>
            </p:cNvSpPr>
            <p:nvPr/>
          </p:nvSpPr>
          <p:spPr bwMode="auto">
            <a:xfrm>
              <a:off x="4241" y="1162"/>
              <a:ext cx="9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185366"/>
          <p:cNvGrpSpPr/>
          <p:nvPr/>
        </p:nvGrpSpPr>
        <p:grpSpPr bwMode="auto">
          <a:xfrm>
            <a:off x="395288" y="3033735"/>
            <a:ext cx="8424862" cy="1206499"/>
            <a:chOff x="249" y="1525"/>
            <a:chExt cx="5307" cy="760"/>
          </a:xfrm>
        </p:grpSpPr>
        <p:sp>
          <p:nvSpPr>
            <p:cNvPr id="10" name="文本框 185351"/>
            <p:cNvSpPr txBox="1">
              <a:spLocks noChangeArrowheads="1"/>
            </p:cNvSpPr>
            <p:nvPr/>
          </p:nvSpPr>
          <p:spPr bwMode="auto">
            <a:xfrm>
              <a:off x="249" y="1645"/>
              <a:ext cx="5307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式中，  为流经阻抗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Z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的电流，  、  分别为节点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的运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算负荷电流。 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1" name="对象 185352"/>
            <p:cNvGraphicFramePr>
              <a:graphicFrameLocks/>
            </p:cNvGraphicFramePr>
            <p:nvPr/>
          </p:nvGraphicFramePr>
          <p:xfrm>
            <a:off x="839" y="1525"/>
            <a:ext cx="251" cy="408"/>
          </p:xfrm>
          <a:graphic>
            <a:graphicData uri="http://schemas.openxmlformats.org/presentationml/2006/ole">
              <p:oleObj spid="_x0000_s47119" r:id="rId4" imgW="4876800" imgH="7924800" progId="Equation.3">
                <p:embed/>
              </p:oleObj>
            </a:graphicData>
          </a:graphic>
        </p:graphicFrame>
        <p:graphicFrame>
          <p:nvGraphicFramePr>
            <p:cNvPr id="12" name="对象 185353"/>
            <p:cNvGraphicFramePr>
              <a:graphicFrameLocks/>
            </p:cNvGraphicFramePr>
            <p:nvPr/>
          </p:nvGraphicFramePr>
          <p:xfrm>
            <a:off x="3016" y="1534"/>
            <a:ext cx="251" cy="408"/>
          </p:xfrm>
          <a:graphic>
            <a:graphicData uri="http://schemas.openxmlformats.org/presentationml/2006/ole">
              <p:oleObj spid="_x0000_s47118" r:id="rId5" imgW="4876800" imgH="7924800" progId="Equation.3">
                <p:embed/>
              </p:oleObj>
            </a:graphicData>
          </a:graphic>
        </p:graphicFrame>
        <p:graphicFrame>
          <p:nvGraphicFramePr>
            <p:cNvPr id="13" name="对象 185354"/>
            <p:cNvGraphicFramePr>
              <a:graphicFrameLocks/>
            </p:cNvGraphicFramePr>
            <p:nvPr/>
          </p:nvGraphicFramePr>
          <p:xfrm>
            <a:off x="3406" y="1579"/>
            <a:ext cx="209" cy="363"/>
          </p:xfrm>
          <a:graphic>
            <a:graphicData uri="http://schemas.openxmlformats.org/presentationml/2006/ole">
              <p:oleObj spid="_x0000_s47117" r:id="rId6" imgW="4572000" imgH="7924800" progId="Equation.3">
                <p:embed/>
              </p:oleObj>
            </a:graphicData>
          </a:graphic>
        </p:graphicFrame>
      </p:grpSp>
      <p:grpSp>
        <p:nvGrpSpPr>
          <p:cNvPr id="14" name="组合 185367"/>
          <p:cNvGrpSpPr/>
          <p:nvPr/>
        </p:nvGrpSpPr>
        <p:grpSpPr bwMode="auto">
          <a:xfrm>
            <a:off x="395288" y="4041798"/>
            <a:ext cx="8280400" cy="1871663"/>
            <a:chOff x="249" y="2160"/>
            <a:chExt cx="5216" cy="1179"/>
          </a:xfrm>
        </p:grpSpPr>
        <p:sp>
          <p:nvSpPr>
            <p:cNvPr id="15" name="文本框 185356"/>
            <p:cNvSpPr txBox="1">
              <a:spLocks noChangeArrowheads="1"/>
            </p:cNvSpPr>
            <p:nvPr/>
          </p:nvSpPr>
          <p:spPr bwMode="auto">
            <a:xfrm>
              <a:off x="249" y="2341"/>
              <a:ext cx="5216" cy="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如设全网电压为网络额定电压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，并将                    代入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式（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3-27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）中，其中     为相（线）电流，     为网络额定电压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 的共轭值，     为三相功率       的共轭值，则得</a:t>
              </a:r>
            </a:p>
          </p:txBody>
        </p:sp>
        <p:graphicFrame>
          <p:nvGraphicFramePr>
            <p:cNvPr id="16" name="对象 185358"/>
            <p:cNvGraphicFramePr>
              <a:graphicFrameLocks/>
            </p:cNvGraphicFramePr>
            <p:nvPr/>
          </p:nvGraphicFramePr>
          <p:xfrm>
            <a:off x="4059" y="2160"/>
            <a:ext cx="862" cy="563"/>
          </p:xfrm>
          <a:graphic>
            <a:graphicData uri="http://schemas.openxmlformats.org/presentationml/2006/ole">
              <p:oleObj spid="_x0000_s47116" r:id="rId7" imgW="17678400" imgH="13716000" progId="Equation.3">
                <p:embed/>
              </p:oleObj>
            </a:graphicData>
          </a:graphic>
        </p:graphicFrame>
        <p:graphicFrame>
          <p:nvGraphicFramePr>
            <p:cNvPr id="17" name="对象 185359"/>
            <p:cNvGraphicFramePr>
              <a:graphicFrameLocks/>
            </p:cNvGraphicFramePr>
            <p:nvPr/>
          </p:nvGraphicFramePr>
          <p:xfrm>
            <a:off x="2051" y="2568"/>
            <a:ext cx="194" cy="408"/>
          </p:xfrm>
          <a:graphic>
            <a:graphicData uri="http://schemas.openxmlformats.org/presentationml/2006/ole">
              <p:oleObj spid="_x0000_s47115" r:id="rId8" imgW="3048000" imgH="6400800" progId="Equation.3">
                <p:embed/>
              </p:oleObj>
            </a:graphicData>
          </a:graphic>
        </p:graphicFrame>
        <p:graphicFrame>
          <p:nvGraphicFramePr>
            <p:cNvPr id="18" name="对象 185360"/>
            <p:cNvGraphicFramePr>
              <a:graphicFrameLocks/>
            </p:cNvGraphicFramePr>
            <p:nvPr/>
          </p:nvGraphicFramePr>
          <p:xfrm>
            <a:off x="295" y="2931"/>
            <a:ext cx="272" cy="408"/>
          </p:xfrm>
          <a:graphic>
            <a:graphicData uri="http://schemas.openxmlformats.org/presentationml/2006/ole">
              <p:oleObj spid="_x0000_s47114" r:id="rId9" imgW="7010400" imgH="8229600" progId="Equation.3">
                <p:embed/>
              </p:oleObj>
            </a:graphicData>
          </a:graphic>
        </p:graphicFrame>
        <p:graphicFrame>
          <p:nvGraphicFramePr>
            <p:cNvPr id="19" name="对象 185361"/>
            <p:cNvGraphicFramePr>
              <a:graphicFrameLocks/>
            </p:cNvGraphicFramePr>
            <p:nvPr/>
          </p:nvGraphicFramePr>
          <p:xfrm>
            <a:off x="3742" y="2568"/>
            <a:ext cx="272" cy="408"/>
          </p:xfrm>
          <a:graphic>
            <a:graphicData uri="http://schemas.openxmlformats.org/presentationml/2006/ole">
              <p:oleObj spid="_x0000_s47113" r:id="rId10" imgW="7010400" imgH="8229600" progId="Equation.3">
                <p:embed/>
              </p:oleObj>
            </a:graphicData>
          </a:graphic>
        </p:graphicFrame>
        <p:graphicFrame>
          <p:nvGraphicFramePr>
            <p:cNvPr id="20" name="对象 185362"/>
            <p:cNvGraphicFramePr>
              <a:graphicFrameLocks/>
            </p:cNvGraphicFramePr>
            <p:nvPr/>
          </p:nvGraphicFramePr>
          <p:xfrm>
            <a:off x="1519" y="2886"/>
            <a:ext cx="278" cy="453"/>
          </p:xfrm>
          <a:graphic>
            <a:graphicData uri="http://schemas.openxmlformats.org/presentationml/2006/ole">
              <p:oleObj spid="_x0000_s47112" r:id="rId11" imgW="3352800" imgH="6705600" progId="Equation.3">
                <p:embed/>
              </p:oleObj>
            </a:graphicData>
          </a:graphic>
        </p:graphicFrame>
        <p:graphicFrame>
          <p:nvGraphicFramePr>
            <p:cNvPr id="21" name="对象 185363"/>
            <p:cNvGraphicFramePr>
              <a:graphicFrameLocks/>
            </p:cNvGraphicFramePr>
            <p:nvPr/>
          </p:nvGraphicFramePr>
          <p:xfrm>
            <a:off x="2789" y="2885"/>
            <a:ext cx="272" cy="454"/>
          </p:xfrm>
          <a:graphic>
            <a:graphicData uri="http://schemas.openxmlformats.org/presentationml/2006/ole">
              <p:oleObj spid="_x0000_s47111" r:id="rId12" imgW="3352800" imgH="6705600" progId="Equation.3">
                <p:embed/>
              </p:oleObj>
            </a:graphicData>
          </a:graphic>
        </p:graphicFrame>
      </p:grpSp>
      <p:graphicFrame>
        <p:nvGraphicFramePr>
          <p:cNvPr id="22" name="对象 185364"/>
          <p:cNvGraphicFramePr>
            <a:graphicFrameLocks/>
          </p:cNvGraphicFramePr>
          <p:nvPr/>
        </p:nvGraphicFramePr>
        <p:xfrm>
          <a:off x="971550" y="6057923"/>
          <a:ext cx="5473700" cy="657225"/>
        </p:xfrm>
        <a:graphic>
          <a:graphicData uri="http://schemas.openxmlformats.org/presentationml/2006/ole">
            <p:oleObj spid="_x0000_s47110" r:id="rId13" imgW="68580000" imgH="8229600" progId="Equation.3">
              <p:embed/>
            </p:oleObj>
          </a:graphicData>
        </a:graphic>
      </p:graphicFrame>
      <p:grpSp>
        <p:nvGrpSpPr>
          <p:cNvPr id="23" name="组合 184438"/>
          <p:cNvGrpSpPr/>
          <p:nvPr/>
        </p:nvGrpSpPr>
        <p:grpSpPr bwMode="auto">
          <a:xfrm>
            <a:off x="4572000" y="263523"/>
            <a:ext cx="4373563" cy="2879725"/>
            <a:chOff x="2880" y="2115"/>
            <a:chExt cx="2755" cy="1814"/>
          </a:xfrm>
        </p:grpSpPr>
        <p:grpSp>
          <p:nvGrpSpPr>
            <p:cNvPr id="24" name="组合 184374"/>
            <p:cNvGrpSpPr/>
            <p:nvPr/>
          </p:nvGrpSpPr>
          <p:grpSpPr bwMode="auto">
            <a:xfrm>
              <a:off x="3963" y="2614"/>
              <a:ext cx="232" cy="112"/>
              <a:chOff x="3016" y="1888"/>
              <a:chExt cx="232" cy="91"/>
            </a:xfrm>
          </p:grpSpPr>
          <p:sp>
            <p:nvSpPr>
              <p:cNvPr id="73" name="直接连接符 184375"/>
              <p:cNvSpPr>
                <a:spLocks noChangeShapeType="1"/>
              </p:cNvSpPr>
              <p:nvPr/>
            </p:nvSpPr>
            <p:spPr bwMode="auto">
              <a:xfrm>
                <a:off x="3021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直接连接符 184376"/>
              <p:cNvSpPr>
                <a:spLocks noChangeShapeType="1"/>
              </p:cNvSpPr>
              <p:nvPr/>
            </p:nvSpPr>
            <p:spPr bwMode="auto">
              <a:xfrm>
                <a:off x="3021" y="1888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5" name="直接连接符 184377"/>
              <p:cNvSpPr>
                <a:spLocks noChangeShapeType="1"/>
              </p:cNvSpPr>
              <p:nvPr/>
            </p:nvSpPr>
            <p:spPr bwMode="auto">
              <a:xfrm>
                <a:off x="3021" y="197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直接连接符 184378"/>
              <p:cNvSpPr>
                <a:spLocks noChangeShapeType="1"/>
              </p:cNvSpPr>
              <p:nvPr/>
            </p:nvSpPr>
            <p:spPr bwMode="auto">
              <a:xfrm>
                <a:off x="3248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直接连接符 184379"/>
              <p:cNvSpPr>
                <a:spLocks noChangeShapeType="1"/>
              </p:cNvSpPr>
              <p:nvPr/>
            </p:nvSpPr>
            <p:spPr bwMode="auto">
              <a:xfrm>
                <a:off x="3016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8" name="直接连接符 184380"/>
              <p:cNvSpPr>
                <a:spLocks noChangeShapeType="1"/>
              </p:cNvSpPr>
              <p:nvPr/>
            </p:nvSpPr>
            <p:spPr bwMode="auto">
              <a:xfrm>
                <a:off x="3016" y="197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9" name="直接连接符 184381"/>
              <p:cNvSpPr>
                <a:spLocks noChangeShapeType="1"/>
              </p:cNvSpPr>
              <p:nvPr/>
            </p:nvSpPr>
            <p:spPr bwMode="auto">
              <a:xfrm>
                <a:off x="3243" y="188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直接连接符 184382"/>
            <p:cNvSpPr>
              <a:spLocks noChangeShapeType="1"/>
            </p:cNvSpPr>
            <p:nvPr/>
          </p:nvSpPr>
          <p:spPr bwMode="auto">
            <a:xfrm>
              <a:off x="4281" y="2659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184383"/>
            <p:cNvSpPr>
              <a:spLocks noChangeShapeType="1"/>
            </p:cNvSpPr>
            <p:nvPr/>
          </p:nvSpPr>
          <p:spPr bwMode="auto">
            <a:xfrm flipH="1">
              <a:off x="3283" y="2659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7" name="组合 184384"/>
            <p:cNvGrpSpPr/>
            <p:nvPr/>
          </p:nvGrpSpPr>
          <p:grpSpPr bwMode="auto">
            <a:xfrm rot="2234755">
              <a:off x="3371" y="3020"/>
              <a:ext cx="771" cy="112"/>
              <a:chOff x="3515" y="2387"/>
              <a:chExt cx="771" cy="112"/>
            </a:xfrm>
          </p:grpSpPr>
          <p:grpSp>
            <p:nvGrpSpPr>
              <p:cNvPr id="63" name="组合 184385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66" name="直接连接符 184386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" name="直接连接符 184387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8" name="直接连接符 184388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直接连接符 184389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" name="直接连接符 184390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" name="直接连接符 184391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" name="直接连接符 184392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4" name="直接连接符 184393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直接连接符 184394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" name="组合 184395"/>
            <p:cNvGrpSpPr/>
            <p:nvPr/>
          </p:nvGrpSpPr>
          <p:grpSpPr bwMode="auto">
            <a:xfrm rot="-2128453">
              <a:off x="4345" y="3014"/>
              <a:ext cx="771" cy="112"/>
              <a:chOff x="3515" y="2387"/>
              <a:chExt cx="771" cy="112"/>
            </a:xfrm>
          </p:grpSpPr>
          <p:grpSp>
            <p:nvGrpSpPr>
              <p:cNvPr id="53" name="组合 184396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56" name="直接连接符 184397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" name="直接连接符 184398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" name="直接连接符 184399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" name="直接连接符 184400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0" name="直接连接符 184401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1" name="直接连接符 184402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直接连接符 184403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4" name="直接连接符 184404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直接连接符 184405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" name="直接连接符 184406"/>
            <p:cNvSpPr>
              <a:spLocks noChangeShapeType="1"/>
            </p:cNvSpPr>
            <p:nvPr/>
          </p:nvSpPr>
          <p:spPr bwMode="auto">
            <a:xfrm>
              <a:off x="3283" y="2568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0" name="直接连接符 184407"/>
            <p:cNvSpPr>
              <a:spLocks noChangeShapeType="1"/>
            </p:cNvSpPr>
            <p:nvPr/>
          </p:nvSpPr>
          <p:spPr bwMode="auto">
            <a:xfrm>
              <a:off x="5234" y="2568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1" name="直接连接符 184408"/>
            <p:cNvSpPr>
              <a:spLocks noChangeShapeType="1"/>
            </p:cNvSpPr>
            <p:nvPr/>
          </p:nvSpPr>
          <p:spPr bwMode="auto">
            <a:xfrm>
              <a:off x="4009" y="3476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2" name="直接连接符 184409"/>
            <p:cNvSpPr>
              <a:spLocks noChangeShapeType="1"/>
            </p:cNvSpPr>
            <p:nvPr/>
          </p:nvSpPr>
          <p:spPr bwMode="auto">
            <a:xfrm>
              <a:off x="3283" y="28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3" name="直接连接符 184410"/>
            <p:cNvSpPr>
              <a:spLocks noChangeShapeType="1"/>
            </p:cNvSpPr>
            <p:nvPr/>
          </p:nvSpPr>
          <p:spPr bwMode="auto">
            <a:xfrm>
              <a:off x="5044" y="28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4" name="直接连接符 184411"/>
            <p:cNvSpPr>
              <a:spLocks noChangeShapeType="1"/>
            </p:cNvSpPr>
            <p:nvPr/>
          </p:nvSpPr>
          <p:spPr bwMode="auto">
            <a:xfrm>
              <a:off x="4073" y="329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5" name="直接连接符 184412"/>
            <p:cNvSpPr>
              <a:spLocks noChangeShapeType="1"/>
            </p:cNvSpPr>
            <p:nvPr/>
          </p:nvSpPr>
          <p:spPr bwMode="auto">
            <a:xfrm>
              <a:off x="4399" y="329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" name="直接连接符 184413"/>
            <p:cNvSpPr>
              <a:spLocks noChangeShapeType="1"/>
            </p:cNvSpPr>
            <p:nvPr/>
          </p:nvSpPr>
          <p:spPr bwMode="auto">
            <a:xfrm>
              <a:off x="3057" y="2705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7" name="直接连接符 184414"/>
            <p:cNvSpPr>
              <a:spLocks noChangeShapeType="1"/>
            </p:cNvSpPr>
            <p:nvPr/>
          </p:nvSpPr>
          <p:spPr bwMode="auto">
            <a:xfrm>
              <a:off x="5234" y="270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8" name="直接连接符 184415"/>
            <p:cNvSpPr>
              <a:spLocks noChangeShapeType="1"/>
            </p:cNvSpPr>
            <p:nvPr/>
          </p:nvSpPr>
          <p:spPr bwMode="auto">
            <a:xfrm>
              <a:off x="4236" y="347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9" name="文本框 184416"/>
            <p:cNvSpPr txBox="1">
              <a:spLocks noChangeArrowheads="1"/>
            </p:cNvSpPr>
            <p:nvPr/>
          </p:nvSpPr>
          <p:spPr bwMode="auto">
            <a:xfrm>
              <a:off x="3147" y="2296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" name="文本框 184417"/>
            <p:cNvSpPr txBox="1">
              <a:spLocks noChangeArrowheads="1"/>
            </p:cNvSpPr>
            <p:nvPr/>
          </p:nvSpPr>
          <p:spPr bwMode="auto">
            <a:xfrm>
              <a:off x="4526" y="3340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1" name="文本框 184418"/>
            <p:cNvSpPr txBox="1">
              <a:spLocks noChangeArrowheads="1"/>
            </p:cNvSpPr>
            <p:nvPr/>
          </p:nvSpPr>
          <p:spPr bwMode="auto">
            <a:xfrm>
              <a:off x="5143" y="2296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" name="文本框 184419"/>
            <p:cNvSpPr txBox="1">
              <a:spLocks noChangeArrowheads="1"/>
            </p:cNvSpPr>
            <p:nvPr/>
          </p:nvSpPr>
          <p:spPr bwMode="auto">
            <a:xfrm>
              <a:off x="4055" y="2342"/>
              <a:ext cx="36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文本框 184420"/>
            <p:cNvSpPr txBox="1">
              <a:spLocks noChangeArrowheads="1"/>
            </p:cNvSpPr>
            <p:nvPr/>
          </p:nvSpPr>
          <p:spPr bwMode="auto">
            <a:xfrm>
              <a:off x="3737" y="2786"/>
              <a:ext cx="40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13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文本框 184421"/>
            <p:cNvSpPr txBox="1">
              <a:spLocks noChangeArrowheads="1"/>
            </p:cNvSpPr>
            <p:nvPr/>
          </p:nvSpPr>
          <p:spPr bwMode="auto">
            <a:xfrm>
              <a:off x="4417" y="2795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直接连接符 184422"/>
            <p:cNvSpPr>
              <a:spLocks noChangeShapeType="1"/>
            </p:cNvSpPr>
            <p:nvPr/>
          </p:nvSpPr>
          <p:spPr bwMode="auto">
            <a:xfrm>
              <a:off x="3374" y="2560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6" name="直接连接符 184423"/>
            <p:cNvSpPr>
              <a:spLocks noChangeShapeType="1"/>
            </p:cNvSpPr>
            <p:nvPr/>
          </p:nvSpPr>
          <p:spPr bwMode="auto">
            <a:xfrm>
              <a:off x="3384" y="2949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47" name="对象 184424"/>
            <p:cNvGraphicFramePr>
              <a:graphicFrameLocks/>
            </p:cNvGraphicFramePr>
            <p:nvPr/>
          </p:nvGraphicFramePr>
          <p:xfrm>
            <a:off x="4327" y="3566"/>
            <a:ext cx="242" cy="363"/>
          </p:xfrm>
          <a:graphic>
            <a:graphicData uri="http://schemas.openxmlformats.org/presentationml/2006/ole">
              <p:oleObj spid="_x0000_s47109" r:id="rId14" imgW="5486400" imgH="8229600" progId="Equation.3">
                <p:embed/>
              </p:oleObj>
            </a:graphicData>
          </a:graphic>
        </p:graphicFrame>
        <p:graphicFrame>
          <p:nvGraphicFramePr>
            <p:cNvPr id="48" name="对象 184425"/>
            <p:cNvGraphicFramePr>
              <a:graphicFrameLocks/>
            </p:cNvGraphicFramePr>
            <p:nvPr/>
          </p:nvGraphicFramePr>
          <p:xfrm>
            <a:off x="5370" y="2251"/>
            <a:ext cx="265" cy="397"/>
          </p:xfrm>
          <a:graphic>
            <a:graphicData uri="http://schemas.openxmlformats.org/presentationml/2006/ole">
              <p:oleObj spid="_x0000_s47108" r:id="rId15" imgW="5486400" imgH="8229600" progId="Equation.3">
                <p:embed/>
              </p:oleObj>
            </a:graphicData>
          </a:graphic>
        </p:graphicFrame>
        <p:graphicFrame>
          <p:nvGraphicFramePr>
            <p:cNvPr id="49" name="对象 184426"/>
            <p:cNvGraphicFramePr>
              <a:graphicFrameLocks/>
            </p:cNvGraphicFramePr>
            <p:nvPr/>
          </p:nvGraphicFramePr>
          <p:xfrm>
            <a:off x="2880" y="2296"/>
            <a:ext cx="222" cy="352"/>
          </p:xfrm>
          <a:graphic>
            <a:graphicData uri="http://schemas.openxmlformats.org/presentationml/2006/ole">
              <p:oleObj spid="_x0000_s47107" r:id="rId16" imgW="5181600" imgH="8229600" progId="Equation.3">
                <p:embed/>
              </p:oleObj>
            </a:graphicData>
          </a:graphic>
        </p:graphicFrame>
        <p:graphicFrame>
          <p:nvGraphicFramePr>
            <p:cNvPr id="50" name="对象 184427"/>
            <p:cNvGraphicFramePr>
              <a:graphicFrameLocks/>
            </p:cNvGraphicFramePr>
            <p:nvPr/>
          </p:nvGraphicFramePr>
          <p:xfrm>
            <a:off x="3420" y="2115"/>
            <a:ext cx="239" cy="389"/>
          </p:xfrm>
          <a:graphic>
            <a:graphicData uri="http://schemas.openxmlformats.org/presentationml/2006/ole">
              <p:oleObj spid="_x0000_s47106" r:id="rId17" imgW="4876800" imgH="7924800" progId="Equation.3">
                <p:embed/>
              </p:oleObj>
            </a:graphicData>
          </a:graphic>
        </p:graphicFrame>
        <p:graphicFrame>
          <p:nvGraphicFramePr>
            <p:cNvPr id="51" name="对象 184428"/>
            <p:cNvGraphicFramePr>
              <a:graphicFrameLocks/>
            </p:cNvGraphicFramePr>
            <p:nvPr/>
          </p:nvGraphicFramePr>
          <p:xfrm>
            <a:off x="3357" y="3022"/>
            <a:ext cx="223" cy="363"/>
          </p:xfrm>
          <a:graphic>
            <a:graphicData uri="http://schemas.openxmlformats.org/presentationml/2006/ole">
              <p:oleObj spid="_x0000_s47105" r:id="rId18" imgW="4876800" imgH="7924800" progId="Equation.3">
                <p:embed/>
              </p:oleObj>
            </a:graphicData>
          </a:graphic>
        </p:graphicFrame>
        <p:sp>
          <p:nvSpPr>
            <p:cNvPr id="52" name="文本框 184432"/>
            <p:cNvSpPr txBox="1">
              <a:spLocks noChangeArrowheads="1"/>
            </p:cNvSpPr>
            <p:nvPr/>
          </p:nvSpPr>
          <p:spPr bwMode="auto">
            <a:xfrm>
              <a:off x="4967" y="3430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(b)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86371"/>
          <p:cNvSpPr txBox="1">
            <a:spLocks noChangeArrowheads="1"/>
          </p:cNvSpPr>
          <p:nvPr/>
        </p:nvSpPr>
        <p:spPr bwMode="auto">
          <a:xfrm>
            <a:off x="395288" y="787380"/>
            <a:ext cx="8280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由上式解得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" name="组合 186399"/>
          <p:cNvGrpSpPr/>
          <p:nvPr/>
        </p:nvGrpSpPr>
        <p:grpSpPr bwMode="auto">
          <a:xfrm>
            <a:off x="971550" y="1506518"/>
            <a:ext cx="7561263" cy="1066800"/>
            <a:chOff x="612" y="799"/>
            <a:chExt cx="4763" cy="672"/>
          </a:xfrm>
        </p:grpSpPr>
        <p:graphicFrame>
          <p:nvGraphicFramePr>
            <p:cNvPr id="6" name="对象 186373"/>
            <p:cNvGraphicFramePr>
              <a:graphicFrameLocks/>
            </p:cNvGraphicFramePr>
            <p:nvPr/>
          </p:nvGraphicFramePr>
          <p:xfrm>
            <a:off x="612" y="799"/>
            <a:ext cx="3039" cy="672"/>
          </p:xfrm>
          <a:graphic>
            <a:graphicData uri="http://schemas.openxmlformats.org/presentationml/2006/ole">
              <p:oleObj spid="_x0000_s48135" r:id="rId3" imgW="68884800" imgH="15240000" progId="Equation.3">
                <p:embed/>
              </p:oleObj>
            </a:graphicData>
          </a:graphic>
        </p:graphicFrame>
        <p:sp>
          <p:nvSpPr>
            <p:cNvPr id="7" name="文本框 186374"/>
            <p:cNvSpPr txBox="1">
              <a:spLocks noChangeArrowheads="1"/>
            </p:cNvSpPr>
            <p:nvPr/>
          </p:nvSpPr>
          <p:spPr bwMode="auto">
            <a:xfrm>
              <a:off x="4195" y="981"/>
              <a:ext cx="118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3-28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8" name="组合 186397"/>
          <p:cNvGrpSpPr/>
          <p:nvPr/>
        </p:nvGrpSpPr>
        <p:grpSpPr bwMode="auto">
          <a:xfrm>
            <a:off x="2124075" y="642918"/>
            <a:ext cx="2303463" cy="647700"/>
            <a:chOff x="1338" y="255"/>
            <a:chExt cx="1451" cy="40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" name="椭圆形标注 186375"/>
            <p:cNvSpPr>
              <a:spLocks noChangeArrowheads="1"/>
            </p:cNvSpPr>
            <p:nvPr/>
          </p:nvSpPr>
          <p:spPr bwMode="auto">
            <a:xfrm>
              <a:off x="1338" y="255"/>
              <a:ext cx="1451" cy="408"/>
            </a:xfrm>
            <a:prstGeom prst="wedgeEllipseCallout">
              <a:avLst>
                <a:gd name="adj1" fmla="val 43796"/>
                <a:gd name="adj2" fmla="val 103676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endPara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" name="对象 186376"/>
            <p:cNvGraphicFramePr>
              <a:graphicFrameLocks/>
            </p:cNvGraphicFramePr>
            <p:nvPr/>
          </p:nvGraphicFramePr>
          <p:xfrm>
            <a:off x="1519" y="255"/>
            <a:ext cx="1120" cy="383"/>
          </p:xfrm>
          <a:graphic>
            <a:graphicData uri="http://schemas.openxmlformats.org/presentationml/2006/ole">
              <p:oleObj spid="_x0000_s48134" r:id="rId4" imgW="23164800" imgH="7924800" progId="Equation.3">
                <p:embed/>
              </p:oleObj>
            </a:graphicData>
          </a:graphic>
        </p:graphicFrame>
      </p:grpSp>
      <p:grpSp>
        <p:nvGrpSpPr>
          <p:cNvPr id="11" name="组合 186398"/>
          <p:cNvGrpSpPr/>
          <p:nvPr/>
        </p:nvGrpSpPr>
        <p:grpSpPr bwMode="auto">
          <a:xfrm>
            <a:off x="5435600" y="642918"/>
            <a:ext cx="2303463" cy="649287"/>
            <a:chOff x="3424" y="255"/>
            <a:chExt cx="1451" cy="409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2" name="椭圆形标注 186377"/>
            <p:cNvSpPr>
              <a:spLocks noChangeArrowheads="1"/>
            </p:cNvSpPr>
            <p:nvPr/>
          </p:nvSpPr>
          <p:spPr bwMode="auto">
            <a:xfrm>
              <a:off x="3424" y="255"/>
              <a:ext cx="1451" cy="408"/>
            </a:xfrm>
            <a:prstGeom prst="wedgeEllipseCallout">
              <a:avLst>
                <a:gd name="adj1" fmla="val -54065"/>
                <a:gd name="adj2" fmla="val 9363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endPara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3" name="对象 186378"/>
            <p:cNvGraphicFramePr>
              <a:graphicFrameLocks/>
            </p:cNvGraphicFramePr>
            <p:nvPr/>
          </p:nvGraphicFramePr>
          <p:xfrm>
            <a:off x="3787" y="255"/>
            <a:ext cx="771" cy="409"/>
          </p:xfrm>
          <a:graphic>
            <a:graphicData uri="http://schemas.openxmlformats.org/presentationml/2006/ole">
              <p:oleObj spid="_x0000_s48133" r:id="rId5" imgW="14935200" imgH="7924800" progId="Equation.3">
                <p:embed/>
              </p:oleObj>
            </a:graphicData>
          </a:graphic>
        </p:graphicFrame>
      </p:grpSp>
      <p:grpSp>
        <p:nvGrpSpPr>
          <p:cNvPr id="14" name="组合 186400"/>
          <p:cNvGrpSpPr/>
          <p:nvPr/>
        </p:nvGrpSpPr>
        <p:grpSpPr bwMode="auto">
          <a:xfrm>
            <a:off x="468313" y="2587605"/>
            <a:ext cx="8280400" cy="649288"/>
            <a:chOff x="295" y="1480"/>
            <a:chExt cx="5216" cy="409"/>
          </a:xfrm>
        </p:grpSpPr>
        <p:sp>
          <p:nvSpPr>
            <p:cNvPr id="15" name="文本框 186381"/>
            <p:cNvSpPr txBox="1">
              <a:spLocks noChangeArrowheads="1"/>
            </p:cNvSpPr>
            <p:nvPr/>
          </p:nvSpPr>
          <p:spPr bwMode="auto">
            <a:xfrm>
              <a:off x="295" y="1600"/>
              <a:ext cx="521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相似地，流经阻抗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13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功率       为</a:t>
              </a:r>
            </a:p>
          </p:txBody>
        </p:sp>
        <p:graphicFrame>
          <p:nvGraphicFramePr>
            <p:cNvPr id="16" name="对象 186382"/>
            <p:cNvGraphicFramePr>
              <a:graphicFrameLocks/>
            </p:cNvGraphicFramePr>
            <p:nvPr/>
          </p:nvGraphicFramePr>
          <p:xfrm>
            <a:off x="2971" y="1480"/>
            <a:ext cx="273" cy="409"/>
          </p:xfrm>
          <a:graphic>
            <a:graphicData uri="http://schemas.openxmlformats.org/presentationml/2006/ole">
              <p:oleObj spid="_x0000_s48132" r:id="rId6" imgW="5486400" imgH="8229600" progId="Equation.3">
                <p:embed/>
              </p:oleObj>
            </a:graphicData>
          </a:graphic>
        </p:graphicFrame>
      </p:grpSp>
      <p:grpSp>
        <p:nvGrpSpPr>
          <p:cNvPr id="17" name="组合 186403"/>
          <p:cNvGrpSpPr/>
          <p:nvPr/>
        </p:nvGrpSpPr>
        <p:grpSpPr bwMode="auto">
          <a:xfrm>
            <a:off x="1216025" y="4276705"/>
            <a:ext cx="7099300" cy="960438"/>
            <a:chOff x="766" y="2544"/>
            <a:chExt cx="4472" cy="605"/>
          </a:xfrm>
        </p:grpSpPr>
        <p:graphicFrame>
          <p:nvGraphicFramePr>
            <p:cNvPr id="18" name="对象 186384"/>
            <p:cNvGraphicFramePr>
              <a:graphicFrameLocks/>
            </p:cNvGraphicFramePr>
            <p:nvPr/>
          </p:nvGraphicFramePr>
          <p:xfrm>
            <a:off x="766" y="2544"/>
            <a:ext cx="2731" cy="605"/>
          </p:xfrm>
          <a:graphic>
            <a:graphicData uri="http://schemas.openxmlformats.org/presentationml/2006/ole">
              <p:oleObj spid="_x0000_s48131" name="Equation" r:id="rId7" imgW="61874400" imgH="13716000" progId="Equation.DSMT4">
                <p:embed/>
              </p:oleObj>
            </a:graphicData>
          </a:graphic>
        </p:graphicFrame>
        <p:sp>
          <p:nvSpPr>
            <p:cNvPr id="19" name="文本框 186389"/>
            <p:cNvSpPr txBox="1">
              <a:spLocks noChangeArrowheads="1"/>
            </p:cNvSpPr>
            <p:nvPr/>
          </p:nvSpPr>
          <p:spPr bwMode="auto">
            <a:xfrm>
              <a:off x="4286" y="2750"/>
              <a:ext cx="95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3-29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20" name="组合 186401"/>
          <p:cNvGrpSpPr/>
          <p:nvPr/>
        </p:nvGrpSpPr>
        <p:grpSpPr bwMode="auto">
          <a:xfrm>
            <a:off x="2124075" y="3346430"/>
            <a:ext cx="2303463" cy="681038"/>
            <a:chOff x="1338" y="1958"/>
            <a:chExt cx="1451" cy="429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1" name="椭圆形标注 186385"/>
            <p:cNvSpPr>
              <a:spLocks noChangeArrowheads="1"/>
            </p:cNvSpPr>
            <p:nvPr/>
          </p:nvSpPr>
          <p:spPr bwMode="auto">
            <a:xfrm>
              <a:off x="1338" y="1979"/>
              <a:ext cx="1451" cy="408"/>
            </a:xfrm>
            <a:prstGeom prst="wedgeEllipseCallout">
              <a:avLst>
                <a:gd name="adj1" fmla="val 43796"/>
                <a:gd name="adj2" fmla="val 92403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endPara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2" name="对象 186391"/>
            <p:cNvGraphicFramePr>
              <a:graphicFrameLocks/>
            </p:cNvGraphicFramePr>
            <p:nvPr/>
          </p:nvGraphicFramePr>
          <p:xfrm>
            <a:off x="1701" y="1958"/>
            <a:ext cx="725" cy="429"/>
          </p:xfrm>
          <a:graphic>
            <a:graphicData uri="http://schemas.openxmlformats.org/presentationml/2006/ole">
              <p:oleObj spid="_x0000_s48130" r:id="rId8" imgW="14935200" imgH="8839200" progId="Equation.3">
                <p:embed/>
              </p:oleObj>
            </a:graphicData>
          </a:graphic>
        </p:graphicFrame>
      </p:grpSp>
      <p:grpSp>
        <p:nvGrpSpPr>
          <p:cNvPr id="23" name="组合 186402"/>
          <p:cNvGrpSpPr/>
          <p:nvPr/>
        </p:nvGrpSpPr>
        <p:grpSpPr bwMode="auto">
          <a:xfrm>
            <a:off x="5508625" y="3214686"/>
            <a:ext cx="2706713" cy="812782"/>
            <a:chOff x="3470" y="1962"/>
            <a:chExt cx="1451" cy="425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4" name="椭圆形标注 186386"/>
            <p:cNvSpPr>
              <a:spLocks noChangeArrowheads="1"/>
            </p:cNvSpPr>
            <p:nvPr/>
          </p:nvSpPr>
          <p:spPr bwMode="auto">
            <a:xfrm>
              <a:off x="3470" y="1979"/>
              <a:ext cx="1451" cy="408"/>
            </a:xfrm>
            <a:prstGeom prst="wedgeEllipseCallout">
              <a:avLst>
                <a:gd name="adj1" fmla="val -54065"/>
                <a:gd name="adj2" fmla="val 9363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endPara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5" name="对象 186392"/>
            <p:cNvGraphicFramePr>
              <a:graphicFrameLocks/>
            </p:cNvGraphicFramePr>
            <p:nvPr/>
          </p:nvGraphicFramePr>
          <p:xfrm>
            <a:off x="3651" y="1962"/>
            <a:ext cx="1180" cy="407"/>
          </p:xfrm>
          <a:graphic>
            <a:graphicData uri="http://schemas.openxmlformats.org/presentationml/2006/ole">
              <p:oleObj spid="_x0000_s48129" r:id="rId9" imgW="25603200" imgH="8839200" progId="Equation.3">
                <p:embed/>
              </p:oleObj>
            </a:graphicData>
          </a:graphic>
        </p:graphicFrame>
      </p:grpSp>
      <p:sp>
        <p:nvSpPr>
          <p:cNvPr id="26" name="文本框 186395"/>
          <p:cNvSpPr txBox="1">
            <a:spLocks noChangeArrowheads="1"/>
          </p:cNvSpPr>
          <p:nvPr/>
        </p:nvSpPr>
        <p:spPr bwMode="auto">
          <a:xfrm>
            <a:off x="468313" y="5179993"/>
            <a:ext cx="8280400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对上两式可作如下理解。在节点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把网络打开，可得一等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值的两端供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电网。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其两端电压大小相等，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相位相同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87454"/>
          <p:cNvSpPr txBox="1">
            <a:spLocks noChangeArrowheads="1"/>
          </p:cNvSpPr>
          <p:nvPr/>
        </p:nvSpPr>
        <p:spPr bwMode="auto">
          <a:xfrm>
            <a:off x="-32" y="542908"/>
            <a:ext cx="89646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对于具有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个节点的环式网络，以上两个公式可进一步推广为</a:t>
            </a:r>
          </a:p>
        </p:txBody>
      </p:sp>
      <p:grpSp>
        <p:nvGrpSpPr>
          <p:cNvPr id="66" name="组合 187469"/>
          <p:cNvGrpSpPr/>
          <p:nvPr/>
        </p:nvGrpSpPr>
        <p:grpSpPr bwMode="auto">
          <a:xfrm>
            <a:off x="4932363" y="1125538"/>
            <a:ext cx="3960812" cy="1392237"/>
            <a:chOff x="3107" y="709"/>
            <a:chExt cx="2495" cy="877"/>
          </a:xfrm>
        </p:grpSpPr>
        <p:graphicFrame>
          <p:nvGraphicFramePr>
            <p:cNvPr id="67" name="对象 187456"/>
            <p:cNvGraphicFramePr>
              <a:graphicFrameLocks/>
            </p:cNvGraphicFramePr>
            <p:nvPr/>
          </p:nvGraphicFramePr>
          <p:xfrm>
            <a:off x="3107" y="709"/>
            <a:ext cx="1225" cy="877"/>
          </p:xfrm>
          <a:graphic>
            <a:graphicData uri="http://schemas.openxmlformats.org/presentationml/2006/ole">
              <p:oleObj spid="_x0000_s49156" name="Equation" r:id="rId3" imgW="24688800" imgH="17678400" progId="Equation.DSMT4">
                <p:embed/>
              </p:oleObj>
            </a:graphicData>
          </a:graphic>
        </p:graphicFrame>
        <p:sp>
          <p:nvSpPr>
            <p:cNvPr id="68" name="文本框 187458"/>
            <p:cNvSpPr txBox="1">
              <a:spLocks noChangeArrowheads="1"/>
            </p:cNvSpPr>
            <p:nvPr/>
          </p:nvSpPr>
          <p:spPr bwMode="auto">
            <a:xfrm>
              <a:off x="4694" y="1072"/>
              <a:ext cx="90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3-30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69" name="组合 187471"/>
          <p:cNvGrpSpPr/>
          <p:nvPr/>
        </p:nvGrpSpPr>
        <p:grpSpPr bwMode="auto">
          <a:xfrm>
            <a:off x="4932363" y="2492375"/>
            <a:ext cx="3960812" cy="1441450"/>
            <a:chOff x="3107" y="1570"/>
            <a:chExt cx="2495" cy="908"/>
          </a:xfrm>
        </p:grpSpPr>
        <p:graphicFrame>
          <p:nvGraphicFramePr>
            <p:cNvPr id="70" name="对象 187457"/>
            <p:cNvGraphicFramePr>
              <a:graphicFrameLocks/>
            </p:cNvGraphicFramePr>
            <p:nvPr/>
          </p:nvGraphicFramePr>
          <p:xfrm>
            <a:off x="3107" y="1570"/>
            <a:ext cx="1225" cy="908"/>
          </p:xfrm>
          <a:graphic>
            <a:graphicData uri="http://schemas.openxmlformats.org/presentationml/2006/ole">
              <p:oleObj spid="_x0000_s49155" r:id="rId4" imgW="24688800" imgH="18288000" progId="Equation.3">
                <p:embed/>
              </p:oleObj>
            </a:graphicData>
          </a:graphic>
        </p:graphicFrame>
        <p:sp>
          <p:nvSpPr>
            <p:cNvPr id="71" name="文本框 187459"/>
            <p:cNvSpPr txBox="1">
              <a:spLocks noChangeArrowheads="1"/>
            </p:cNvSpPr>
            <p:nvPr/>
          </p:nvSpPr>
          <p:spPr bwMode="auto">
            <a:xfrm>
              <a:off x="4694" y="1978"/>
              <a:ext cx="90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3-31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72" name="文本框 187464"/>
          <p:cNvSpPr txBox="1">
            <a:spLocks noChangeArrowheads="1"/>
          </p:cNvSpPr>
          <p:nvPr/>
        </p:nvSpPr>
        <p:spPr bwMode="auto">
          <a:xfrm>
            <a:off x="250825" y="4221163"/>
            <a:ext cx="89646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上式与力学中梁的反作用力计算公式相似，故称为力矩法公式。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3" name="文本框 187465"/>
          <p:cNvSpPr txBox="1">
            <a:spLocks noChangeArrowheads="1"/>
          </p:cNvSpPr>
          <p:nvPr/>
        </p:nvSpPr>
        <p:spPr bwMode="auto">
          <a:xfrm>
            <a:off x="250825" y="4724400"/>
            <a:ext cx="8964613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上述公式是在假设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全网电压均为网络的额定电压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相位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的条件下得出的，也就是假设网络中没有功率损耗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74" name="组合 187470"/>
          <p:cNvGrpSpPr/>
          <p:nvPr/>
        </p:nvGrpSpPr>
        <p:grpSpPr bwMode="auto">
          <a:xfrm>
            <a:off x="1331913" y="5715016"/>
            <a:ext cx="5616575" cy="715963"/>
            <a:chOff x="839" y="3702"/>
            <a:chExt cx="3538" cy="451"/>
          </a:xfrm>
        </p:grpSpPr>
        <p:graphicFrame>
          <p:nvGraphicFramePr>
            <p:cNvPr id="75" name="对象 187466"/>
            <p:cNvGraphicFramePr>
              <a:graphicFrameLocks/>
            </p:cNvGraphicFramePr>
            <p:nvPr/>
          </p:nvGraphicFramePr>
          <p:xfrm>
            <a:off x="839" y="3702"/>
            <a:ext cx="2223" cy="451"/>
          </p:xfrm>
          <a:graphic>
            <a:graphicData uri="http://schemas.openxmlformats.org/presentationml/2006/ole">
              <p:oleObj spid="_x0000_s49154" r:id="rId5" imgW="40538400" imgH="8229600" progId="Equation.3">
                <p:embed/>
              </p:oleObj>
            </a:graphicData>
          </a:graphic>
        </p:graphicFrame>
        <p:graphicFrame>
          <p:nvGraphicFramePr>
            <p:cNvPr id="76" name="对象 187467"/>
            <p:cNvGraphicFramePr>
              <a:graphicFrameLocks/>
            </p:cNvGraphicFramePr>
            <p:nvPr/>
          </p:nvGraphicFramePr>
          <p:xfrm>
            <a:off x="3243" y="3838"/>
            <a:ext cx="1134" cy="302"/>
          </p:xfrm>
          <a:graphic>
            <a:graphicData uri="http://schemas.openxmlformats.org/presentationml/2006/ole">
              <p:oleObj spid="_x0000_s49153" r:id="rId6" imgW="18288000" imgH="4876800" progId="Equation.3">
                <p:embed/>
              </p:oleObj>
            </a:graphicData>
          </a:graphic>
        </p:graphicFrame>
      </p:grpSp>
      <p:pic>
        <p:nvPicPr>
          <p:cNvPr id="45062" name="Picture 6" descr="C:\Users\chenliang\AppData\Roaming\Tencent\Users\284798068\QQ\WinTemp\RichOle\BU42GV3B(_0EB0_%G}IM~IY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7190" y="1009658"/>
            <a:ext cx="4286248" cy="30470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88419"/>
          <p:cNvSpPr txBox="1">
            <a:spLocks noChangeArrowheads="1"/>
          </p:cNvSpPr>
          <p:nvPr/>
        </p:nvSpPr>
        <p:spPr bwMode="auto">
          <a:xfrm>
            <a:off x="395288" y="549275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力矩法的实数计算</a:t>
            </a:r>
          </a:p>
        </p:txBody>
      </p:sp>
      <p:sp>
        <p:nvSpPr>
          <p:cNvPr id="5" name="文本框 188420"/>
          <p:cNvSpPr txBox="1">
            <a:spLocks noChangeArrowheads="1"/>
          </p:cNvSpPr>
          <p:nvPr/>
        </p:nvSpPr>
        <p:spPr bwMode="auto">
          <a:xfrm>
            <a:off x="395288" y="1181100"/>
            <a:ext cx="8497887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上述力矩法公式，是复数运算，较为麻烦，故需化成较为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实用的实数运算。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6" name="对象 188421"/>
          <p:cNvGraphicFramePr>
            <a:graphicFrameLocks/>
          </p:cNvGraphicFramePr>
          <p:nvPr/>
        </p:nvGraphicFramePr>
        <p:xfrm>
          <a:off x="3492500" y="2133600"/>
          <a:ext cx="2519363" cy="922338"/>
        </p:xfrm>
        <a:graphic>
          <a:graphicData uri="http://schemas.openxmlformats.org/presentationml/2006/ole">
            <p:oleObj spid="_x0000_s50182" r:id="rId3" imgW="34137600" imgH="12496800" progId="Equation.3">
              <p:embed/>
            </p:oleObj>
          </a:graphicData>
        </a:graphic>
      </p:graphicFrame>
      <p:grpSp>
        <p:nvGrpSpPr>
          <p:cNvPr id="7" name="组合 188431"/>
          <p:cNvGrpSpPr/>
          <p:nvPr/>
        </p:nvGrpSpPr>
        <p:grpSpPr bwMode="auto">
          <a:xfrm>
            <a:off x="539750" y="3213100"/>
            <a:ext cx="5953125" cy="981074"/>
            <a:chOff x="340" y="2024"/>
            <a:chExt cx="3750" cy="618"/>
          </a:xfrm>
        </p:grpSpPr>
        <p:sp>
          <p:nvSpPr>
            <p:cNvPr id="8" name="文本框 188422"/>
            <p:cNvSpPr txBox="1">
              <a:spLocks noChangeArrowheads="1"/>
            </p:cNvSpPr>
            <p:nvPr/>
          </p:nvSpPr>
          <p:spPr bwMode="auto">
            <a:xfrm>
              <a:off x="340" y="2069"/>
              <a:ext cx="72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</a:t>
              </a:r>
            </a:p>
          </p:txBody>
        </p:sp>
        <p:graphicFrame>
          <p:nvGraphicFramePr>
            <p:cNvPr id="9" name="对象 188423"/>
            <p:cNvGraphicFramePr>
              <a:graphicFrameLocks/>
            </p:cNvGraphicFramePr>
            <p:nvPr/>
          </p:nvGraphicFramePr>
          <p:xfrm>
            <a:off x="1292" y="2024"/>
            <a:ext cx="1179" cy="560"/>
          </p:xfrm>
          <a:graphic>
            <a:graphicData uri="http://schemas.openxmlformats.org/presentationml/2006/ole">
              <p:oleObj spid="_x0000_s50181" r:id="rId4" imgW="24384000" imgH="11582400" progId="Equation.3">
                <p:embed/>
              </p:oleObj>
            </a:graphicData>
          </a:graphic>
        </p:graphicFrame>
        <p:graphicFrame>
          <p:nvGraphicFramePr>
            <p:cNvPr id="10" name="对象 188424"/>
            <p:cNvGraphicFramePr>
              <a:graphicFrameLocks/>
            </p:cNvGraphicFramePr>
            <p:nvPr/>
          </p:nvGraphicFramePr>
          <p:xfrm>
            <a:off x="2814" y="2024"/>
            <a:ext cx="1276" cy="618"/>
          </p:xfrm>
          <a:graphic>
            <a:graphicData uri="http://schemas.openxmlformats.org/presentationml/2006/ole">
              <p:oleObj spid="_x0000_s50180" r:id="rId5" imgW="1015920" imgH="495000" progId="Equation.3">
                <p:embed/>
              </p:oleObj>
            </a:graphicData>
          </a:graphic>
        </p:graphicFrame>
      </p:grpSp>
      <p:sp>
        <p:nvSpPr>
          <p:cNvPr id="11" name="文本框 188426"/>
          <p:cNvSpPr txBox="1">
            <a:spLocks noChangeArrowheads="1"/>
          </p:cNvSpPr>
          <p:nvPr/>
        </p:nvSpPr>
        <p:spPr bwMode="auto">
          <a:xfrm>
            <a:off x="539750" y="4195763"/>
            <a:ext cx="68405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将上式代入（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3-30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）、（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3-31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）中，得</a:t>
            </a:r>
          </a:p>
        </p:txBody>
      </p:sp>
      <p:grpSp>
        <p:nvGrpSpPr>
          <p:cNvPr id="12" name="组合 188432"/>
          <p:cNvGrpSpPr/>
          <p:nvPr/>
        </p:nvGrpSpPr>
        <p:grpSpPr bwMode="auto">
          <a:xfrm>
            <a:off x="468313" y="4581525"/>
            <a:ext cx="8243887" cy="1931988"/>
            <a:chOff x="295" y="2886"/>
            <a:chExt cx="5193" cy="1217"/>
          </a:xfrm>
        </p:grpSpPr>
        <p:graphicFrame>
          <p:nvGraphicFramePr>
            <p:cNvPr id="13" name="对象 188425"/>
            <p:cNvGraphicFramePr>
              <a:graphicFrameLocks/>
            </p:cNvGraphicFramePr>
            <p:nvPr/>
          </p:nvGraphicFramePr>
          <p:xfrm>
            <a:off x="295" y="2886"/>
            <a:ext cx="5193" cy="475"/>
          </p:xfrm>
          <a:graphic>
            <a:graphicData uri="http://schemas.openxmlformats.org/presentationml/2006/ole">
              <p:oleObj spid="_x0000_s50179" r:id="rId6" imgW="96621600" imgH="8839200" progId="Equation.3">
                <p:embed/>
              </p:oleObj>
            </a:graphicData>
          </a:graphic>
        </p:graphicFrame>
        <p:graphicFrame>
          <p:nvGraphicFramePr>
            <p:cNvPr id="14" name="对象 188427"/>
            <p:cNvGraphicFramePr>
              <a:graphicFrameLocks/>
            </p:cNvGraphicFramePr>
            <p:nvPr/>
          </p:nvGraphicFramePr>
          <p:xfrm>
            <a:off x="613" y="3385"/>
            <a:ext cx="4127" cy="358"/>
          </p:xfrm>
          <a:graphic>
            <a:graphicData uri="http://schemas.openxmlformats.org/presentationml/2006/ole">
              <p:oleObj spid="_x0000_s50178" r:id="rId7" imgW="80772000" imgH="7010400" progId="Equation.3">
                <p:embed/>
              </p:oleObj>
            </a:graphicData>
          </a:graphic>
        </p:graphicFrame>
        <p:graphicFrame>
          <p:nvGraphicFramePr>
            <p:cNvPr id="15" name="对象 188428"/>
            <p:cNvGraphicFramePr>
              <a:graphicFrameLocks/>
            </p:cNvGraphicFramePr>
            <p:nvPr/>
          </p:nvGraphicFramePr>
          <p:xfrm>
            <a:off x="703" y="3748"/>
            <a:ext cx="4173" cy="355"/>
          </p:xfrm>
          <a:graphic>
            <a:graphicData uri="http://schemas.openxmlformats.org/presentationml/2006/ole">
              <p:oleObj spid="_x0000_s50177" r:id="rId8" imgW="82296000" imgH="70104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89443"/>
          <p:cNvSpPr txBox="1">
            <a:spLocks noChangeArrowheads="1"/>
          </p:cNvSpPr>
          <p:nvPr/>
        </p:nvSpPr>
        <p:spPr bwMode="auto">
          <a:xfrm>
            <a:off x="323850" y="620713"/>
            <a:ext cx="11509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</a:p>
        </p:txBody>
      </p:sp>
      <p:grpSp>
        <p:nvGrpSpPr>
          <p:cNvPr id="5" name="组合 189459"/>
          <p:cNvGrpSpPr/>
          <p:nvPr/>
        </p:nvGrpSpPr>
        <p:grpSpPr bwMode="auto">
          <a:xfrm>
            <a:off x="941388" y="981075"/>
            <a:ext cx="7807325" cy="1335088"/>
            <a:chOff x="593" y="618"/>
            <a:chExt cx="4918" cy="841"/>
          </a:xfrm>
        </p:grpSpPr>
        <p:graphicFrame>
          <p:nvGraphicFramePr>
            <p:cNvPr id="6" name="对象 189444"/>
            <p:cNvGraphicFramePr>
              <a:graphicFrameLocks/>
            </p:cNvGraphicFramePr>
            <p:nvPr/>
          </p:nvGraphicFramePr>
          <p:xfrm>
            <a:off x="612" y="618"/>
            <a:ext cx="3810" cy="314"/>
          </p:xfrm>
          <a:graphic>
            <a:graphicData uri="http://schemas.openxmlformats.org/presentationml/2006/ole">
              <p:oleObj spid="_x0000_s51206" r:id="rId3" imgW="85039200" imgH="7010400" progId="Equation.3">
                <p:embed/>
              </p:oleObj>
            </a:graphicData>
          </a:graphic>
        </p:graphicFrame>
        <p:graphicFrame>
          <p:nvGraphicFramePr>
            <p:cNvPr id="7" name="对象 189445"/>
            <p:cNvGraphicFramePr>
              <a:graphicFrameLocks/>
            </p:cNvGraphicFramePr>
            <p:nvPr/>
          </p:nvGraphicFramePr>
          <p:xfrm>
            <a:off x="593" y="1117"/>
            <a:ext cx="3811" cy="342"/>
          </p:xfrm>
          <a:graphic>
            <a:graphicData uri="http://schemas.openxmlformats.org/presentationml/2006/ole">
              <p:oleObj spid="_x0000_s51205" r:id="rId4" imgW="85039200" imgH="7620000" progId="Equation.3">
                <p:embed/>
              </p:oleObj>
            </a:graphicData>
          </a:graphic>
        </p:graphicFrame>
        <p:sp>
          <p:nvSpPr>
            <p:cNvPr id="8" name="文本框 189446"/>
            <p:cNvSpPr txBox="1">
              <a:spLocks noChangeArrowheads="1"/>
            </p:cNvSpPr>
            <p:nvPr/>
          </p:nvSpPr>
          <p:spPr bwMode="auto">
            <a:xfrm>
              <a:off x="4558" y="935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3-22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9" name="文本框 189447"/>
          <p:cNvSpPr txBox="1">
            <a:spLocks noChangeArrowheads="1"/>
          </p:cNvSpPr>
          <p:nvPr/>
        </p:nvSpPr>
        <p:spPr bwMode="auto">
          <a:xfrm>
            <a:off x="323850" y="2349500"/>
            <a:ext cx="11509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相似地</a:t>
            </a:r>
          </a:p>
        </p:txBody>
      </p:sp>
      <p:grpSp>
        <p:nvGrpSpPr>
          <p:cNvPr id="10" name="组合 189460"/>
          <p:cNvGrpSpPr/>
          <p:nvPr/>
        </p:nvGrpSpPr>
        <p:grpSpPr bwMode="auto">
          <a:xfrm>
            <a:off x="928688" y="3143250"/>
            <a:ext cx="7820026" cy="1112838"/>
            <a:chOff x="585" y="1980"/>
            <a:chExt cx="4926" cy="701"/>
          </a:xfrm>
        </p:grpSpPr>
        <p:graphicFrame>
          <p:nvGraphicFramePr>
            <p:cNvPr id="11" name="对象 189448"/>
            <p:cNvGraphicFramePr>
              <a:graphicFrameLocks/>
            </p:cNvGraphicFramePr>
            <p:nvPr/>
          </p:nvGraphicFramePr>
          <p:xfrm>
            <a:off x="594" y="2341"/>
            <a:ext cx="3801" cy="340"/>
          </p:xfrm>
          <a:graphic>
            <a:graphicData uri="http://schemas.openxmlformats.org/presentationml/2006/ole">
              <p:oleObj spid="_x0000_s51204" r:id="rId5" imgW="85039200" imgH="7620000" progId="Equation.3">
                <p:embed/>
              </p:oleObj>
            </a:graphicData>
          </a:graphic>
        </p:graphicFrame>
        <p:graphicFrame>
          <p:nvGraphicFramePr>
            <p:cNvPr id="12" name="对象 189449"/>
            <p:cNvGraphicFramePr>
              <a:graphicFrameLocks/>
            </p:cNvGraphicFramePr>
            <p:nvPr/>
          </p:nvGraphicFramePr>
          <p:xfrm>
            <a:off x="585" y="1980"/>
            <a:ext cx="4095" cy="360"/>
          </p:xfrm>
          <a:graphic>
            <a:graphicData uri="http://schemas.openxmlformats.org/presentationml/2006/ole">
              <p:oleObj spid="_x0000_s51203" name="Equation" r:id="rId6" imgW="3035160" imgH="266400" progId="Equation.DSMT4">
                <p:embed/>
              </p:oleObj>
            </a:graphicData>
          </a:graphic>
        </p:graphicFrame>
        <p:sp>
          <p:nvSpPr>
            <p:cNvPr id="13" name="文本框 189450"/>
            <p:cNvSpPr txBox="1">
              <a:spLocks noChangeArrowheads="1"/>
            </p:cNvSpPr>
            <p:nvPr/>
          </p:nvSpPr>
          <p:spPr bwMode="auto">
            <a:xfrm>
              <a:off x="4558" y="2115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3-22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4" name="组合 189461"/>
          <p:cNvGrpSpPr/>
          <p:nvPr/>
        </p:nvGrpSpPr>
        <p:grpSpPr bwMode="auto">
          <a:xfrm>
            <a:off x="468313" y="4346596"/>
            <a:ext cx="8675687" cy="2082800"/>
            <a:chOff x="295" y="2704"/>
            <a:chExt cx="5465" cy="1312"/>
          </a:xfrm>
        </p:grpSpPr>
        <p:sp>
          <p:nvSpPr>
            <p:cNvPr id="15" name="文本框 189453"/>
            <p:cNvSpPr txBox="1">
              <a:spLocks noChangeArrowheads="1"/>
            </p:cNvSpPr>
            <p:nvPr/>
          </p:nvSpPr>
          <p:spPr bwMode="auto">
            <a:xfrm>
              <a:off x="295" y="2795"/>
              <a:ext cx="5465" cy="1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求得    或    后，即可求环式网络线段中的功率。从计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算结果中会发现，网络中某些节点的功率是由两面侧向其流动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的，这种节点称为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功率分点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。通常在功率分点上加“   ”、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“   ”以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区别</a:t>
              </a:r>
              <a:r>
                <a:rPr lang="zh-CN" altLang="en-US" sz="2400" dirty="0">
                  <a:solidFill>
                    <a:schemeClr val="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有功分点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  <a:r>
                <a:rPr lang="zh-CN" altLang="en-US" sz="2400" dirty="0">
                  <a:solidFill>
                    <a:schemeClr val="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无功分点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</a:p>
          </p:txBody>
        </p:sp>
        <p:graphicFrame>
          <p:nvGraphicFramePr>
            <p:cNvPr id="16" name="对象 189454"/>
            <p:cNvGraphicFramePr>
              <a:graphicFrameLocks/>
            </p:cNvGraphicFramePr>
            <p:nvPr/>
          </p:nvGraphicFramePr>
          <p:xfrm>
            <a:off x="1202" y="2704"/>
            <a:ext cx="272" cy="408"/>
          </p:xfrm>
          <a:graphic>
            <a:graphicData uri="http://schemas.openxmlformats.org/presentationml/2006/ole">
              <p:oleObj spid="_x0000_s51202" r:id="rId7" imgW="5486400" imgH="8229600" progId="Equation.3">
                <p:embed/>
              </p:oleObj>
            </a:graphicData>
          </a:graphic>
        </p:graphicFrame>
        <p:graphicFrame>
          <p:nvGraphicFramePr>
            <p:cNvPr id="17" name="对象 189455"/>
            <p:cNvGraphicFramePr>
              <a:graphicFrameLocks/>
            </p:cNvGraphicFramePr>
            <p:nvPr/>
          </p:nvGraphicFramePr>
          <p:xfrm>
            <a:off x="1745" y="2704"/>
            <a:ext cx="273" cy="409"/>
          </p:xfrm>
          <a:graphic>
            <a:graphicData uri="http://schemas.openxmlformats.org/presentationml/2006/ole">
              <p:oleObj spid="_x0000_s51201" r:id="rId8" imgW="5486400" imgH="8229600" progId="Equation.3">
                <p:embed/>
              </p:oleObj>
            </a:graphicData>
          </a:graphic>
        </p:graphicFrame>
      </p:grpSp>
      <p:sp>
        <p:nvSpPr>
          <p:cNvPr id="18" name="等腰三角形 189456"/>
          <p:cNvSpPr>
            <a:spLocks noChangeArrowheads="1"/>
          </p:cNvSpPr>
          <p:nvPr/>
        </p:nvSpPr>
        <p:spPr bwMode="auto">
          <a:xfrm flipV="1">
            <a:off x="7643834" y="5784869"/>
            <a:ext cx="288925" cy="287337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9" name="等腰三角形 189457"/>
          <p:cNvSpPr>
            <a:spLocks noChangeArrowheads="1"/>
          </p:cNvSpPr>
          <p:nvPr/>
        </p:nvSpPr>
        <p:spPr bwMode="auto">
          <a:xfrm flipV="1">
            <a:off x="928662" y="6142058"/>
            <a:ext cx="288925" cy="2873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90467"/>
          <p:cNvSpPr txBox="1">
            <a:spLocks noChangeArrowheads="1"/>
          </p:cNvSpPr>
          <p:nvPr/>
        </p:nvSpPr>
        <p:spPr bwMode="auto">
          <a:xfrm>
            <a:off x="250825" y="476250"/>
            <a:ext cx="8497888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如果网络中所有电力线路结构相同，导线截面相等，也即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所有线段单位长度的参数完全相等，则可按线路长度计算功率</a:t>
            </a:r>
          </a:p>
        </p:txBody>
      </p:sp>
      <p:sp>
        <p:nvSpPr>
          <p:cNvPr id="5" name="文本框 190469"/>
          <p:cNvSpPr txBox="1">
            <a:spLocks noChangeArrowheads="1"/>
          </p:cNvSpPr>
          <p:nvPr/>
        </p:nvSpPr>
        <p:spPr bwMode="auto">
          <a:xfrm>
            <a:off x="395288" y="3860800"/>
            <a:ext cx="10795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</a:p>
        </p:txBody>
      </p:sp>
      <p:grpSp>
        <p:nvGrpSpPr>
          <p:cNvPr id="6" name="组合 190477"/>
          <p:cNvGrpSpPr/>
          <p:nvPr/>
        </p:nvGrpSpPr>
        <p:grpSpPr bwMode="auto">
          <a:xfrm>
            <a:off x="1908175" y="1557338"/>
            <a:ext cx="6985000" cy="2232025"/>
            <a:chOff x="1202" y="981"/>
            <a:chExt cx="4400" cy="1406"/>
          </a:xfrm>
        </p:grpSpPr>
        <p:graphicFrame>
          <p:nvGraphicFramePr>
            <p:cNvPr id="7" name="对象 190468"/>
            <p:cNvGraphicFramePr>
              <a:graphicFrameLocks/>
            </p:cNvGraphicFramePr>
            <p:nvPr/>
          </p:nvGraphicFramePr>
          <p:xfrm>
            <a:off x="1202" y="981"/>
            <a:ext cx="1125" cy="1406"/>
          </p:xfrm>
          <a:graphic>
            <a:graphicData uri="http://schemas.openxmlformats.org/presentationml/2006/ole">
              <p:oleObj spid="_x0000_s52227" r:id="rId3" imgW="24384000" imgH="30480000" progId="Equation.3">
                <p:embed/>
              </p:oleObj>
            </a:graphicData>
          </a:graphic>
        </p:graphicFrame>
        <p:sp>
          <p:nvSpPr>
            <p:cNvPr id="8" name="文本框 190473"/>
            <p:cNvSpPr txBox="1">
              <a:spLocks noChangeArrowheads="1"/>
            </p:cNvSpPr>
            <p:nvPr/>
          </p:nvSpPr>
          <p:spPr bwMode="auto">
            <a:xfrm>
              <a:off x="4604" y="1525"/>
              <a:ext cx="99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3-34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9" name="组合 190476"/>
          <p:cNvGrpSpPr/>
          <p:nvPr/>
        </p:nvGrpSpPr>
        <p:grpSpPr bwMode="auto">
          <a:xfrm>
            <a:off x="1763713" y="3789363"/>
            <a:ext cx="7129462" cy="2446337"/>
            <a:chOff x="1111" y="2387"/>
            <a:chExt cx="4491" cy="1541"/>
          </a:xfrm>
        </p:grpSpPr>
        <p:graphicFrame>
          <p:nvGraphicFramePr>
            <p:cNvPr id="10" name="对象 190470"/>
            <p:cNvGraphicFramePr>
              <a:graphicFrameLocks/>
            </p:cNvGraphicFramePr>
            <p:nvPr/>
          </p:nvGraphicFramePr>
          <p:xfrm>
            <a:off x="1111" y="2432"/>
            <a:ext cx="1191" cy="1496"/>
          </p:xfrm>
          <a:graphic>
            <a:graphicData uri="http://schemas.openxmlformats.org/presentationml/2006/ole">
              <p:oleObj spid="_x0000_s52226" r:id="rId4" imgW="23774400" imgH="29870400" progId="Equation.3">
                <p:embed/>
              </p:oleObj>
            </a:graphicData>
          </a:graphic>
        </p:graphicFrame>
        <p:graphicFrame>
          <p:nvGraphicFramePr>
            <p:cNvPr id="11" name="对象 190471"/>
            <p:cNvGraphicFramePr>
              <a:graphicFrameLocks/>
            </p:cNvGraphicFramePr>
            <p:nvPr/>
          </p:nvGraphicFramePr>
          <p:xfrm>
            <a:off x="2608" y="2387"/>
            <a:ext cx="1266" cy="1525"/>
          </p:xfrm>
          <a:graphic>
            <a:graphicData uri="http://schemas.openxmlformats.org/presentationml/2006/ole">
              <p:oleObj spid="_x0000_s52225" r:id="rId5" imgW="25298400" imgH="30480000" progId="Equation.3">
                <p:embed/>
              </p:oleObj>
            </a:graphicData>
          </a:graphic>
        </p:graphicFrame>
        <p:sp>
          <p:nvSpPr>
            <p:cNvPr id="12" name="文本框 190474"/>
            <p:cNvSpPr txBox="1">
              <a:spLocks noChangeArrowheads="1"/>
            </p:cNvSpPr>
            <p:nvPr/>
          </p:nvSpPr>
          <p:spPr bwMode="auto">
            <a:xfrm>
              <a:off x="4604" y="2961"/>
              <a:ext cx="99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3-35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13" name="云形标注 190475"/>
          <p:cNvSpPr>
            <a:spLocks noChangeArrowheads="1"/>
          </p:cNvSpPr>
          <p:nvPr/>
        </p:nvSpPr>
        <p:spPr bwMode="auto">
          <a:xfrm>
            <a:off x="4067175" y="1989138"/>
            <a:ext cx="3457575" cy="151130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其中，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en-US" altLang="zh-CN" sz="2000" baseline="30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∑</a:t>
            </a: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分别为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∑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相对应的线路</a:t>
            </a: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长度</a:t>
            </a:r>
            <a:endParaRPr lang="zh-CN" altLang="en-US" sz="2000" baseline="-25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91492"/>
          <p:cNvSpPr txBox="1">
            <a:spLocks noChangeArrowheads="1"/>
          </p:cNvSpPr>
          <p:nvPr/>
        </p:nvSpPr>
        <p:spPr bwMode="auto">
          <a:xfrm>
            <a:off x="468313" y="1109663"/>
            <a:ext cx="8280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两端电压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大小不等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、相位不同的两端供电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191554"/>
          <p:cNvGrpSpPr/>
          <p:nvPr/>
        </p:nvGrpSpPr>
        <p:grpSpPr bwMode="auto">
          <a:xfrm>
            <a:off x="2071670" y="1428736"/>
            <a:ext cx="4659331" cy="2798770"/>
            <a:chOff x="1655" y="1117"/>
            <a:chExt cx="2540" cy="1452"/>
          </a:xfrm>
        </p:grpSpPr>
        <p:grpSp>
          <p:nvGrpSpPr>
            <p:cNvPr id="6" name="组合 191494"/>
            <p:cNvGrpSpPr/>
            <p:nvPr/>
          </p:nvGrpSpPr>
          <p:grpSpPr bwMode="auto">
            <a:xfrm>
              <a:off x="1746" y="1707"/>
              <a:ext cx="771" cy="112"/>
              <a:chOff x="3515" y="2387"/>
              <a:chExt cx="771" cy="112"/>
            </a:xfrm>
          </p:grpSpPr>
          <p:grpSp>
            <p:nvGrpSpPr>
              <p:cNvPr id="48" name="组合 191495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51" name="直接连接符 191496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" name="直接连接符 191497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3" name="直接连接符 191498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" name="直接连接符 191499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" name="直接连接符 191500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" name="直接连接符 191501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" name="直接连接符 191502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9" name="直接连接符 191503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直接连接符 191504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" name="组合 191505"/>
            <p:cNvGrpSpPr/>
            <p:nvPr/>
          </p:nvGrpSpPr>
          <p:grpSpPr bwMode="auto">
            <a:xfrm>
              <a:off x="2472" y="1707"/>
              <a:ext cx="771" cy="112"/>
              <a:chOff x="3515" y="2387"/>
              <a:chExt cx="771" cy="112"/>
            </a:xfrm>
          </p:grpSpPr>
          <p:grpSp>
            <p:nvGrpSpPr>
              <p:cNvPr id="38" name="组合 191506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41" name="直接连接符 191507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" name="直接连接符 191508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" name="直接连接符 191509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" name="直接连接符 191510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直接连接符 191511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" name="直接连接符 191512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" name="直接连接符 191513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9" name="直接连接符 191514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直接连接符 191515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" name="组合 191516"/>
            <p:cNvGrpSpPr/>
            <p:nvPr/>
          </p:nvGrpSpPr>
          <p:grpSpPr bwMode="auto">
            <a:xfrm>
              <a:off x="3197" y="1707"/>
              <a:ext cx="771" cy="112"/>
              <a:chOff x="3515" y="2387"/>
              <a:chExt cx="771" cy="112"/>
            </a:xfrm>
          </p:grpSpPr>
          <p:grpSp>
            <p:nvGrpSpPr>
              <p:cNvPr id="28" name="组合 191517"/>
              <p:cNvGrpSpPr/>
              <p:nvPr/>
            </p:nvGrpSpPr>
            <p:grpSpPr bwMode="auto">
              <a:xfrm>
                <a:off x="3696" y="2387"/>
                <a:ext cx="232" cy="112"/>
                <a:chOff x="3016" y="1888"/>
                <a:chExt cx="232" cy="91"/>
              </a:xfrm>
            </p:grpSpPr>
            <p:sp>
              <p:nvSpPr>
                <p:cNvPr id="31" name="直接连接符 191518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" name="直接连接符 191519"/>
                <p:cNvSpPr>
                  <a:spLocks noChangeShapeType="1"/>
                </p:cNvSpPr>
                <p:nvPr/>
              </p:nvSpPr>
              <p:spPr bwMode="auto">
                <a:xfrm>
                  <a:off x="3021" y="1888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直接连接符 191520"/>
                <p:cNvSpPr>
                  <a:spLocks noChangeShapeType="1"/>
                </p:cNvSpPr>
                <p:nvPr/>
              </p:nvSpPr>
              <p:spPr bwMode="auto">
                <a:xfrm>
                  <a:off x="3021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" name="直接连接符 191521"/>
                <p:cNvSpPr>
                  <a:spLocks noChangeShapeType="1"/>
                </p:cNvSpPr>
                <p:nvPr/>
              </p:nvSpPr>
              <p:spPr bwMode="auto">
                <a:xfrm>
                  <a:off x="3248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" name="直接连接符 191522"/>
                <p:cNvSpPr>
                  <a:spLocks noChangeShapeType="1"/>
                </p:cNvSpPr>
                <p:nvPr/>
              </p:nvSpPr>
              <p:spPr bwMode="auto">
                <a:xfrm>
                  <a:off x="3016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直接连接符 191523"/>
                <p:cNvSpPr>
                  <a:spLocks noChangeShapeType="1"/>
                </p:cNvSpPr>
                <p:nvPr/>
              </p:nvSpPr>
              <p:spPr bwMode="auto">
                <a:xfrm>
                  <a:off x="3016" y="1979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" name="直接连接符 191524"/>
                <p:cNvSpPr>
                  <a:spLocks noChangeShapeType="1"/>
                </p:cNvSpPr>
                <p:nvPr/>
              </p:nvSpPr>
              <p:spPr bwMode="auto">
                <a:xfrm>
                  <a:off x="3243" y="1888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" name="直接连接符 191525"/>
              <p:cNvSpPr>
                <a:spLocks noChangeShapeType="1"/>
              </p:cNvSpPr>
              <p:nvPr/>
            </p:nvSpPr>
            <p:spPr bwMode="auto">
              <a:xfrm>
                <a:off x="4014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直接连接符 191526"/>
              <p:cNvSpPr>
                <a:spLocks noChangeShapeType="1"/>
              </p:cNvSpPr>
              <p:nvPr/>
            </p:nvSpPr>
            <p:spPr bwMode="auto">
              <a:xfrm flipH="1">
                <a:off x="351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" name="直接连接符 191527"/>
            <p:cNvSpPr>
              <a:spLocks noChangeShapeType="1"/>
            </p:cNvSpPr>
            <p:nvPr/>
          </p:nvSpPr>
          <p:spPr bwMode="auto">
            <a:xfrm>
              <a:off x="1746" y="1662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0" name="直接连接符 191528"/>
            <p:cNvSpPr>
              <a:spLocks noChangeShapeType="1"/>
            </p:cNvSpPr>
            <p:nvPr/>
          </p:nvSpPr>
          <p:spPr bwMode="auto">
            <a:xfrm>
              <a:off x="3968" y="1662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1" name="直接连接符 191529"/>
            <p:cNvSpPr>
              <a:spLocks noChangeShapeType="1"/>
            </p:cNvSpPr>
            <p:nvPr/>
          </p:nvSpPr>
          <p:spPr bwMode="auto">
            <a:xfrm>
              <a:off x="2472" y="175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2" name="直接连接符 191530"/>
            <p:cNvSpPr>
              <a:spLocks noChangeShapeType="1"/>
            </p:cNvSpPr>
            <p:nvPr/>
          </p:nvSpPr>
          <p:spPr bwMode="auto">
            <a:xfrm>
              <a:off x="3243" y="175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191531"/>
            <p:cNvSpPr>
              <a:spLocks noChangeShapeType="1"/>
            </p:cNvSpPr>
            <p:nvPr/>
          </p:nvSpPr>
          <p:spPr bwMode="auto">
            <a:xfrm>
              <a:off x="1927" y="161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191532"/>
            <p:cNvSpPr>
              <a:spLocks noChangeShapeType="1"/>
            </p:cNvSpPr>
            <p:nvPr/>
          </p:nvSpPr>
          <p:spPr bwMode="auto">
            <a:xfrm>
              <a:off x="2562" y="1480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191533"/>
            <p:cNvSpPr>
              <a:spLocks noChangeShapeType="1"/>
            </p:cNvSpPr>
            <p:nvPr/>
          </p:nvSpPr>
          <p:spPr bwMode="auto">
            <a:xfrm flipH="1">
              <a:off x="3424" y="161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6" name="文本框 191534"/>
            <p:cNvSpPr txBox="1">
              <a:spLocks noChangeArrowheads="1"/>
            </p:cNvSpPr>
            <p:nvPr/>
          </p:nvSpPr>
          <p:spPr bwMode="auto">
            <a:xfrm>
              <a:off x="1655" y="1390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文本框 191535"/>
            <p:cNvSpPr txBox="1">
              <a:spLocks noChangeArrowheads="1"/>
            </p:cNvSpPr>
            <p:nvPr/>
          </p:nvSpPr>
          <p:spPr bwMode="auto">
            <a:xfrm>
              <a:off x="3179" y="1462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" name="文本框 191536"/>
            <p:cNvSpPr txBox="1">
              <a:spLocks noChangeArrowheads="1"/>
            </p:cNvSpPr>
            <p:nvPr/>
          </p:nvSpPr>
          <p:spPr bwMode="auto">
            <a:xfrm>
              <a:off x="2426" y="1480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9" name="文本框 191537"/>
            <p:cNvSpPr txBox="1">
              <a:spLocks noChangeArrowheads="1"/>
            </p:cNvSpPr>
            <p:nvPr/>
          </p:nvSpPr>
          <p:spPr bwMode="auto">
            <a:xfrm>
              <a:off x="3923" y="1363"/>
              <a:ext cx="2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0" name="文本框 191538"/>
            <p:cNvSpPr txBox="1">
              <a:spLocks noChangeArrowheads="1"/>
            </p:cNvSpPr>
            <p:nvPr/>
          </p:nvSpPr>
          <p:spPr bwMode="auto">
            <a:xfrm>
              <a:off x="2018" y="1798"/>
              <a:ext cx="45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文本框 191539"/>
            <p:cNvSpPr txBox="1">
              <a:spLocks noChangeArrowheads="1"/>
            </p:cNvSpPr>
            <p:nvPr/>
          </p:nvSpPr>
          <p:spPr bwMode="auto">
            <a:xfrm>
              <a:off x="3469" y="1798"/>
              <a:ext cx="45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34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文本框 191540"/>
            <p:cNvSpPr txBox="1">
              <a:spLocks noChangeArrowheads="1"/>
            </p:cNvSpPr>
            <p:nvPr/>
          </p:nvSpPr>
          <p:spPr bwMode="auto">
            <a:xfrm>
              <a:off x="2744" y="1798"/>
              <a:ext cx="45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23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" name="对象 191541"/>
            <p:cNvGraphicFramePr>
              <a:graphicFrameLocks/>
            </p:cNvGraphicFramePr>
            <p:nvPr/>
          </p:nvGraphicFramePr>
          <p:xfrm>
            <a:off x="2365" y="2206"/>
            <a:ext cx="242" cy="363"/>
          </p:xfrm>
          <a:graphic>
            <a:graphicData uri="http://schemas.openxmlformats.org/presentationml/2006/ole">
              <p:oleObj spid="_x0000_s53257" r:id="rId3" imgW="5486400" imgH="8229600" progId="Equation.3">
                <p:embed/>
              </p:oleObj>
            </a:graphicData>
          </a:graphic>
        </p:graphicFrame>
        <p:graphicFrame>
          <p:nvGraphicFramePr>
            <p:cNvPr id="24" name="对象 191542"/>
            <p:cNvGraphicFramePr>
              <a:graphicFrameLocks/>
            </p:cNvGraphicFramePr>
            <p:nvPr/>
          </p:nvGraphicFramePr>
          <p:xfrm>
            <a:off x="3197" y="2161"/>
            <a:ext cx="241" cy="362"/>
          </p:xfrm>
          <a:graphic>
            <a:graphicData uri="http://schemas.openxmlformats.org/presentationml/2006/ole">
              <p:oleObj spid="_x0000_s53256" r:id="rId4" imgW="5486400" imgH="8229600" progId="Equation.3">
                <p:embed/>
              </p:oleObj>
            </a:graphicData>
          </a:graphic>
        </p:graphicFrame>
        <p:graphicFrame>
          <p:nvGraphicFramePr>
            <p:cNvPr id="25" name="对象 191543"/>
            <p:cNvGraphicFramePr>
              <a:graphicFrameLocks/>
            </p:cNvGraphicFramePr>
            <p:nvPr/>
          </p:nvGraphicFramePr>
          <p:xfrm>
            <a:off x="2018" y="1208"/>
            <a:ext cx="235" cy="352"/>
          </p:xfrm>
          <a:graphic>
            <a:graphicData uri="http://schemas.openxmlformats.org/presentationml/2006/ole">
              <p:oleObj spid="_x0000_s53255" r:id="rId5" imgW="5486400" imgH="8229600" progId="Equation.3">
                <p:embed/>
              </p:oleObj>
            </a:graphicData>
          </a:graphic>
        </p:graphicFrame>
        <p:graphicFrame>
          <p:nvGraphicFramePr>
            <p:cNvPr id="26" name="对象 191544"/>
            <p:cNvGraphicFramePr>
              <a:graphicFrameLocks/>
            </p:cNvGraphicFramePr>
            <p:nvPr/>
          </p:nvGraphicFramePr>
          <p:xfrm>
            <a:off x="3560" y="1253"/>
            <a:ext cx="205" cy="307"/>
          </p:xfrm>
          <a:graphic>
            <a:graphicData uri="http://schemas.openxmlformats.org/presentationml/2006/ole">
              <p:oleObj spid="_x0000_s53254" r:id="rId6" imgW="5486400" imgH="8229600" progId="Equation.3">
                <p:embed/>
              </p:oleObj>
            </a:graphicData>
          </a:graphic>
        </p:graphicFrame>
        <p:graphicFrame>
          <p:nvGraphicFramePr>
            <p:cNvPr id="27" name="对象 191545"/>
            <p:cNvGraphicFramePr>
              <a:graphicFrameLocks/>
            </p:cNvGraphicFramePr>
            <p:nvPr/>
          </p:nvGraphicFramePr>
          <p:xfrm>
            <a:off x="2789" y="1117"/>
            <a:ext cx="235" cy="352"/>
          </p:xfrm>
          <a:graphic>
            <a:graphicData uri="http://schemas.openxmlformats.org/presentationml/2006/ole">
              <p:oleObj spid="_x0000_s53253" r:id="rId7" imgW="5486400" imgH="8229600" progId="Equation.3">
                <p:embed/>
              </p:oleObj>
            </a:graphicData>
          </a:graphic>
        </p:graphicFrame>
      </p:grpSp>
      <p:grpSp>
        <p:nvGrpSpPr>
          <p:cNvPr id="59" name="组合 191555"/>
          <p:cNvGrpSpPr/>
          <p:nvPr/>
        </p:nvGrpSpPr>
        <p:grpSpPr bwMode="auto">
          <a:xfrm>
            <a:off x="468313" y="4071942"/>
            <a:ext cx="8280400" cy="1117600"/>
            <a:chOff x="295" y="2892"/>
            <a:chExt cx="5216" cy="704"/>
          </a:xfrm>
        </p:grpSpPr>
        <p:sp>
          <p:nvSpPr>
            <p:cNvPr id="60" name="文本框 191548"/>
            <p:cNvSpPr txBox="1">
              <a:spLocks noChangeArrowheads="1"/>
            </p:cNvSpPr>
            <p:nvPr/>
          </p:nvSpPr>
          <p:spPr bwMode="auto">
            <a:xfrm>
              <a:off x="295" y="2933"/>
              <a:ext cx="5216" cy="6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两端供电网络的相电压        ，且相电压降落为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根据基尔霍夫第二定律，可列电压方程式为</a:t>
              </a:r>
            </a:p>
          </p:txBody>
        </p:sp>
        <p:graphicFrame>
          <p:nvGraphicFramePr>
            <p:cNvPr id="61" name="对象 191549"/>
            <p:cNvGraphicFramePr>
              <a:graphicFrameLocks/>
            </p:cNvGraphicFramePr>
            <p:nvPr/>
          </p:nvGraphicFramePr>
          <p:xfrm>
            <a:off x="2744" y="2892"/>
            <a:ext cx="635" cy="357"/>
          </p:xfrm>
          <a:graphic>
            <a:graphicData uri="http://schemas.openxmlformats.org/presentationml/2006/ole">
              <p:oleObj spid="_x0000_s53252" r:id="rId8" imgW="14630400" imgH="8229600" progId="Equation.3">
                <p:embed/>
              </p:oleObj>
            </a:graphicData>
          </a:graphic>
        </p:graphicFrame>
        <p:graphicFrame>
          <p:nvGraphicFramePr>
            <p:cNvPr id="62" name="对象 191550"/>
            <p:cNvGraphicFramePr>
              <a:graphicFrameLocks/>
            </p:cNvGraphicFramePr>
            <p:nvPr/>
          </p:nvGraphicFramePr>
          <p:xfrm>
            <a:off x="340" y="3203"/>
            <a:ext cx="1179" cy="393"/>
          </p:xfrm>
          <a:graphic>
            <a:graphicData uri="http://schemas.openxmlformats.org/presentationml/2006/ole">
              <p:oleObj spid="_x0000_s53251" r:id="rId9" imgW="26517600" imgH="8839200" progId="Equation.3">
                <p:embed/>
              </p:oleObj>
            </a:graphicData>
          </a:graphic>
        </p:graphicFrame>
      </p:grpSp>
      <p:graphicFrame>
        <p:nvGraphicFramePr>
          <p:cNvPr id="63" name="对象 191551"/>
          <p:cNvGraphicFramePr>
            <a:graphicFrameLocks/>
          </p:cNvGraphicFramePr>
          <p:nvPr/>
        </p:nvGraphicFramePr>
        <p:xfrm>
          <a:off x="906145" y="5023485"/>
          <a:ext cx="6880860" cy="1122680"/>
        </p:xfrm>
        <a:graphic>
          <a:graphicData uri="http://schemas.openxmlformats.org/presentationml/2006/ole">
            <p:oleObj spid="_x0000_s53250" r:id="rId10" imgW="3606480" imgH="545760" progId="Equation.3">
              <p:embed/>
            </p:oleObj>
          </a:graphicData>
        </a:graphic>
      </p:graphicFrame>
      <p:sp>
        <p:nvSpPr>
          <p:cNvPr id="64" name="标题 191553"/>
          <p:cNvSpPr>
            <a:spLocks noGrp="1" noRot="1" noChangeArrowheads="1"/>
          </p:cNvSpPr>
          <p:nvPr>
            <p:ph type="title"/>
          </p:nvPr>
        </p:nvSpPr>
        <p:spPr>
          <a:xfrm>
            <a:off x="252413" y="404813"/>
            <a:ext cx="4967287" cy="1143000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  <a:t>二、两端供电网中的潮流分布</a:t>
            </a:r>
            <a:b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</a:br>
            <a:endParaRPr lang="zh-CN" altLang="en-US" sz="2400" dirty="0" smtClean="0">
              <a:solidFill>
                <a:srgbClr val="CC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5" name="组合 192536"/>
          <p:cNvGrpSpPr/>
          <p:nvPr/>
        </p:nvGrpSpPr>
        <p:grpSpPr bwMode="auto">
          <a:xfrm>
            <a:off x="1149384" y="6000768"/>
            <a:ext cx="8280400" cy="625475"/>
            <a:chOff x="295" y="255"/>
            <a:chExt cx="5216" cy="394"/>
          </a:xfrm>
        </p:grpSpPr>
        <p:sp>
          <p:nvSpPr>
            <p:cNvPr id="66" name="文本框 192515"/>
            <p:cNvSpPr txBox="1">
              <a:spLocks noChangeArrowheads="1"/>
            </p:cNvSpPr>
            <p:nvPr/>
          </p:nvSpPr>
          <p:spPr bwMode="auto">
            <a:xfrm>
              <a:off x="295" y="346"/>
              <a:ext cx="521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上式中，    为线电压降落。</a:t>
              </a:r>
            </a:p>
          </p:txBody>
        </p:sp>
        <p:graphicFrame>
          <p:nvGraphicFramePr>
            <p:cNvPr id="67" name="对象 192516"/>
            <p:cNvGraphicFramePr>
              <a:graphicFrameLocks/>
            </p:cNvGraphicFramePr>
            <p:nvPr/>
          </p:nvGraphicFramePr>
          <p:xfrm>
            <a:off x="1066" y="255"/>
            <a:ext cx="408" cy="394"/>
          </p:xfrm>
          <a:graphic>
            <a:graphicData uri="http://schemas.openxmlformats.org/presentationml/2006/ole">
              <p:oleObj spid="_x0000_s53249" r:id="rId11" imgW="8534400" imgH="82296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grpSp>
        <p:nvGrpSpPr>
          <p:cNvPr id="7" name="组合 192532"/>
          <p:cNvGrpSpPr/>
          <p:nvPr/>
        </p:nvGrpSpPr>
        <p:grpSpPr bwMode="auto">
          <a:xfrm>
            <a:off x="468313" y="785794"/>
            <a:ext cx="8280400" cy="844550"/>
            <a:chOff x="295" y="585"/>
            <a:chExt cx="5216" cy="532"/>
          </a:xfrm>
        </p:grpSpPr>
        <p:sp>
          <p:nvSpPr>
            <p:cNvPr id="8" name="文本框 192517"/>
            <p:cNvSpPr txBox="1">
              <a:spLocks noChangeArrowheads="1"/>
            </p:cNvSpPr>
            <p:nvPr/>
          </p:nvSpPr>
          <p:spPr bwMode="auto">
            <a:xfrm>
              <a:off x="295" y="693"/>
              <a:ext cx="521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如设       ，将         代入上式，可得</a:t>
              </a:r>
            </a:p>
          </p:txBody>
        </p:sp>
        <p:graphicFrame>
          <p:nvGraphicFramePr>
            <p:cNvPr id="9" name="对象 192519"/>
            <p:cNvGraphicFramePr>
              <a:graphicFrameLocks/>
            </p:cNvGraphicFramePr>
            <p:nvPr/>
          </p:nvGraphicFramePr>
          <p:xfrm>
            <a:off x="1156" y="650"/>
            <a:ext cx="635" cy="376"/>
          </p:xfrm>
          <a:graphic>
            <a:graphicData uri="http://schemas.openxmlformats.org/presentationml/2006/ole">
              <p:oleObj spid="_x0000_s54278" r:id="rId3" imgW="13411200" imgH="7924800" progId="Equation.3">
                <p:embed/>
              </p:oleObj>
            </a:graphicData>
          </a:graphic>
        </p:graphicFrame>
        <p:graphicFrame>
          <p:nvGraphicFramePr>
            <p:cNvPr id="10" name="对象 192520"/>
            <p:cNvGraphicFramePr>
              <a:graphicFrameLocks/>
            </p:cNvGraphicFramePr>
            <p:nvPr/>
          </p:nvGraphicFramePr>
          <p:xfrm>
            <a:off x="2245" y="585"/>
            <a:ext cx="771" cy="532"/>
          </p:xfrm>
          <a:graphic>
            <a:graphicData uri="http://schemas.openxmlformats.org/presentationml/2006/ole">
              <p:oleObj spid="_x0000_s54277" r:id="rId4" imgW="17678400" imgH="12192000" progId="Equation.3">
                <p:embed/>
              </p:oleObj>
            </a:graphicData>
          </a:graphic>
        </p:graphicFrame>
      </p:grpSp>
      <p:graphicFrame>
        <p:nvGraphicFramePr>
          <p:cNvPr id="11" name="对象 192521"/>
          <p:cNvGraphicFramePr>
            <a:graphicFrameLocks/>
          </p:cNvGraphicFramePr>
          <p:nvPr/>
        </p:nvGraphicFramePr>
        <p:xfrm>
          <a:off x="1258888" y="1714488"/>
          <a:ext cx="5689600" cy="579438"/>
        </p:xfrm>
        <a:graphic>
          <a:graphicData uri="http://schemas.openxmlformats.org/presentationml/2006/ole">
            <p:oleObj spid="_x0000_s54276" r:id="rId5" imgW="80772000" imgH="8229600" progId="Equation.3">
              <p:embed/>
            </p:oleObj>
          </a:graphicData>
        </a:graphic>
      </p:graphicFrame>
      <p:grpSp>
        <p:nvGrpSpPr>
          <p:cNvPr id="12" name="组合 192533"/>
          <p:cNvGrpSpPr/>
          <p:nvPr/>
        </p:nvGrpSpPr>
        <p:grpSpPr bwMode="auto">
          <a:xfrm>
            <a:off x="468313" y="2428868"/>
            <a:ext cx="8280400" cy="647700"/>
            <a:chOff x="295" y="1525"/>
            <a:chExt cx="5216" cy="408"/>
          </a:xfrm>
        </p:grpSpPr>
        <p:sp>
          <p:nvSpPr>
            <p:cNvPr id="13" name="文本框 192522"/>
            <p:cNvSpPr txBox="1">
              <a:spLocks noChangeArrowheads="1"/>
            </p:cNvSpPr>
            <p:nvPr/>
          </p:nvSpPr>
          <p:spPr bwMode="auto">
            <a:xfrm>
              <a:off x="295" y="1645"/>
              <a:ext cx="521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解得流经阻抗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Z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12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的三相功率   为</a:t>
              </a:r>
            </a:p>
          </p:txBody>
        </p:sp>
        <p:graphicFrame>
          <p:nvGraphicFramePr>
            <p:cNvPr id="14" name="对象 192523"/>
            <p:cNvGraphicFramePr>
              <a:graphicFrameLocks/>
            </p:cNvGraphicFramePr>
            <p:nvPr/>
          </p:nvGraphicFramePr>
          <p:xfrm>
            <a:off x="2744" y="1525"/>
            <a:ext cx="272" cy="408"/>
          </p:xfrm>
          <a:graphic>
            <a:graphicData uri="http://schemas.openxmlformats.org/presentationml/2006/ole">
              <p:oleObj spid="_x0000_s54275" r:id="rId6" imgW="5486400" imgH="8229600" progId="Equation.3">
                <p:embed/>
              </p:oleObj>
            </a:graphicData>
          </a:graphic>
        </p:graphicFrame>
      </p:grpSp>
      <p:grpSp>
        <p:nvGrpSpPr>
          <p:cNvPr id="15" name="组合 192534"/>
          <p:cNvGrpSpPr/>
          <p:nvPr/>
        </p:nvGrpSpPr>
        <p:grpSpPr bwMode="auto">
          <a:xfrm>
            <a:off x="1116013" y="3357562"/>
            <a:ext cx="8027987" cy="979488"/>
            <a:chOff x="703" y="2160"/>
            <a:chExt cx="5057" cy="617"/>
          </a:xfrm>
        </p:grpSpPr>
        <p:graphicFrame>
          <p:nvGraphicFramePr>
            <p:cNvPr id="16" name="对象 192524"/>
            <p:cNvGraphicFramePr>
              <a:graphicFrameLocks/>
            </p:cNvGraphicFramePr>
            <p:nvPr/>
          </p:nvGraphicFramePr>
          <p:xfrm>
            <a:off x="703" y="2160"/>
            <a:ext cx="3901" cy="617"/>
          </p:xfrm>
          <a:graphic>
            <a:graphicData uri="http://schemas.openxmlformats.org/presentationml/2006/ole">
              <p:oleObj spid="_x0000_s54274" r:id="rId7" imgW="96316800" imgH="15240000" progId="Equation.3">
                <p:embed/>
              </p:oleObj>
            </a:graphicData>
          </a:graphic>
        </p:graphicFrame>
        <p:sp>
          <p:nvSpPr>
            <p:cNvPr id="17" name="文本框 192525"/>
            <p:cNvSpPr txBox="1">
              <a:spLocks noChangeArrowheads="1"/>
            </p:cNvSpPr>
            <p:nvPr/>
          </p:nvSpPr>
          <p:spPr bwMode="auto">
            <a:xfrm>
              <a:off x="4785" y="2341"/>
              <a:ext cx="97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3-36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8" name="组合 192535"/>
          <p:cNvGrpSpPr/>
          <p:nvPr/>
        </p:nvGrpSpPr>
        <p:grpSpPr bwMode="auto">
          <a:xfrm>
            <a:off x="1116013" y="4581525"/>
            <a:ext cx="8027987" cy="1044575"/>
            <a:chOff x="703" y="2931"/>
            <a:chExt cx="5057" cy="658"/>
          </a:xfrm>
        </p:grpSpPr>
        <p:graphicFrame>
          <p:nvGraphicFramePr>
            <p:cNvPr id="19" name="对象 192526"/>
            <p:cNvGraphicFramePr>
              <a:graphicFrameLocks/>
            </p:cNvGraphicFramePr>
            <p:nvPr/>
          </p:nvGraphicFramePr>
          <p:xfrm>
            <a:off x="703" y="2931"/>
            <a:ext cx="3901" cy="658"/>
          </p:xfrm>
          <a:graphic>
            <a:graphicData uri="http://schemas.openxmlformats.org/presentationml/2006/ole">
              <p:oleObj spid="_x0000_s54273" r:id="rId8" imgW="95707200" imgH="16154400" progId="Equation.3">
                <p:embed/>
              </p:oleObj>
            </a:graphicData>
          </a:graphic>
        </p:graphicFrame>
        <p:sp>
          <p:nvSpPr>
            <p:cNvPr id="20" name="文本框 192527"/>
            <p:cNvSpPr txBox="1">
              <a:spLocks noChangeArrowheads="1"/>
            </p:cNvSpPr>
            <p:nvPr/>
          </p:nvSpPr>
          <p:spPr bwMode="auto">
            <a:xfrm>
              <a:off x="4785" y="3051"/>
              <a:ext cx="97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3-37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grpSp>
        <p:nvGrpSpPr>
          <p:cNvPr id="3" name="组合 193610"/>
          <p:cNvGrpSpPr/>
          <p:nvPr/>
        </p:nvGrpSpPr>
        <p:grpSpPr bwMode="auto">
          <a:xfrm>
            <a:off x="323850" y="623913"/>
            <a:ext cx="8496300" cy="2678112"/>
            <a:chOff x="204" y="-289"/>
            <a:chExt cx="5352" cy="1687"/>
          </a:xfrm>
        </p:grpSpPr>
        <p:graphicFrame>
          <p:nvGraphicFramePr>
            <p:cNvPr id="5" name="对象 193541"/>
            <p:cNvGraphicFramePr>
              <a:graphicFrameLocks/>
            </p:cNvGraphicFramePr>
            <p:nvPr/>
          </p:nvGraphicFramePr>
          <p:xfrm>
            <a:off x="2018" y="663"/>
            <a:ext cx="408" cy="408"/>
          </p:xfrm>
          <a:graphic>
            <a:graphicData uri="http://schemas.openxmlformats.org/presentationml/2006/ole">
              <p:oleObj spid="_x0000_s55301" r:id="rId3" imgW="6705600" imgH="6705600" progId="Equation.3">
                <p:embed/>
              </p:oleObj>
            </a:graphicData>
          </a:graphic>
        </p:graphicFrame>
        <p:grpSp>
          <p:nvGrpSpPr>
            <p:cNvPr id="6" name="组合 193609"/>
            <p:cNvGrpSpPr/>
            <p:nvPr/>
          </p:nvGrpSpPr>
          <p:grpSpPr bwMode="auto">
            <a:xfrm>
              <a:off x="204" y="-289"/>
              <a:ext cx="5352" cy="1687"/>
              <a:chOff x="204" y="210"/>
              <a:chExt cx="5352" cy="1687"/>
            </a:xfrm>
          </p:grpSpPr>
          <p:sp>
            <p:nvSpPr>
              <p:cNvPr id="8" name="文本框 193539"/>
              <p:cNvSpPr txBox="1">
                <a:spLocks noChangeArrowheads="1"/>
              </p:cNvSpPr>
              <p:nvPr/>
            </p:nvSpPr>
            <p:spPr bwMode="auto">
              <a:xfrm>
                <a:off x="204" y="210"/>
                <a:ext cx="5352" cy="16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 由式（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3-36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）、（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3-37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）可见，两端电压不等的两端供电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网中，各线段中的功率可以看成是两个功率的叠加。其一为两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端电压相等时分布的功率，也即        时的功率分布；其二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取决于两端电压降落    和网络总阻抗    的功率，称为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循环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功率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，以   表示。</a:t>
                </a:r>
              </a:p>
            </p:txBody>
          </p:sp>
          <p:graphicFrame>
            <p:nvGraphicFramePr>
              <p:cNvPr id="9" name="对象 193540"/>
              <p:cNvGraphicFramePr>
                <a:graphicFrameLocks/>
              </p:cNvGraphicFramePr>
              <p:nvPr/>
            </p:nvGraphicFramePr>
            <p:xfrm>
              <a:off x="3016" y="799"/>
              <a:ext cx="681" cy="375"/>
            </p:xfrm>
            <a:graphic>
              <a:graphicData uri="http://schemas.openxmlformats.org/presentationml/2006/ole">
                <p:oleObj spid="_x0000_s55300" r:id="rId4" imgW="12192000" imgH="6705600" progId="Equation.3">
                  <p:embed/>
                </p:oleObj>
              </a:graphicData>
            </a:graphic>
          </p:graphicFrame>
          <p:graphicFrame>
            <p:nvGraphicFramePr>
              <p:cNvPr id="10" name="对象 193542"/>
              <p:cNvGraphicFramePr>
                <a:graphicFrameLocks/>
              </p:cNvGraphicFramePr>
              <p:nvPr/>
            </p:nvGraphicFramePr>
            <p:xfrm>
              <a:off x="3606" y="1208"/>
              <a:ext cx="279" cy="363"/>
            </p:xfrm>
            <a:graphic>
              <a:graphicData uri="http://schemas.openxmlformats.org/presentationml/2006/ole">
                <p:oleObj spid="_x0000_s55299" r:id="rId5" imgW="6096000" imgH="7924800" progId="Equation.3">
                  <p:embed/>
                </p:oleObj>
              </a:graphicData>
            </a:graphic>
          </p:graphicFrame>
        </p:grpSp>
        <p:graphicFrame>
          <p:nvGraphicFramePr>
            <p:cNvPr id="7" name="对象 193549"/>
            <p:cNvGraphicFramePr>
              <a:graphicFrameLocks/>
            </p:cNvGraphicFramePr>
            <p:nvPr/>
          </p:nvGraphicFramePr>
          <p:xfrm>
            <a:off x="1066" y="981"/>
            <a:ext cx="288" cy="409"/>
          </p:xfrm>
          <a:graphic>
            <a:graphicData uri="http://schemas.openxmlformats.org/presentationml/2006/ole">
              <p:oleObj spid="_x0000_s55298" r:id="rId6" imgW="5791200" imgH="8229600" progId="Equation.3">
                <p:embed/>
              </p:oleObj>
            </a:graphicData>
          </a:graphic>
        </p:graphicFrame>
      </p:grpSp>
      <p:grpSp>
        <p:nvGrpSpPr>
          <p:cNvPr id="11" name="组合 193608"/>
          <p:cNvGrpSpPr/>
          <p:nvPr/>
        </p:nvGrpSpPr>
        <p:grpSpPr bwMode="auto">
          <a:xfrm>
            <a:off x="1403350" y="3581425"/>
            <a:ext cx="5688013" cy="3051175"/>
            <a:chOff x="884" y="2026"/>
            <a:chExt cx="3583" cy="1922"/>
          </a:xfrm>
        </p:grpSpPr>
        <p:grpSp>
          <p:nvGrpSpPr>
            <p:cNvPr id="12" name="组合 193556"/>
            <p:cNvGrpSpPr/>
            <p:nvPr/>
          </p:nvGrpSpPr>
          <p:grpSpPr bwMode="auto">
            <a:xfrm>
              <a:off x="2557" y="2415"/>
              <a:ext cx="120" cy="111"/>
              <a:chOff x="2789" y="2840"/>
              <a:chExt cx="91" cy="91"/>
            </a:xfrm>
          </p:grpSpPr>
          <p:sp>
            <p:nvSpPr>
              <p:cNvPr id="61" name="直接连接符 193557"/>
              <p:cNvSpPr>
                <a:spLocks noChangeShapeType="1"/>
              </p:cNvSpPr>
              <p:nvPr/>
            </p:nvSpPr>
            <p:spPr bwMode="auto">
              <a:xfrm flipH="1"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直接连接符 193558"/>
              <p:cNvSpPr>
                <a:spLocks noChangeShapeType="1"/>
              </p:cNvSpPr>
              <p:nvPr/>
            </p:nvSpPr>
            <p:spPr bwMode="auto">
              <a:xfrm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" name="组合 193559"/>
            <p:cNvGrpSpPr/>
            <p:nvPr/>
          </p:nvGrpSpPr>
          <p:grpSpPr bwMode="auto">
            <a:xfrm>
              <a:off x="1678" y="2359"/>
              <a:ext cx="775" cy="221"/>
              <a:chOff x="3288" y="1752"/>
              <a:chExt cx="589" cy="181"/>
            </a:xfrm>
          </p:grpSpPr>
          <p:sp>
            <p:nvSpPr>
              <p:cNvPr id="57" name="椭圆 193560"/>
              <p:cNvSpPr>
                <a:spLocks noChangeArrowheads="1"/>
              </p:cNvSpPr>
              <p:nvPr/>
            </p:nvSpPr>
            <p:spPr bwMode="auto">
              <a:xfrm>
                <a:off x="3424" y="1752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椭圆 193561"/>
              <p:cNvSpPr>
                <a:spLocks noChangeArrowheads="1"/>
              </p:cNvSpPr>
              <p:nvPr/>
            </p:nvSpPr>
            <p:spPr bwMode="auto">
              <a:xfrm>
                <a:off x="3560" y="1752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直接连接符 193562"/>
              <p:cNvSpPr>
                <a:spLocks noChangeShapeType="1"/>
              </p:cNvSpPr>
              <p:nvPr/>
            </p:nvSpPr>
            <p:spPr bwMode="auto">
              <a:xfrm>
                <a:off x="3741" y="184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直接连接符 193563"/>
              <p:cNvSpPr>
                <a:spLocks noChangeShapeType="1"/>
              </p:cNvSpPr>
              <p:nvPr/>
            </p:nvSpPr>
            <p:spPr bwMode="auto">
              <a:xfrm flipH="1">
                <a:off x="3288" y="184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" name="直接连接符 193564"/>
            <p:cNvSpPr>
              <a:spLocks noChangeShapeType="1"/>
            </p:cNvSpPr>
            <p:nvPr/>
          </p:nvSpPr>
          <p:spPr bwMode="auto">
            <a:xfrm>
              <a:off x="1684" y="2359"/>
              <a:ext cx="0" cy="8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5" name="椭圆 193565"/>
            <p:cNvSpPr>
              <a:spLocks noChangeArrowheads="1"/>
            </p:cNvSpPr>
            <p:nvPr/>
          </p:nvSpPr>
          <p:spPr bwMode="auto">
            <a:xfrm>
              <a:off x="2414" y="2448"/>
              <a:ext cx="60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6" name="椭圆 193566"/>
            <p:cNvSpPr>
              <a:spLocks noChangeArrowheads="1"/>
            </p:cNvSpPr>
            <p:nvPr/>
          </p:nvSpPr>
          <p:spPr bwMode="auto">
            <a:xfrm>
              <a:off x="1863" y="2914"/>
              <a:ext cx="239" cy="2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7" name="椭圆 193567"/>
            <p:cNvSpPr>
              <a:spLocks noChangeArrowheads="1"/>
            </p:cNvSpPr>
            <p:nvPr/>
          </p:nvSpPr>
          <p:spPr bwMode="auto">
            <a:xfrm>
              <a:off x="2042" y="2914"/>
              <a:ext cx="239" cy="2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8" name="直接连接符 193568"/>
            <p:cNvSpPr>
              <a:spLocks noChangeShapeType="1"/>
            </p:cNvSpPr>
            <p:nvPr/>
          </p:nvSpPr>
          <p:spPr bwMode="auto">
            <a:xfrm>
              <a:off x="2281" y="3025"/>
              <a:ext cx="35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193569"/>
            <p:cNvSpPr>
              <a:spLocks noChangeShapeType="1"/>
            </p:cNvSpPr>
            <p:nvPr/>
          </p:nvSpPr>
          <p:spPr bwMode="auto">
            <a:xfrm flipH="1">
              <a:off x="1684" y="3025"/>
              <a:ext cx="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0" name="组合 193570"/>
            <p:cNvGrpSpPr/>
            <p:nvPr/>
          </p:nvGrpSpPr>
          <p:grpSpPr bwMode="auto">
            <a:xfrm>
              <a:off x="884" y="2526"/>
              <a:ext cx="836" cy="681"/>
              <a:chOff x="276" y="2205"/>
              <a:chExt cx="635" cy="556"/>
            </a:xfrm>
          </p:grpSpPr>
          <p:grpSp>
            <p:nvGrpSpPr>
              <p:cNvPr id="51" name="组合 193571"/>
              <p:cNvGrpSpPr/>
              <p:nvPr/>
            </p:nvGrpSpPr>
            <p:grpSpPr bwMode="auto">
              <a:xfrm>
                <a:off x="276" y="2205"/>
                <a:ext cx="635" cy="347"/>
                <a:chOff x="2699" y="2550"/>
                <a:chExt cx="635" cy="347"/>
              </a:xfrm>
            </p:grpSpPr>
            <p:sp>
              <p:nvSpPr>
                <p:cNvPr id="53" name="椭圆 193572"/>
                <p:cNvSpPr>
                  <a:spLocks noChangeArrowheads="1"/>
                </p:cNvSpPr>
                <p:nvPr/>
              </p:nvSpPr>
              <p:spPr bwMode="auto">
                <a:xfrm>
                  <a:off x="2699" y="2569"/>
                  <a:ext cx="317" cy="31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" name="文本框 193573"/>
                <p:cNvSpPr txBox="1">
                  <a:spLocks noChangeArrowheads="1"/>
                </p:cNvSpPr>
                <p:nvPr/>
              </p:nvSpPr>
              <p:spPr bwMode="auto">
                <a:xfrm>
                  <a:off x="2726" y="2550"/>
                  <a:ext cx="472" cy="2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G</a:t>
                  </a:r>
                </a:p>
              </p:txBody>
            </p:sp>
            <p:sp>
              <p:nvSpPr>
                <p:cNvPr id="55" name="文本框 193574"/>
                <p:cNvSpPr txBox="1">
                  <a:spLocks noChangeArrowheads="1"/>
                </p:cNvSpPr>
                <p:nvPr/>
              </p:nvSpPr>
              <p:spPr bwMode="auto">
                <a:xfrm>
                  <a:off x="2744" y="2659"/>
                  <a:ext cx="590" cy="2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~</a:t>
                  </a:r>
                </a:p>
              </p:txBody>
            </p:sp>
            <p:sp>
              <p:nvSpPr>
                <p:cNvPr id="56" name="直接连接符 193575"/>
                <p:cNvSpPr>
                  <a:spLocks noChangeShapeType="1"/>
                </p:cNvSpPr>
                <p:nvPr/>
              </p:nvSpPr>
              <p:spPr bwMode="auto">
                <a:xfrm>
                  <a:off x="3016" y="2750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文本框 193576"/>
              <p:cNvSpPr txBox="1">
                <a:spLocks noChangeArrowheads="1"/>
              </p:cNvSpPr>
              <p:nvPr/>
            </p:nvSpPr>
            <p:spPr bwMode="auto">
              <a:xfrm>
                <a:off x="295" y="2523"/>
                <a:ext cx="318" cy="2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21" name="直接连接符 193577"/>
            <p:cNvSpPr>
              <a:spLocks noChangeShapeType="1"/>
            </p:cNvSpPr>
            <p:nvPr/>
          </p:nvSpPr>
          <p:spPr bwMode="auto">
            <a:xfrm>
              <a:off x="2485" y="2470"/>
              <a:ext cx="1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193578"/>
            <p:cNvSpPr>
              <a:spLocks noChangeShapeType="1"/>
            </p:cNvSpPr>
            <p:nvPr/>
          </p:nvSpPr>
          <p:spPr bwMode="auto">
            <a:xfrm flipV="1">
              <a:off x="2760" y="2470"/>
              <a:ext cx="179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193579"/>
            <p:cNvSpPr>
              <a:spLocks noChangeShapeType="1"/>
            </p:cNvSpPr>
            <p:nvPr/>
          </p:nvSpPr>
          <p:spPr bwMode="auto">
            <a:xfrm>
              <a:off x="2939" y="2470"/>
              <a:ext cx="1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193580"/>
            <p:cNvSpPr>
              <a:spLocks noChangeShapeType="1"/>
            </p:cNvSpPr>
            <p:nvPr/>
          </p:nvSpPr>
          <p:spPr bwMode="auto">
            <a:xfrm>
              <a:off x="4371" y="233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193581"/>
            <p:cNvSpPr>
              <a:spLocks noChangeShapeType="1"/>
            </p:cNvSpPr>
            <p:nvPr/>
          </p:nvSpPr>
          <p:spPr bwMode="auto">
            <a:xfrm>
              <a:off x="2640" y="3026"/>
              <a:ext cx="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6" name="组合 193582"/>
            <p:cNvGrpSpPr/>
            <p:nvPr/>
          </p:nvGrpSpPr>
          <p:grpSpPr bwMode="auto">
            <a:xfrm>
              <a:off x="2581" y="2969"/>
              <a:ext cx="120" cy="112"/>
              <a:chOff x="2789" y="2840"/>
              <a:chExt cx="91" cy="91"/>
            </a:xfrm>
          </p:grpSpPr>
          <p:sp>
            <p:nvSpPr>
              <p:cNvPr id="49" name="直接连接符 193583"/>
              <p:cNvSpPr>
                <a:spLocks noChangeShapeType="1"/>
              </p:cNvSpPr>
              <p:nvPr/>
            </p:nvSpPr>
            <p:spPr bwMode="auto">
              <a:xfrm flipH="1"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直接连接符 193584"/>
              <p:cNvSpPr>
                <a:spLocks noChangeShapeType="1"/>
              </p:cNvSpPr>
              <p:nvPr/>
            </p:nvSpPr>
            <p:spPr bwMode="auto">
              <a:xfrm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" name="直接连接符 193585"/>
            <p:cNvSpPr>
              <a:spLocks noChangeShapeType="1"/>
            </p:cNvSpPr>
            <p:nvPr/>
          </p:nvSpPr>
          <p:spPr bwMode="auto">
            <a:xfrm>
              <a:off x="3523" y="3691"/>
              <a:ext cx="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193586"/>
            <p:cNvSpPr>
              <a:spLocks noChangeShapeType="1"/>
            </p:cNvSpPr>
            <p:nvPr/>
          </p:nvSpPr>
          <p:spPr bwMode="auto">
            <a:xfrm>
              <a:off x="3714" y="358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" name="直接连接符 193587"/>
            <p:cNvSpPr>
              <a:spLocks noChangeShapeType="1"/>
            </p:cNvSpPr>
            <p:nvPr/>
          </p:nvSpPr>
          <p:spPr bwMode="auto">
            <a:xfrm>
              <a:off x="3954" y="358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0" name="直接连接符 193588"/>
            <p:cNvSpPr>
              <a:spLocks noChangeShapeType="1"/>
            </p:cNvSpPr>
            <p:nvPr/>
          </p:nvSpPr>
          <p:spPr bwMode="auto">
            <a:xfrm>
              <a:off x="4252" y="2748"/>
              <a:ext cx="1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1" name="直接连接符 193589"/>
            <p:cNvSpPr>
              <a:spLocks noChangeShapeType="1"/>
            </p:cNvSpPr>
            <p:nvPr/>
          </p:nvSpPr>
          <p:spPr bwMode="auto">
            <a:xfrm>
              <a:off x="3238" y="3026"/>
              <a:ext cx="476" cy="5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2" name="直接连接符 193590"/>
            <p:cNvSpPr>
              <a:spLocks noChangeShapeType="1"/>
            </p:cNvSpPr>
            <p:nvPr/>
          </p:nvSpPr>
          <p:spPr bwMode="auto">
            <a:xfrm flipH="1">
              <a:off x="3954" y="2748"/>
              <a:ext cx="298" cy="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3" name="文本框 193591"/>
            <p:cNvSpPr txBox="1">
              <a:spLocks noChangeArrowheads="1"/>
            </p:cNvSpPr>
            <p:nvPr/>
          </p:nvSpPr>
          <p:spPr bwMode="auto">
            <a:xfrm>
              <a:off x="909" y="2192"/>
              <a:ext cx="716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10.5kV</a:t>
              </a:r>
            </a:p>
          </p:txBody>
        </p:sp>
        <p:sp>
          <p:nvSpPr>
            <p:cNvPr id="34" name="文本框 193592"/>
            <p:cNvSpPr txBox="1">
              <a:spLocks noChangeArrowheads="1"/>
            </p:cNvSpPr>
            <p:nvPr/>
          </p:nvSpPr>
          <p:spPr bwMode="auto">
            <a:xfrm>
              <a:off x="1745" y="2026"/>
              <a:ext cx="89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10.5/242</a:t>
              </a:r>
            </a:p>
          </p:txBody>
        </p:sp>
        <p:sp>
          <p:nvSpPr>
            <p:cNvPr id="35" name="文本框 193593"/>
            <p:cNvSpPr txBox="1">
              <a:spLocks noChangeArrowheads="1"/>
            </p:cNvSpPr>
            <p:nvPr/>
          </p:nvSpPr>
          <p:spPr bwMode="auto">
            <a:xfrm>
              <a:off x="1745" y="3136"/>
              <a:ext cx="89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10.5/231</a:t>
              </a:r>
            </a:p>
          </p:txBody>
        </p:sp>
        <p:sp>
          <p:nvSpPr>
            <p:cNvPr id="36" name="文本框 193594"/>
            <p:cNvSpPr txBox="1">
              <a:spLocks noChangeArrowheads="1"/>
            </p:cNvSpPr>
            <p:nvPr/>
          </p:nvSpPr>
          <p:spPr bwMode="auto">
            <a:xfrm>
              <a:off x="1804" y="2525"/>
              <a:ext cx="41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文本框 193595"/>
            <p:cNvSpPr txBox="1">
              <a:spLocks noChangeArrowheads="1"/>
            </p:cNvSpPr>
            <p:nvPr/>
          </p:nvSpPr>
          <p:spPr bwMode="auto">
            <a:xfrm>
              <a:off x="2103" y="2715"/>
              <a:ext cx="41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文本框 193596"/>
            <p:cNvSpPr txBox="1">
              <a:spLocks noChangeArrowheads="1"/>
            </p:cNvSpPr>
            <p:nvPr/>
          </p:nvSpPr>
          <p:spPr bwMode="auto">
            <a:xfrm>
              <a:off x="2437" y="2526"/>
              <a:ext cx="53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QF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文本框 193597"/>
            <p:cNvSpPr txBox="1">
              <a:spLocks noChangeArrowheads="1"/>
            </p:cNvSpPr>
            <p:nvPr/>
          </p:nvSpPr>
          <p:spPr bwMode="auto">
            <a:xfrm>
              <a:off x="2676" y="3026"/>
              <a:ext cx="53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QF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0" name="对象 193598"/>
            <p:cNvGraphicFramePr>
              <a:graphicFrameLocks/>
            </p:cNvGraphicFramePr>
            <p:nvPr/>
          </p:nvGraphicFramePr>
          <p:xfrm>
            <a:off x="3576" y="2582"/>
            <a:ext cx="358" cy="499"/>
          </p:xfrm>
          <a:graphic>
            <a:graphicData uri="http://schemas.openxmlformats.org/presentationml/2006/ole">
              <p:oleObj spid="_x0000_s55297" r:id="rId7" imgW="5486400" imgH="8229600" progId="Equation.3">
                <p:embed/>
              </p:oleObj>
            </a:graphicData>
          </a:graphic>
        </p:graphicFrame>
        <p:sp>
          <p:nvSpPr>
            <p:cNvPr id="41" name="椭圆 193599"/>
            <p:cNvSpPr>
              <a:spLocks noChangeArrowheads="1"/>
            </p:cNvSpPr>
            <p:nvPr/>
          </p:nvSpPr>
          <p:spPr bwMode="auto">
            <a:xfrm>
              <a:off x="3034" y="2437"/>
              <a:ext cx="60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2" name="文本框 193600"/>
            <p:cNvSpPr txBox="1">
              <a:spLocks noChangeArrowheads="1"/>
            </p:cNvSpPr>
            <p:nvPr/>
          </p:nvSpPr>
          <p:spPr bwMode="auto">
            <a:xfrm>
              <a:off x="2377" y="2192"/>
              <a:ext cx="35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" name="文本框 193601"/>
            <p:cNvSpPr txBox="1">
              <a:spLocks noChangeArrowheads="1"/>
            </p:cNvSpPr>
            <p:nvPr/>
          </p:nvSpPr>
          <p:spPr bwMode="auto">
            <a:xfrm>
              <a:off x="2974" y="2192"/>
              <a:ext cx="35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" name="文本框 193602"/>
            <p:cNvSpPr txBox="1">
              <a:spLocks noChangeArrowheads="1"/>
            </p:cNvSpPr>
            <p:nvPr/>
          </p:nvSpPr>
          <p:spPr bwMode="auto">
            <a:xfrm>
              <a:off x="4109" y="3580"/>
              <a:ext cx="35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45" name="组合 193603"/>
            <p:cNvGrpSpPr/>
            <p:nvPr/>
          </p:nvGrpSpPr>
          <p:grpSpPr bwMode="auto">
            <a:xfrm>
              <a:off x="3531" y="2635"/>
              <a:ext cx="478" cy="559"/>
              <a:chOff x="2895" y="1431"/>
              <a:chExt cx="363" cy="457"/>
            </a:xfrm>
          </p:grpSpPr>
          <p:sp>
            <p:nvSpPr>
              <p:cNvPr id="47" name="任意多边形 193604"/>
              <p:cNvSpPr>
                <a:spLocks noChangeArrowheads="1"/>
              </p:cNvSpPr>
              <p:nvPr/>
            </p:nvSpPr>
            <p:spPr bwMode="auto">
              <a:xfrm rot="-5400000">
                <a:off x="2864" y="1462"/>
                <a:ext cx="425" cy="363"/>
              </a:xfrm>
              <a:custGeom>
                <a:avLst/>
                <a:gdLst/>
                <a:ahLst/>
                <a:cxnLst>
                  <a:cxn ang="0">
                    <a:pos x="17652" y="0"/>
                  </a:cxn>
                  <a:cxn ang="0">
                    <a:pos x="39252" y="21600"/>
                  </a:cxn>
                  <a:cxn ang="0">
                    <a:pos x="17652" y="43200"/>
                  </a:cxn>
                  <a:cxn ang="0">
                    <a:pos x="-1" y="34050"/>
                  </a:cxn>
                  <a:cxn ang="0">
                    <a:pos x="17652" y="0"/>
                  </a:cxn>
                  <a:cxn ang="0">
                    <a:pos x="39252" y="21600"/>
                  </a:cxn>
                  <a:cxn ang="0">
                    <a:pos x="17652" y="43200"/>
                  </a:cxn>
                  <a:cxn ang="0">
                    <a:pos x="-1" y="34050"/>
                  </a:cxn>
                  <a:cxn ang="0">
                    <a:pos x="17652" y="21600"/>
                  </a:cxn>
                </a:cxnLst>
                <a:rect l="0" t="0" r="r" b="b"/>
                <a:pathLst>
                  <a:path w="39252" h="43200" fill="none">
                    <a:moveTo>
                      <a:pt x="17652" y="0"/>
                    </a:moveTo>
                    <a:cubicBezTo>
                      <a:pt x="29581" y="0"/>
                      <a:pt x="39252" y="9671"/>
                      <a:pt x="39252" y="21600"/>
                    </a:cubicBezTo>
                    <a:cubicBezTo>
                      <a:pt x="39252" y="33529"/>
                      <a:pt x="29581" y="43200"/>
                      <a:pt x="17652" y="43200"/>
                    </a:cubicBezTo>
                    <a:cubicBezTo>
                      <a:pt x="10359" y="43200"/>
                      <a:pt x="3909" y="39585"/>
                      <a:pt x="-1" y="34050"/>
                    </a:cubicBezTo>
                  </a:path>
                  <a:path w="39252" h="43200" stroke="0">
                    <a:moveTo>
                      <a:pt x="17652" y="0"/>
                    </a:moveTo>
                    <a:cubicBezTo>
                      <a:pt x="29581" y="0"/>
                      <a:pt x="39252" y="9671"/>
                      <a:pt x="39252" y="21600"/>
                    </a:cubicBezTo>
                    <a:cubicBezTo>
                      <a:pt x="39252" y="33529"/>
                      <a:pt x="29581" y="43200"/>
                      <a:pt x="17652" y="43200"/>
                    </a:cubicBezTo>
                    <a:cubicBezTo>
                      <a:pt x="10359" y="43200"/>
                      <a:pt x="3909" y="39585"/>
                      <a:pt x="-1" y="34050"/>
                    </a:cubicBezTo>
                    <a:lnTo>
                      <a:pt x="1765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直接连接符 193605"/>
              <p:cNvSpPr>
                <a:spLocks noChangeShapeType="1"/>
              </p:cNvSpPr>
              <p:nvPr/>
            </p:nvSpPr>
            <p:spPr bwMode="auto">
              <a:xfrm flipH="1">
                <a:off x="3152" y="1842"/>
                <a:ext cx="46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" name="文本框 193606"/>
            <p:cNvSpPr txBox="1">
              <a:spLocks noChangeArrowheads="1"/>
            </p:cNvSpPr>
            <p:nvPr/>
          </p:nvSpPr>
          <p:spPr bwMode="auto">
            <a:xfrm>
              <a:off x="1338" y="3657"/>
              <a:ext cx="213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环形网</a:t>
              </a:r>
              <a:r>
                <a:rPr lang="zh-CN" altLang="en-US" sz="24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的循环功率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grpSp>
        <p:nvGrpSpPr>
          <p:cNvPr id="3" name="组合 194621"/>
          <p:cNvGrpSpPr/>
          <p:nvPr/>
        </p:nvGrpSpPr>
        <p:grpSpPr bwMode="auto">
          <a:xfrm>
            <a:off x="179388" y="428604"/>
            <a:ext cx="8964612" cy="3916363"/>
            <a:chOff x="113" y="210"/>
            <a:chExt cx="5647" cy="2467"/>
          </a:xfrm>
        </p:grpSpPr>
        <p:sp>
          <p:nvSpPr>
            <p:cNvPr id="5" name="文本框 194615"/>
            <p:cNvSpPr txBox="1">
              <a:spLocks noChangeArrowheads="1"/>
            </p:cNvSpPr>
            <p:nvPr/>
          </p:nvSpPr>
          <p:spPr bwMode="auto">
            <a:xfrm>
              <a:off x="113" y="292"/>
              <a:ext cx="5647" cy="23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循环功率    的正方向与电压降落的方向有关。对于无电源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的外电路，如电路断口处，  由高电位流向低电位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。对于有源的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内电路，如电路的其他部分，   均由低电位流向高电位。这与电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工原理中电压、电流正方向的确定是一致的。由此，可以确定网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络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中由于变压器变比不匹配时产生的循环功率的正方向，如图</a:t>
              </a: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3-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zh-CN" altLang="en-US" sz="2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环式网络中，当网络为空载时，断开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QF1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，断口外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AB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为外电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路，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BCA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为内电路，由上述方法可判断      的正方向如图所示。</a:t>
              </a:r>
            </a:p>
          </p:txBody>
        </p:sp>
        <p:graphicFrame>
          <p:nvGraphicFramePr>
            <p:cNvPr id="6" name="对象 194616"/>
            <p:cNvGraphicFramePr>
              <a:graphicFrameLocks/>
            </p:cNvGraphicFramePr>
            <p:nvPr/>
          </p:nvGraphicFramePr>
          <p:xfrm>
            <a:off x="2426" y="564"/>
            <a:ext cx="288" cy="409"/>
          </p:xfrm>
          <a:graphic>
            <a:graphicData uri="http://schemas.openxmlformats.org/presentationml/2006/ole">
              <p:oleObj spid="_x0000_s56325" r:id="rId3" imgW="5791200" imgH="8229600" progId="Equation.3">
                <p:embed/>
              </p:oleObj>
            </a:graphicData>
          </a:graphic>
        </p:graphicFrame>
        <p:graphicFrame>
          <p:nvGraphicFramePr>
            <p:cNvPr id="7" name="对象 194617"/>
            <p:cNvGraphicFramePr>
              <a:graphicFrameLocks/>
            </p:cNvGraphicFramePr>
            <p:nvPr/>
          </p:nvGraphicFramePr>
          <p:xfrm>
            <a:off x="2653" y="881"/>
            <a:ext cx="288" cy="409"/>
          </p:xfrm>
          <a:graphic>
            <a:graphicData uri="http://schemas.openxmlformats.org/presentationml/2006/ole">
              <p:oleObj spid="_x0000_s56324" r:id="rId4" imgW="5791200" imgH="8229600" progId="Equation.3">
                <p:embed/>
              </p:oleObj>
            </a:graphicData>
          </a:graphic>
        </p:graphicFrame>
        <p:graphicFrame>
          <p:nvGraphicFramePr>
            <p:cNvPr id="8" name="对象 194618"/>
            <p:cNvGraphicFramePr>
              <a:graphicFrameLocks/>
            </p:cNvGraphicFramePr>
            <p:nvPr/>
          </p:nvGraphicFramePr>
          <p:xfrm>
            <a:off x="1429" y="210"/>
            <a:ext cx="288" cy="409"/>
          </p:xfrm>
          <a:graphic>
            <a:graphicData uri="http://schemas.openxmlformats.org/presentationml/2006/ole">
              <p:oleObj spid="_x0000_s56323" r:id="rId5" imgW="5791200" imgH="8229600" progId="Equation.3">
                <p:embed/>
              </p:oleObj>
            </a:graphicData>
          </a:graphic>
        </p:graphicFrame>
        <p:graphicFrame>
          <p:nvGraphicFramePr>
            <p:cNvPr id="9" name="对象 194619"/>
            <p:cNvGraphicFramePr>
              <a:graphicFrameLocks/>
            </p:cNvGraphicFramePr>
            <p:nvPr/>
          </p:nvGraphicFramePr>
          <p:xfrm>
            <a:off x="3470" y="2252"/>
            <a:ext cx="288" cy="409"/>
          </p:xfrm>
          <a:graphic>
            <a:graphicData uri="http://schemas.openxmlformats.org/presentationml/2006/ole">
              <p:oleObj spid="_x0000_s56322" r:id="rId6" imgW="5791200" imgH="8229600" progId="Equation.3">
                <p:embed/>
              </p:oleObj>
            </a:graphicData>
          </a:graphic>
        </p:graphicFrame>
      </p:grpSp>
      <p:grpSp>
        <p:nvGrpSpPr>
          <p:cNvPr id="10" name="组合 193608"/>
          <p:cNvGrpSpPr/>
          <p:nvPr/>
        </p:nvGrpSpPr>
        <p:grpSpPr bwMode="auto">
          <a:xfrm>
            <a:off x="1214414" y="4214818"/>
            <a:ext cx="5214974" cy="2705067"/>
            <a:chOff x="884" y="2026"/>
            <a:chExt cx="3583" cy="1967"/>
          </a:xfrm>
        </p:grpSpPr>
        <p:grpSp>
          <p:nvGrpSpPr>
            <p:cNvPr id="11" name="组合 193556"/>
            <p:cNvGrpSpPr/>
            <p:nvPr/>
          </p:nvGrpSpPr>
          <p:grpSpPr bwMode="auto">
            <a:xfrm>
              <a:off x="2557" y="2415"/>
              <a:ext cx="120" cy="111"/>
              <a:chOff x="2789" y="2840"/>
              <a:chExt cx="91" cy="91"/>
            </a:xfrm>
          </p:grpSpPr>
          <p:sp>
            <p:nvSpPr>
              <p:cNvPr id="60" name="直接连接符 193557"/>
              <p:cNvSpPr>
                <a:spLocks noChangeShapeType="1"/>
              </p:cNvSpPr>
              <p:nvPr/>
            </p:nvSpPr>
            <p:spPr bwMode="auto">
              <a:xfrm flipH="1"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直接连接符 193558"/>
              <p:cNvSpPr>
                <a:spLocks noChangeShapeType="1"/>
              </p:cNvSpPr>
              <p:nvPr/>
            </p:nvSpPr>
            <p:spPr bwMode="auto">
              <a:xfrm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" name="组合 193559"/>
            <p:cNvGrpSpPr/>
            <p:nvPr/>
          </p:nvGrpSpPr>
          <p:grpSpPr bwMode="auto">
            <a:xfrm>
              <a:off x="1678" y="2359"/>
              <a:ext cx="775" cy="221"/>
              <a:chOff x="3288" y="1752"/>
              <a:chExt cx="589" cy="181"/>
            </a:xfrm>
          </p:grpSpPr>
          <p:sp>
            <p:nvSpPr>
              <p:cNvPr id="56" name="椭圆 193560"/>
              <p:cNvSpPr>
                <a:spLocks noChangeArrowheads="1"/>
              </p:cNvSpPr>
              <p:nvPr/>
            </p:nvSpPr>
            <p:spPr bwMode="auto">
              <a:xfrm>
                <a:off x="3424" y="1752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7" name="椭圆 193561"/>
              <p:cNvSpPr>
                <a:spLocks noChangeArrowheads="1"/>
              </p:cNvSpPr>
              <p:nvPr/>
            </p:nvSpPr>
            <p:spPr bwMode="auto">
              <a:xfrm>
                <a:off x="3560" y="1752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直接连接符 193562"/>
              <p:cNvSpPr>
                <a:spLocks noChangeShapeType="1"/>
              </p:cNvSpPr>
              <p:nvPr/>
            </p:nvSpPr>
            <p:spPr bwMode="auto">
              <a:xfrm>
                <a:off x="3741" y="184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直接连接符 193563"/>
              <p:cNvSpPr>
                <a:spLocks noChangeShapeType="1"/>
              </p:cNvSpPr>
              <p:nvPr/>
            </p:nvSpPr>
            <p:spPr bwMode="auto">
              <a:xfrm flipH="1">
                <a:off x="3288" y="184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" name="直接连接符 193564"/>
            <p:cNvSpPr>
              <a:spLocks noChangeShapeType="1"/>
            </p:cNvSpPr>
            <p:nvPr/>
          </p:nvSpPr>
          <p:spPr bwMode="auto">
            <a:xfrm>
              <a:off x="1684" y="2359"/>
              <a:ext cx="0" cy="8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" name="椭圆 193565"/>
            <p:cNvSpPr>
              <a:spLocks noChangeArrowheads="1"/>
            </p:cNvSpPr>
            <p:nvPr/>
          </p:nvSpPr>
          <p:spPr bwMode="auto">
            <a:xfrm>
              <a:off x="2414" y="2448"/>
              <a:ext cx="60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5" name="椭圆 193566"/>
            <p:cNvSpPr>
              <a:spLocks noChangeArrowheads="1"/>
            </p:cNvSpPr>
            <p:nvPr/>
          </p:nvSpPr>
          <p:spPr bwMode="auto">
            <a:xfrm>
              <a:off x="1863" y="2914"/>
              <a:ext cx="239" cy="2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6" name="椭圆 193567"/>
            <p:cNvSpPr>
              <a:spLocks noChangeArrowheads="1"/>
            </p:cNvSpPr>
            <p:nvPr/>
          </p:nvSpPr>
          <p:spPr bwMode="auto">
            <a:xfrm>
              <a:off x="2042" y="2914"/>
              <a:ext cx="239" cy="2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193568"/>
            <p:cNvSpPr>
              <a:spLocks noChangeShapeType="1"/>
            </p:cNvSpPr>
            <p:nvPr/>
          </p:nvSpPr>
          <p:spPr bwMode="auto">
            <a:xfrm>
              <a:off x="2281" y="3025"/>
              <a:ext cx="35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8" name="直接连接符 193569"/>
            <p:cNvSpPr>
              <a:spLocks noChangeShapeType="1"/>
            </p:cNvSpPr>
            <p:nvPr/>
          </p:nvSpPr>
          <p:spPr bwMode="auto">
            <a:xfrm flipH="1">
              <a:off x="1684" y="3025"/>
              <a:ext cx="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19" name="组合 193570"/>
            <p:cNvGrpSpPr/>
            <p:nvPr/>
          </p:nvGrpSpPr>
          <p:grpSpPr bwMode="auto">
            <a:xfrm>
              <a:off x="884" y="2526"/>
              <a:ext cx="836" cy="681"/>
              <a:chOff x="276" y="2205"/>
              <a:chExt cx="635" cy="556"/>
            </a:xfrm>
          </p:grpSpPr>
          <p:grpSp>
            <p:nvGrpSpPr>
              <p:cNvPr id="50" name="组合 193571"/>
              <p:cNvGrpSpPr/>
              <p:nvPr/>
            </p:nvGrpSpPr>
            <p:grpSpPr bwMode="auto">
              <a:xfrm>
                <a:off x="276" y="2205"/>
                <a:ext cx="635" cy="347"/>
                <a:chOff x="2699" y="2550"/>
                <a:chExt cx="635" cy="347"/>
              </a:xfrm>
            </p:grpSpPr>
            <p:sp>
              <p:nvSpPr>
                <p:cNvPr id="52" name="椭圆 193572"/>
                <p:cNvSpPr>
                  <a:spLocks noChangeArrowheads="1"/>
                </p:cNvSpPr>
                <p:nvPr/>
              </p:nvSpPr>
              <p:spPr bwMode="auto">
                <a:xfrm>
                  <a:off x="2699" y="2569"/>
                  <a:ext cx="317" cy="31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3" name="文本框 193573"/>
                <p:cNvSpPr txBox="1">
                  <a:spLocks noChangeArrowheads="1"/>
                </p:cNvSpPr>
                <p:nvPr/>
              </p:nvSpPr>
              <p:spPr bwMode="auto">
                <a:xfrm>
                  <a:off x="2726" y="2550"/>
                  <a:ext cx="472" cy="2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G</a:t>
                  </a:r>
                </a:p>
              </p:txBody>
            </p:sp>
            <p:sp>
              <p:nvSpPr>
                <p:cNvPr id="54" name="文本框 193574"/>
                <p:cNvSpPr txBox="1">
                  <a:spLocks noChangeArrowheads="1"/>
                </p:cNvSpPr>
                <p:nvPr/>
              </p:nvSpPr>
              <p:spPr bwMode="auto">
                <a:xfrm>
                  <a:off x="2744" y="2659"/>
                  <a:ext cx="590" cy="2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~</a:t>
                  </a:r>
                </a:p>
              </p:txBody>
            </p:sp>
            <p:sp>
              <p:nvSpPr>
                <p:cNvPr id="55" name="直接连接符 193575"/>
                <p:cNvSpPr>
                  <a:spLocks noChangeShapeType="1"/>
                </p:cNvSpPr>
                <p:nvPr/>
              </p:nvSpPr>
              <p:spPr bwMode="auto">
                <a:xfrm>
                  <a:off x="3016" y="2750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1" name="文本框 193576"/>
              <p:cNvSpPr txBox="1">
                <a:spLocks noChangeArrowheads="1"/>
              </p:cNvSpPr>
              <p:nvPr/>
            </p:nvSpPr>
            <p:spPr bwMode="auto">
              <a:xfrm>
                <a:off x="295" y="2523"/>
                <a:ext cx="318" cy="2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20" name="直接连接符 193577"/>
            <p:cNvSpPr>
              <a:spLocks noChangeShapeType="1"/>
            </p:cNvSpPr>
            <p:nvPr/>
          </p:nvSpPr>
          <p:spPr bwMode="auto">
            <a:xfrm>
              <a:off x="2485" y="2470"/>
              <a:ext cx="1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193578"/>
            <p:cNvSpPr>
              <a:spLocks noChangeShapeType="1"/>
            </p:cNvSpPr>
            <p:nvPr/>
          </p:nvSpPr>
          <p:spPr bwMode="auto">
            <a:xfrm flipV="1">
              <a:off x="2760" y="2470"/>
              <a:ext cx="179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193579"/>
            <p:cNvSpPr>
              <a:spLocks noChangeShapeType="1"/>
            </p:cNvSpPr>
            <p:nvPr/>
          </p:nvSpPr>
          <p:spPr bwMode="auto">
            <a:xfrm>
              <a:off x="2939" y="2470"/>
              <a:ext cx="1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193580"/>
            <p:cNvSpPr>
              <a:spLocks noChangeShapeType="1"/>
            </p:cNvSpPr>
            <p:nvPr/>
          </p:nvSpPr>
          <p:spPr bwMode="auto">
            <a:xfrm>
              <a:off x="4371" y="233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193581"/>
            <p:cNvSpPr>
              <a:spLocks noChangeShapeType="1"/>
            </p:cNvSpPr>
            <p:nvPr/>
          </p:nvSpPr>
          <p:spPr bwMode="auto">
            <a:xfrm>
              <a:off x="2640" y="3026"/>
              <a:ext cx="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5" name="组合 193582"/>
            <p:cNvGrpSpPr/>
            <p:nvPr/>
          </p:nvGrpSpPr>
          <p:grpSpPr bwMode="auto">
            <a:xfrm>
              <a:off x="2581" y="2969"/>
              <a:ext cx="120" cy="112"/>
              <a:chOff x="2789" y="2840"/>
              <a:chExt cx="91" cy="91"/>
            </a:xfrm>
          </p:grpSpPr>
          <p:sp>
            <p:nvSpPr>
              <p:cNvPr id="48" name="直接连接符 193583"/>
              <p:cNvSpPr>
                <a:spLocks noChangeShapeType="1"/>
              </p:cNvSpPr>
              <p:nvPr/>
            </p:nvSpPr>
            <p:spPr bwMode="auto">
              <a:xfrm flipH="1"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直接连接符 193584"/>
              <p:cNvSpPr>
                <a:spLocks noChangeShapeType="1"/>
              </p:cNvSpPr>
              <p:nvPr/>
            </p:nvSpPr>
            <p:spPr bwMode="auto">
              <a:xfrm>
                <a:off x="2789" y="2840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" name="直接连接符 193585"/>
            <p:cNvSpPr>
              <a:spLocks noChangeShapeType="1"/>
            </p:cNvSpPr>
            <p:nvPr/>
          </p:nvSpPr>
          <p:spPr bwMode="auto">
            <a:xfrm>
              <a:off x="3523" y="3691"/>
              <a:ext cx="5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193586"/>
            <p:cNvSpPr>
              <a:spLocks noChangeShapeType="1"/>
            </p:cNvSpPr>
            <p:nvPr/>
          </p:nvSpPr>
          <p:spPr bwMode="auto">
            <a:xfrm>
              <a:off x="3714" y="358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193587"/>
            <p:cNvSpPr>
              <a:spLocks noChangeShapeType="1"/>
            </p:cNvSpPr>
            <p:nvPr/>
          </p:nvSpPr>
          <p:spPr bwMode="auto">
            <a:xfrm>
              <a:off x="3954" y="358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" name="直接连接符 193588"/>
            <p:cNvSpPr>
              <a:spLocks noChangeShapeType="1"/>
            </p:cNvSpPr>
            <p:nvPr/>
          </p:nvSpPr>
          <p:spPr bwMode="auto">
            <a:xfrm>
              <a:off x="4252" y="2748"/>
              <a:ext cx="1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0" name="直接连接符 193589"/>
            <p:cNvSpPr>
              <a:spLocks noChangeShapeType="1"/>
            </p:cNvSpPr>
            <p:nvPr/>
          </p:nvSpPr>
          <p:spPr bwMode="auto">
            <a:xfrm>
              <a:off x="3238" y="3026"/>
              <a:ext cx="476" cy="5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1" name="直接连接符 193590"/>
            <p:cNvSpPr>
              <a:spLocks noChangeShapeType="1"/>
            </p:cNvSpPr>
            <p:nvPr/>
          </p:nvSpPr>
          <p:spPr bwMode="auto">
            <a:xfrm flipH="1">
              <a:off x="3954" y="2748"/>
              <a:ext cx="298" cy="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2" name="文本框 193591"/>
            <p:cNvSpPr txBox="1">
              <a:spLocks noChangeArrowheads="1"/>
            </p:cNvSpPr>
            <p:nvPr/>
          </p:nvSpPr>
          <p:spPr bwMode="auto">
            <a:xfrm>
              <a:off x="909" y="2192"/>
              <a:ext cx="858" cy="3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10.5kV</a:t>
              </a:r>
            </a:p>
          </p:txBody>
        </p:sp>
        <p:sp>
          <p:nvSpPr>
            <p:cNvPr id="33" name="文本框 193592"/>
            <p:cNvSpPr txBox="1">
              <a:spLocks noChangeArrowheads="1"/>
            </p:cNvSpPr>
            <p:nvPr/>
          </p:nvSpPr>
          <p:spPr bwMode="auto">
            <a:xfrm>
              <a:off x="1745" y="2026"/>
              <a:ext cx="1053" cy="3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10.5/242</a:t>
              </a:r>
            </a:p>
          </p:txBody>
        </p:sp>
        <p:sp>
          <p:nvSpPr>
            <p:cNvPr id="34" name="文本框 193593"/>
            <p:cNvSpPr txBox="1">
              <a:spLocks noChangeArrowheads="1"/>
            </p:cNvSpPr>
            <p:nvPr/>
          </p:nvSpPr>
          <p:spPr bwMode="auto">
            <a:xfrm>
              <a:off x="1745" y="3136"/>
              <a:ext cx="89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10.5/231</a:t>
              </a:r>
            </a:p>
          </p:txBody>
        </p:sp>
        <p:sp>
          <p:nvSpPr>
            <p:cNvPr id="35" name="文本框 193594"/>
            <p:cNvSpPr txBox="1">
              <a:spLocks noChangeArrowheads="1"/>
            </p:cNvSpPr>
            <p:nvPr/>
          </p:nvSpPr>
          <p:spPr bwMode="auto">
            <a:xfrm>
              <a:off x="1804" y="2525"/>
              <a:ext cx="41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文本框 193595"/>
            <p:cNvSpPr txBox="1">
              <a:spLocks noChangeArrowheads="1"/>
            </p:cNvSpPr>
            <p:nvPr/>
          </p:nvSpPr>
          <p:spPr bwMode="auto">
            <a:xfrm>
              <a:off x="2103" y="2715"/>
              <a:ext cx="41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文本框 193596"/>
            <p:cNvSpPr txBox="1">
              <a:spLocks noChangeArrowheads="1"/>
            </p:cNvSpPr>
            <p:nvPr/>
          </p:nvSpPr>
          <p:spPr bwMode="auto">
            <a:xfrm>
              <a:off x="2437" y="2526"/>
              <a:ext cx="53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QF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文本框 193597"/>
            <p:cNvSpPr txBox="1">
              <a:spLocks noChangeArrowheads="1"/>
            </p:cNvSpPr>
            <p:nvPr/>
          </p:nvSpPr>
          <p:spPr bwMode="auto">
            <a:xfrm>
              <a:off x="2676" y="3026"/>
              <a:ext cx="53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QF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9" name="对象 193598"/>
            <p:cNvGraphicFramePr>
              <a:graphicFrameLocks/>
            </p:cNvGraphicFramePr>
            <p:nvPr/>
          </p:nvGraphicFramePr>
          <p:xfrm>
            <a:off x="3576" y="2582"/>
            <a:ext cx="358" cy="499"/>
          </p:xfrm>
          <a:graphic>
            <a:graphicData uri="http://schemas.openxmlformats.org/presentationml/2006/ole">
              <p:oleObj spid="_x0000_s56321" r:id="rId7" imgW="5486400" imgH="8229600" progId="Equation.3">
                <p:embed/>
              </p:oleObj>
            </a:graphicData>
          </a:graphic>
        </p:graphicFrame>
        <p:sp>
          <p:nvSpPr>
            <p:cNvPr id="40" name="椭圆 193599"/>
            <p:cNvSpPr>
              <a:spLocks noChangeArrowheads="1"/>
            </p:cNvSpPr>
            <p:nvPr/>
          </p:nvSpPr>
          <p:spPr bwMode="auto">
            <a:xfrm>
              <a:off x="3034" y="2437"/>
              <a:ext cx="60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1" name="文本框 193600"/>
            <p:cNvSpPr txBox="1">
              <a:spLocks noChangeArrowheads="1"/>
            </p:cNvSpPr>
            <p:nvPr/>
          </p:nvSpPr>
          <p:spPr bwMode="auto">
            <a:xfrm>
              <a:off x="2377" y="2192"/>
              <a:ext cx="35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2" name="文本框 193601"/>
            <p:cNvSpPr txBox="1">
              <a:spLocks noChangeArrowheads="1"/>
            </p:cNvSpPr>
            <p:nvPr/>
          </p:nvSpPr>
          <p:spPr bwMode="auto">
            <a:xfrm>
              <a:off x="2974" y="2192"/>
              <a:ext cx="35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" name="文本框 193602"/>
            <p:cNvSpPr txBox="1">
              <a:spLocks noChangeArrowheads="1"/>
            </p:cNvSpPr>
            <p:nvPr/>
          </p:nvSpPr>
          <p:spPr bwMode="auto">
            <a:xfrm>
              <a:off x="4109" y="3580"/>
              <a:ext cx="35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44" name="组合 193603"/>
            <p:cNvGrpSpPr/>
            <p:nvPr/>
          </p:nvGrpSpPr>
          <p:grpSpPr bwMode="auto">
            <a:xfrm>
              <a:off x="3531" y="2635"/>
              <a:ext cx="478" cy="559"/>
              <a:chOff x="2895" y="1431"/>
              <a:chExt cx="363" cy="457"/>
            </a:xfrm>
          </p:grpSpPr>
          <p:sp>
            <p:nvSpPr>
              <p:cNvPr id="46" name="任意多边形 193604"/>
              <p:cNvSpPr>
                <a:spLocks noChangeArrowheads="1"/>
              </p:cNvSpPr>
              <p:nvPr/>
            </p:nvSpPr>
            <p:spPr bwMode="auto">
              <a:xfrm rot="-5400000">
                <a:off x="2864" y="1462"/>
                <a:ext cx="425" cy="363"/>
              </a:xfrm>
              <a:custGeom>
                <a:avLst/>
                <a:gdLst/>
                <a:ahLst/>
                <a:cxnLst>
                  <a:cxn ang="0">
                    <a:pos x="17652" y="0"/>
                  </a:cxn>
                  <a:cxn ang="0">
                    <a:pos x="39252" y="21600"/>
                  </a:cxn>
                  <a:cxn ang="0">
                    <a:pos x="17652" y="43200"/>
                  </a:cxn>
                  <a:cxn ang="0">
                    <a:pos x="-1" y="34050"/>
                  </a:cxn>
                  <a:cxn ang="0">
                    <a:pos x="17652" y="0"/>
                  </a:cxn>
                  <a:cxn ang="0">
                    <a:pos x="39252" y="21600"/>
                  </a:cxn>
                  <a:cxn ang="0">
                    <a:pos x="17652" y="43200"/>
                  </a:cxn>
                  <a:cxn ang="0">
                    <a:pos x="-1" y="34050"/>
                  </a:cxn>
                  <a:cxn ang="0">
                    <a:pos x="17652" y="21600"/>
                  </a:cxn>
                </a:cxnLst>
                <a:rect l="0" t="0" r="r" b="b"/>
                <a:pathLst>
                  <a:path w="39252" h="43200" fill="none">
                    <a:moveTo>
                      <a:pt x="17652" y="0"/>
                    </a:moveTo>
                    <a:cubicBezTo>
                      <a:pt x="29581" y="0"/>
                      <a:pt x="39252" y="9671"/>
                      <a:pt x="39252" y="21600"/>
                    </a:cubicBezTo>
                    <a:cubicBezTo>
                      <a:pt x="39252" y="33529"/>
                      <a:pt x="29581" y="43200"/>
                      <a:pt x="17652" y="43200"/>
                    </a:cubicBezTo>
                    <a:cubicBezTo>
                      <a:pt x="10359" y="43200"/>
                      <a:pt x="3909" y="39585"/>
                      <a:pt x="-1" y="34050"/>
                    </a:cubicBezTo>
                  </a:path>
                  <a:path w="39252" h="43200" stroke="0">
                    <a:moveTo>
                      <a:pt x="17652" y="0"/>
                    </a:moveTo>
                    <a:cubicBezTo>
                      <a:pt x="29581" y="0"/>
                      <a:pt x="39252" y="9671"/>
                      <a:pt x="39252" y="21600"/>
                    </a:cubicBezTo>
                    <a:cubicBezTo>
                      <a:pt x="39252" y="33529"/>
                      <a:pt x="29581" y="43200"/>
                      <a:pt x="17652" y="43200"/>
                    </a:cubicBezTo>
                    <a:cubicBezTo>
                      <a:pt x="10359" y="43200"/>
                      <a:pt x="3909" y="39585"/>
                      <a:pt x="-1" y="34050"/>
                    </a:cubicBezTo>
                    <a:lnTo>
                      <a:pt x="1765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直接连接符 193605"/>
              <p:cNvSpPr>
                <a:spLocks noChangeShapeType="1"/>
              </p:cNvSpPr>
              <p:nvPr/>
            </p:nvSpPr>
            <p:spPr bwMode="auto">
              <a:xfrm flipH="1">
                <a:off x="3152" y="1842"/>
                <a:ext cx="46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5" name="文本框 193606"/>
            <p:cNvSpPr txBox="1">
              <a:spLocks noChangeArrowheads="1"/>
            </p:cNvSpPr>
            <p:nvPr/>
          </p:nvSpPr>
          <p:spPr bwMode="auto">
            <a:xfrm>
              <a:off x="1338" y="3657"/>
              <a:ext cx="2132" cy="3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95588"/>
          <p:cNvSpPr txBox="1">
            <a:spLocks noChangeArrowheads="1"/>
          </p:cNvSpPr>
          <p:nvPr/>
        </p:nvSpPr>
        <p:spPr bwMode="auto">
          <a:xfrm>
            <a:off x="395288" y="968852"/>
            <a:ext cx="8497887" cy="212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上述功率分布的计算，是在假设电压为网络额定电压的条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件下，求得近似功率分布。此时是不计网络的电压损耗和功率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损耗的。因此还必须计及网络中各段电压损耗和功率损耗，才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能获得环形网络的潮流计算的最终结果。</a:t>
            </a:r>
          </a:p>
        </p:txBody>
      </p:sp>
      <p:sp>
        <p:nvSpPr>
          <p:cNvPr id="5" name="文本框 195589"/>
          <p:cNvSpPr txBox="1">
            <a:spLocks noChangeArrowheads="1"/>
          </p:cNvSpPr>
          <p:nvPr/>
        </p:nvSpPr>
        <p:spPr bwMode="auto">
          <a:xfrm>
            <a:off x="395288" y="3116740"/>
            <a:ext cx="849788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环形网络的潮流计算包括以下两个内容。</a:t>
            </a:r>
          </a:p>
        </p:txBody>
      </p:sp>
      <p:sp>
        <p:nvSpPr>
          <p:cNvPr id="6" name="文本框 195590"/>
          <p:cNvSpPr txBox="1">
            <a:spLocks noChangeArrowheads="1"/>
          </p:cNvSpPr>
          <p:nvPr/>
        </p:nvSpPr>
        <p:spPr bwMode="auto">
          <a:xfrm>
            <a:off x="395288" y="3680302"/>
            <a:ext cx="8497887" cy="2677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已知功率分点电压。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功率分点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将环形网络解开为两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个开式网络。由于功率分点一般为网络电压最低点，可从该点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</a:t>
            </a:r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由两侧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逐段向电源端推算电压降落和功率损耗。故所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进行的潮流计算，完全与已知开式网络的末端电压和负荷时的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潮流计算相同。</a:t>
            </a:r>
          </a:p>
        </p:txBody>
      </p:sp>
      <p:sp>
        <p:nvSpPr>
          <p:cNvPr id="7" name="标题 195591"/>
          <p:cNvSpPr>
            <a:spLocks noGrp="1" noRot="1" noChangeArrowheads="1"/>
          </p:cNvSpPr>
          <p:nvPr>
            <p:ph type="title"/>
          </p:nvPr>
        </p:nvSpPr>
        <p:spPr>
          <a:xfrm>
            <a:off x="107950" y="-142900"/>
            <a:ext cx="4537075" cy="1143000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rgbClr val="CC00CC"/>
                </a:solidFill>
                <a:ea typeface="黑体" panose="02010609060101010101" pitchFamily="49" charset="-122"/>
              </a:rPr>
              <a:t>三、环形网络的潮流计算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785" y="142852"/>
            <a:ext cx="6514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简单电力网络潮流计算和分析</a:t>
            </a:r>
            <a:r>
              <a:rPr lang="en-US" altLang="zh-CN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— </a:t>
            </a:r>
            <a:r>
              <a:rPr lang="zh-CN" altLang="en-US" sz="2400" dirty="0" smtClean="0">
                <a:solidFill>
                  <a:srgbClr val="99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环网潮流计算</a:t>
            </a:r>
            <a:endParaRPr lang="zh-CN" altLang="en-US" sz="2400" dirty="0"/>
          </a:p>
        </p:txBody>
      </p:sp>
      <p:sp>
        <p:nvSpPr>
          <p:cNvPr id="3" name="文本框 196611"/>
          <p:cNvSpPr txBox="1">
            <a:spLocks noChangeArrowheads="1"/>
          </p:cNvSpPr>
          <p:nvPr/>
        </p:nvSpPr>
        <p:spPr bwMode="auto">
          <a:xfrm>
            <a:off x="214282" y="983164"/>
            <a:ext cx="8497887" cy="32316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已知电源端电压。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这种情况一般较多。此时仍由功率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分点将环形网络解开为两个开式网络，且假设全网电压均为网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络的额定电压，求取各段的功率损耗，并由功率分点往电源端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逐段推算。求得电源端功率后，再运用已知电源电压和求得的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首端功率向功率分点逐段求电压降落，并计算出各点电压。这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与已知末端负荷和始端电压的开式网络的潮流计算完全相同。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40</TotalTime>
  <Words>3875</Words>
  <Application>WPS 演示</Application>
  <PresentationFormat>全屏显示(4:3)</PresentationFormat>
  <Paragraphs>418</Paragraphs>
  <Slides>45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49" baseType="lpstr">
      <vt:lpstr>凸显</vt:lpstr>
      <vt:lpstr>Microsoft 公式 3.0</vt:lpstr>
      <vt:lpstr>Equation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二、变压器的功率损耗和电压降落</vt:lpstr>
      <vt:lpstr>三、电力网络的电能损耗</vt:lpstr>
      <vt:lpstr>幻灯片 20</vt:lpstr>
      <vt:lpstr>幻灯片 21</vt:lpstr>
      <vt:lpstr>幻灯片 22</vt:lpstr>
      <vt:lpstr>幻灯片 23</vt:lpstr>
      <vt:lpstr>四、运算负荷和运算功率 </vt:lpstr>
      <vt:lpstr>幻灯片 25</vt:lpstr>
      <vt:lpstr>幻灯片 26</vt:lpstr>
      <vt:lpstr>幻灯片 27</vt:lpstr>
      <vt:lpstr>第二节  开式网络的潮流计算</vt:lpstr>
      <vt:lpstr>一、简单开式网络的潮流计算</vt:lpstr>
      <vt:lpstr>幻灯片 30</vt:lpstr>
      <vt:lpstr>二、变电所较多的开式网络的潮流分布 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二、两端供电网中的潮流分布 </vt:lpstr>
      <vt:lpstr>幻灯片 41</vt:lpstr>
      <vt:lpstr>幻灯片 42</vt:lpstr>
      <vt:lpstr>幻灯片 43</vt:lpstr>
      <vt:lpstr>三、环形网络的潮流计算</vt:lpstr>
      <vt:lpstr>幻灯片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</dc:title>
  <dc:creator>chenliang</dc:creator>
  <cp:lastModifiedBy>陈亮</cp:lastModifiedBy>
  <cp:revision>86</cp:revision>
  <dcterms:created xsi:type="dcterms:W3CDTF">2020-03-02T03:18:00Z</dcterms:created>
  <dcterms:modified xsi:type="dcterms:W3CDTF">2022-03-14T01:28:42Z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